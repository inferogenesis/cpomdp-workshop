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at 0:00. Keyboard shares the screen with this slide up and pastes the Colab link in the chat. Kev opens.</a:t>
            </a:r>
          </a:p>
          <a:p/>
          <a:p>
            <a:r>
              <a:t>Welcome, everyone. Over the next two hours, we'll build three rockets and watch how each one decides where to fly. Do open the notebook now, even while we're talking. The next few slides say how, and the installs can run while we introduce ourselves.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Kev introduces us both while the installs run.</a:t>
            </a:r>
          </a:p>
          <a:p/>
          <a:p>
            <a:r>
              <a:t>cpomdp is the library we'll use today. It does active inference with continuous states, which makes it the continuous-state sibling of pymdp. If you've used pymdp, its agent runs the same loop of perceiving and then acting. We'll come back to what it adds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owner: the panel.</a:t>
            </a:r>
          </a:p>
          <a:p/>
          <a:p>
            <a:r>
              <a:t>Q&amp;A. Asked whether Claude wrote the release the room is running, the answer is: some of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Kev. We present for an hour in all, and you code for 45 minutes, 15 on each task. The last 15 minutes are left open for questions and discussion, and you're welcome to leave early.</a:t>
            </a:r>
          </a:p>
          <a:p/>
          <a:p>
            <a:r>
              <a:t>Planned: Task 1 at 0:12, Task 2 at 0:39, Task 3 at 1:06, why it matters at 1:33, questions from 1:45.</a:t>
            </a:r>
          </a:p>
          <a:p/>
          <a:p>
            <a:r>
              <a:t>There's no break in the plan. If the room needs one, take it from the open time at the 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Keyboard. Each task has two lines to write, and we've written the rest of the code, so the Python stays out of the way. Some of the bonus exercises ask you to write your own.</a:t>
            </a:r>
          </a:p>
          <a:p/>
          <a:p>
            <a:r>
              <a:t>Each task has two hints and a reference solution, collapsed below the cell. A hint shows its nudge first, and the line itself is behind Show code. Open them whenever you like, and using them isn't failing.</a:t>
            </a:r>
          </a:p>
          <a:p/>
          <a:p>
            <a:r>
              <a:t>At the end of every task, run the checkpoint cell, even if everything worked. It puts the reference names back, so the next task starts from the same place for everyone.</a:t>
            </a:r>
          </a:p>
          <a:p/>
          <a:p>
            <a:r>
              <a:t>Each task closes with one number in the chat. It lets us see how the room is doing without anyone writing a sentence. Then there's a one-minute poll.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Keyboard. We recommend Colab. It runs the notebook in your browser, so nothing needs installing. Open the link from the chat, then run cell 1, which installs the workshop from PyPI.</a:t>
            </a:r>
          </a:p>
          <a:p/>
          <a:p>
            <a:r>
              <a:t>If you'd rather work locally, that's fine too. You'll need Python 3.11 or newer and the pip line, or uv as the README shows. Then open notebooks/build_a_curious_rocket.ipynb from the repository.</a:t>
            </a:r>
          </a:p>
          <a:p/>
          <a:p>
            <a:r>
              <a:t>Either way, cell 1 stops if cpomdp isn't 0.5.1 or Python is older than 3.11, and it prints what it found.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Kev. Before we build anything, here's where we're heading. Run cell 2 and you'll see this picture.</a:t>
            </a:r>
          </a:p>
          <a:p/>
          <a:p>
            <a:r>
              <a:t>The dashed line is the 1960 rocket. It hits the rock on step 6. The two solid lines are curious rockets, and on seed 3 both fly round the rock.</a:t>
            </a:r>
          </a:p>
          <a:p/>
          <a:p>
            <a:r>
              <a:t>Don't worry if you can't explain it yet. Neither rocket knows the rock is there, and working out what's going on is what the three tasks are for.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at 0:12. Kev.</a:t>
            </a:r>
          </a:p>
          <a:p/>
          <a:p>
            <a:r>
              <a:t>Our first rocket is the classic one. A Kalman filter estimates its position from noisy readings, and a linear quadratic regulator steers it to the pad. Its sensor is equally reliable everywhere. So does every move give the rocket the same amount of information? Hold that question.</a:t>
            </a:r>
          </a:p>
          <a:p/>
          <a:p>
            <a:r>
              <a:t>If you know pymdp, the cards map its letters onto cpomdp's fields. A is the observation likelihood. In cpomdp that's the observation_matrix together with the observation_noise, R, because the noise is part of what a reading says about the state. B is the transition, so dynamics_matrix, with control_matrix for where a move enters. C is the preference, which we meet in Task 2 as Preference. D is the prior.</a:t>
            </a:r>
          </a:p>
          <a:p/>
          <a:p>
            <a:r>
              <a:t>The 1960 rocket's StateGoal has no pymdp letter. It's a goal over states with a thruster cost, which is what makes it an LQR controller.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Keyboard. Two lines to write: what the sensor observes and how noisy its readings are. The rest is written, the thruster cost included. The imports sit at the top of the cell.</a:t>
            </a:r>
          </a:p>
          <a:p/>
          <a:p>
            <a:r>
              <a:t>Run it, and check_agent prints the rocket and where it lands. probe_model then evaluates how much information the rocket could expect to gain from each of the nine moves. The spread is the difference between the most and the least. That's the number for the chat.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at 0:16. Keyboard. Leave this slide up for the whole 15 minutes. The bar starts when the slide appears and needs no click. It starts again if you leave the slide and come back, so share the notebook from another window if you need to.</a:t>
            </a:r>
          </a:p>
          <a:p/>
          <a:p>
            <a:r>
              <a:t>Nobody pastes hints. Each person opens the collapsed hint and reference cells when they like. Whoever isn't at the keyboard watches the chat and the anonymous form. We don't debug anyone's code from the front. Point people at the hints, the reference cell and workshop.symptoms().</a:t>
            </a:r>
          </a:p>
          <a:p/>
          <a:p>
            <a:r>
              <a:t>When the bar fills, the line under it appears. Read it out. Checkpoint 1 restores the reference setup the next part needs.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at 0:31. Keyboard shows what the cell printed. The rocket is LQR, and lands 0.13 from the pad.</a:t>
            </a:r>
          </a:p>
          <a:p/>
          <a:p>
            <a:r>
              <a:t>The probe compares the information each of the nine compass moves is expected to give. spread = 0.000000 nats, so no move gives more than any other. Every spread in the chat should read zero, whatever the bonuses changed.</a:t>
            </a:r>
          </a:p>
          <a:p/>
          <a:p>
            <a:r>
              <a:t>Then poll 1 for 60 s. Kev reads the split.</a:t>
            </a:r>
          </a:p>
          <a:p/>
          <a:p>
            <a:r>
              <a:t>Poll 1</a:t>
            </a:r>
          </a:p>
          <a:p/>
          <a:p>
            <a:r>
              <a:t>The 1960 rocket's spread is zero whatever you change. Why?</a:t>
            </a:r>
          </a:p>
          <a:p/>
          <a:p>
            <a:r>
              <a:t>1. The prior is too wide for any one reading to matter.</a:t>
            </a:r>
          </a:p>
          <a:p>
            <a:r>
              <a:t>2. The noise is the same everywhere, so every move leaves the rocket equally unsure.</a:t>
            </a:r>
          </a:p>
          <a:p>
            <a:r>
              <a:t>3. A step of 0.5 is too short to reach anywhere different.</a:t>
            </a:r>
          </a:p>
          <a:p>
            <a:r>
              <a:t>4. LQR ignores what the probe reports.</a:t>
            </a:r>
          </a:p>
          <a:p/>
          <a:p>
            <a:r>
              <a:t>Answer.</a:t>
            </a:r>
          </a:p>
          <a:p/>
          <a:p>
            <a:r>
              <a:t>2. The uncertainty after a reading depends on the noise where the reading is taken. Here that noise never changes, so no move can teach more than another. The other three change nothing about that, which bonus 1 lets you check.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Kev. If you've built a continuous active inference agent and watched it behave like a controller, you didn't do anything wrong.</a:t>
            </a:r>
          </a:p>
          <a:p/>
          <a:p>
            <a:r>
              <a:t>The Kalman filter's uncertainty after a reading depends on the noise and the uncertainty before it, never on the move or the position. With the same noise everywhere, every move leaves the rocket equally uncertain, so the information term is the same for all of them. What's left of expected free energy is LQR. Koudahl, Kouw and de Vries published that result in 2021.</a:t>
            </a:r>
          </a:p>
          <a:p/>
          <a:p>
            <a:r>
              <a:t>Bonus 2 asked whether unequal noise across the axes would change that. It changes how much each reading tells the rocket, but not the spread between moves, because the noise is still fixed in place. That's the bridge to Task 2.</a:t>
            </a:r>
          </a:p>
          <a:p/>
          <a:p>
            <a:r>
              <a:t>The rest of the session changes one thing. The noise depends on where the rocket 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at 0:39. Kev. In Task 1, the sensor was equally reliable everywhere. Now we'll introduce a navigation beacon. Readings are more reliable near it and noisier further away. k, beacon_gain in the code, sets how quickly the noise grows with distance, up to a cap.</a:t>
            </a:r>
          </a:p>
          <a:p/>
          <a:p>
            <a:r>
              <a:t>The goal changes too. This rocket prefers a reading, the one that says it's on the pad, where the 1960 rocket preferred a position. At each step its planner scores the nine compass moves by expected free energy.</a:t>
            </a:r>
          </a:p>
          <a:p/>
          <a:p>
            <a:r>
              <a:t>Leave the question with the room. Don't answer it yet.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Keyboard. Two lines again: k itself, and the beacon's extra noise inside my_sensor. params holds the beacon's settings, and the comments say how to read each one by name.</a:t>
            </a:r>
          </a:p>
          <a:p/>
          <a:p>
            <a:r>
              <a:t>Start at k = 0.08, then raise it. Can you find a k that changes the route and still lands?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at 0:43. Keyboard. Leave this slide up for the whole 15 minutes. The bar starts when the slide appears and needs no click. It starts again if you leave the slide and come back, so share the notebook from another window if you need to.</a:t>
            </a:r>
          </a:p>
          <a:p/>
          <a:p>
            <a:r>
              <a:t>Nobody pastes hints. Each person opens the collapsed hint and reference cells when they like. Whoever isn't at the keyboard watches the chat and the anonymous form. We don't debug anyone's code from the front. Point people at the hints, the reference cell and workshop.symptoms().</a:t>
            </a:r>
          </a:p>
          <a:p/>
          <a:p>
            <a:r>
              <a:t>Hint 1 gives k = 0.4.</a:t>
            </a:r>
          </a:p>
          <a:p/>
          <a:p>
            <a:r>
              <a:t>When the bar fills, the line under it appears. Read it out. Checkpoint 2 restores the reference setup the next part needs.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at 0:58. Keyboard shows check_my_sensor's line for k = 0.4. The rocket bends 1.41 off the straight line and lands 0.24 from the pad.</a:t>
            </a:r>
          </a:p>
          <a:p/>
          <a:p>
            <a:r>
              <a:t>It's the same map as the last route slide. Only the field and the amber line are new.</a:t>
            </a:r>
          </a:p>
          <a:p/>
          <a:p>
            <a:r>
              <a:t>Ask for k in the chat, then poll 2 for 60 s. Kev reads the split.</a:t>
            </a:r>
          </a:p>
          <a:p/>
          <a:p>
            <a:r>
              <a:t>Poll 2</a:t>
            </a:r>
          </a:p>
          <a:p/>
          <a:p>
            <a:r>
              <a:t>At k = 0.6 the rocket stops short of the pad. Why?</a:t>
            </a:r>
          </a:p>
          <a:p/>
          <a:p>
            <a:r>
              <a:t>1. From near the beacon it cannot see the pad.</a:t>
            </a:r>
          </a:p>
          <a:p>
            <a:r>
              <a:t>2. It still looks too few moves ahead.</a:t>
            </a:r>
          </a:p>
          <a:p>
            <a:r>
              <a:t>3. It prefers a reading of the pad. At that k the pad reads so badly that a spot nearer the beacon is expected to read closer to "on the pad".</a:t>
            </a:r>
          </a:p>
          <a:p>
            <a:r>
              <a:t>4. The thruster cost stops it.</a:t>
            </a:r>
          </a:p>
          <a:p/>
          <a:p>
            <a:r>
              <a:t>Answer.</a:t>
            </a:r>
          </a:p>
          <a:p/>
          <a:p>
            <a:r>
              <a:t>3. The preference is over readings, and the expected miss includes the reading's own noise. Where the noise is large, standing on the pad still reads far from it on average. The curious rocket carries no thruster cost, so 4 cannot apply.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Kev. The answer to poll 2.</a:t>
            </a:r>
          </a:p>
          <a:p/>
          <a:p>
            <a:r>
              <a:t>Each step, the rocket scores the nine moves by expected free energy. Its first term is the expected miss from the preferred reading, on the pad. That expectation carries S, and S carries R where the move is expected to land. In the book's terms, this noise sets the ambiguity in expected free energy (Active Inference, eq. 2.6), and now it depends on where the rocket is.</a:t>
            </a:r>
          </a:p>
          <a:p/>
          <a:p>
            <a:r>
              <a:t>That term changes between moves only when R depends on position. For the 1960 rocket it's the same for every move, and LQR is what's left.</a:t>
            </a:r>
          </a:p>
          <a:p/>
          <a:p>
            <a:r>
              <a:t>At k = 0.6 the rocket stops 1.49 short of the pad looking one move ahead, 1.65 looking two and 1.86 looking three. Looking further doesn't help, because the pad itself reads badly at that k.</a:t>
            </a:r>
          </a:p>
          <a:p/>
          <a:p>
            <a:r>
              <a:t>Bonus 2 varied the preference's precision. A stronger preference for a reading isn't guaranteed to give a better landing, because a higher precision scales the whole expected miss, the reading's own noise included. It can't make a noisy pad read any better.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at 1:06. Kev. In Task 2, the beacon made observations more reliable nearby. Now we'll add a blackout on the straight line to the pad, where the noise rises sharply towards its centre.</a:t>
            </a:r>
          </a:p>
          <a:p/>
          <a:p>
            <a:r>
              <a:t>There's also a rock in the blackout, and none of the rockets knows it's there. In the book's terms, the rock is in the generative process, the world, but not in any rocket's generative model (Active Inference, Figure 2.2).</a:t>
            </a:r>
          </a:p>
          <a:p/>
          <a:p>
            <a:r>
              <a:t>We'll fly three rockets past it: the 1960 rocket, yours with the k on the slider, and one at k = 0.20.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Keyboard. Two lines again: the blackout's extra noise in my_world, and the 1960 rocket's model as a graph of one node. The slider sets k for your rocket.</a:t>
            </a:r>
          </a:p>
          <a:p/>
          <a:p>
            <a:r>
              <a:t>plot_world flies three rockets past the rock. check_backends flies the 1960 rocket on the Kalman filter and on the graph, and prints the largest difference between them. That's the number for the chat.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at 1:10. Keyboard. Leave this slide up for the whole 15 minutes. The bar starts when the slide appears and needs no click. It starts again if you leave the slide and come back, so share the notebook from another window if you need to.</a:t>
            </a:r>
          </a:p>
          <a:p/>
          <a:p>
            <a:r>
              <a:t>Nobody pastes hints. Each person opens the collapsed hint and reference cells when they like. Whoever isn't at the keyboard watches the chat and the anonymous form. We don't debug anyone's code from the front. Point people at the hints, the reference cell and workshop.symptoms().</a:t>
            </a:r>
          </a:p>
          <a:p/>
          <a:p>
            <a:r>
              <a:t>When the bar fills, the line under it appears. Read it out. Checkpoint 3 restores the reference setup the next part needs.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at 1:25. Kev. It's the same map again, and the field now has the blackout.</a:t>
            </a:r>
          </a:p>
          <a:p/>
          <a:p>
            <a:r>
              <a:t>The 1960 rocket flies the line it flew in Task 1. Its model has one noise level, and it flies in the world that model describes. The curious rockets swing wide of the noisy patch.</a:t>
            </a:r>
          </a:p>
          <a:p/>
          <a:p>
            <a:r>
              <a:t>There's no rock yet. The next slide adds it and nothing else.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Kev. One thing added, the rock in the blackout. None of the rockets models it.</a:t>
            </a:r>
          </a:p>
          <a:p/>
          <a:p>
            <a:r>
              <a:t>The 1960 rocket hits it on step 6, on every seed from 0 to 9. The figure is seed 3, and both curious rockets clear it there. k = 0.08 peaks at y = 1.71 and ends at (4.83, 0.09). k = 0.20 peaks at 1.91 and ends at (5.18, 0.15).</a:t>
            </a:r>
          </a:p>
          <a:p/>
          <a:p>
            <a:r>
              <a:t>Ask for max |difference| in the chat. Below 1e-9 means the two engines agree. Then poll 3 for 60 s.</a:t>
            </a:r>
          </a:p>
          <a:p/>
          <a:p>
            <a:r>
              <a:t>Poll 3</a:t>
            </a:r>
          </a:p>
          <a:p/>
          <a:p>
            <a:r>
              <a:t>Why did the curious rockets clear the rock in the blackout?</a:t>
            </a:r>
          </a:p>
          <a:p/>
          <a:p>
            <a:r>
              <a:t>1. They modelled the rock.</a:t>
            </a:r>
          </a:p>
          <a:p>
            <a:r>
              <a:t>2. They looked far enough ahead to see it coming.</a:t>
            </a:r>
          </a:p>
          <a:p>
            <a:r>
              <a:t>3. A reading in the blackout is swamped, so a move into it is expected to read far from "on the pad". The rock sits in the blackout.</a:t>
            </a:r>
          </a:p>
          <a:p>
            <a:r>
              <a:t>4. Luck. Another seed would hit it.</a:t>
            </a:r>
          </a:p>
          <a:p/>
          <a:p>
            <a:r>
              <a:t>Answer.</a:t>
            </a:r>
          </a:p>
          <a:p/>
          <a:p>
            <a:r>
              <a:t>3. No rocket knows the rock is there, and each looks one move ahead. Where the noise is large, a reading lands far from "on the pad" on average, so moves into the blackout score badly. 4 is partly true. Over the first ten seeds the k = 0.08 rocket clips the rock twice and the k = 0.20 rocket three times. The figure is seed 3. Bonus 1 moves the rock into clear sky where their routes pass, and they hit it more often.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Kev. The answer to poll 3, and bonus 1's result.</a:t>
            </a:r>
          </a:p>
          <a:p/>
          <a:p>
            <a:r>
              <a:t>The rockets aren't avoiding the rock at all. A rock never changes a route. Inside the blackout, over seeds 0 to 9, the k = 0.08 rocket hits it on 2 seeds and the k = 0.20 rocket on 3, while the 1960 rocket hits it every time. Moved into clear sky on their routes, it's hit on 6 and 5 of the 10 seeds by the curious rockets, and never by the 1960 rocket.</a:t>
            </a:r>
          </a:p>
          <a:p/>
          <a:p>
            <a:r>
              <a:t>So here the blackout makes the curious rockets hit the rock less often, although they know nothing about it. Seed 3 is one seed, and the picture earlier shows its less common route.</a:t>
            </a:r>
          </a:p>
          <a:p/>
          <a:p>
            <a:r>
              <a:t>Bonus 2 tuned two of the rocket's settings to land more and hit less. The best setting led the default by one flight, and the seeds mattered more than the settings. Tuning against one rock in one place can carry our own knowledge of the rock into the rocket.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Keyboard. The 1960 rocket on two engines. The code is what one_node builds. Agent.from_backend puts a rocket on either backend.</a:t>
            </a:r>
          </a:p>
          <a:p/>
          <a:p>
            <a:r>
              <a:t>The two print the same belief to six places, and max |difference| sits below 1e-9. A graph of one node is a Kalman filter, so this is the check that the graph engine is right before we trust it with shapes a Kalman filter isn't. The self-guided cells show one.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at 1:33. Kev. Run the coda cell. What does a printed number entitle us to say?</a:t>
            </a:r>
          </a:p>
          <a:p/>
          <a:p>
            <a:r>
              <a:t>The certificate names the set by its version, compass-9, and counts every plan the search scored, 9 a step. The axis set is five moves, and seven moves deep it's 78125 plans, every one scored.</a:t>
            </a:r>
          </a:p>
          <a:p/>
          <a:p>
            <a:r>
              <a:t>That supports a specific claim: this computation was exhaustive over this set. The same goes for the backend agreement in Task 3. Neither is a general guarantee that the model is correct or that its behaviour generalises.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Kev. Four things to keep from today.</a:t>
            </a:r>
          </a:p>
          <a:p/>
          <a:p>
            <a:r>
              <a:t>Fixed observation noise can give the same information gain for every action, even if the overall uncertainty changes.</a:t>
            </a:r>
          </a:p>
          <a:p/>
          <a:p>
            <a:r>
              <a:t>A preference for precise observations doesn't, by itself, establish an epistemic motive. In Task 2, the expected observations and their noise shaped how the moves were scored.</a:t>
            </a:r>
          </a:p>
          <a:p/>
          <a:p>
            <a:r>
              <a:t>A route that happens to miss an unmodelled rock isn't evidence that the rocket represented it or avoided it on purpose.</a:t>
            </a:r>
          </a:p>
          <a:p/>
          <a:p>
            <a:r>
              <a:t>A certificate, a backend agreement or a working demo supports a specific claim. None of them is a general guarantee.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Kev. Where cpomdp sits. pymdp is the leading active inference package, and it works with discrete states. cpomdp is its continuous-state sibling, and pymdp's A, B, C and D map onto its fields. RxInfer does Bayesian inference by message passing on factor graphs, in Julia, and cpomdp checks its own filter against it.</a:t>
            </a:r>
          </a:p>
          <a:p/>
          <a:p>
            <a:r>
              <a:t>What cpomdp adds is the four cards. State-dependent noise is what made today's rockets differ from the 1960 one. The factor graph engine takes models a single filter can't hold. Certificates and warrants say how far each printed number can be trusted.</a:t>
            </a:r>
          </a:p>
          <a:p/>
          <a:p>
            <a:r>
              <a:t>This comparison is the project's own description. We haven't run the three packages against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Kev. Pointers, not results. Each card links to the write-up.</a:t>
            </a:r>
          </a:p>
          <a:p/>
          <a:p>
            <a:r>
              <a:t>Biology. In the bacillus example, four bacilli differ only in how precise their goal is. Some go straight for the food, one detours to the beacon first, one parks at the beacon. The chemotaxis model is the shape of the signalling network, not its biophysics.</a:t>
            </a:r>
          </a:p>
          <a:p/>
          <a:p>
            <a:r>
              <a:t>Factor graphs. The two-node models are the shapes a single Kalman filter isn't. The cue example is a statement about control, not biology.</a:t>
            </a:r>
          </a:p>
          <a:p/>
          <a:p>
            <a:r>
              <a:t>State-dependent noise. The preprint is the theory behind today's Task 2 and Task 3: once R depends on a mean the agent controls, no fixed linear-Gaussian filter reproduces it. The README adds a caution. Non-constant isn't the same as decision-changing.</a:t>
            </a:r>
          </a:p>
          <a:p/>
          <a:p>
            <a:r>
              <a:t>Industry. An agent holds a compressor's surge margin. A differential-pressure meter keeps it on the safe side. A Coriolis meter of the same accuracy settles it past the surge line. The write-up's conclusion is that the information term isn't a safety factor, and surge protection belongs in the setpoint or a hard limit.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Kev. Three programmes, at different stages.</a:t>
            </a:r>
          </a:p>
          <a:p/>
          <a:p>
            <a:r>
              <a:t>p* is active. The standard derivation lets one distribution play both the agent's model and the world, so a wrong model has nowhere to show up. p* holds the two apart and asks how tightly each cost can be certified. Its gates are public, passes and failures both.</a:t>
            </a:r>
          </a:p>
          <a:p/>
          <a:p>
            <a:r>
              <a:t>Seam Networks is a string of thought experiments that grew out of p* and cpomdp's harness. Each cell is a whole active inference agent, and cells meet only through a world object, the seam. It's planned, and nothing has run.</a:t>
            </a:r>
          </a:p>
          <a:p/>
          <a:p>
            <a:r>
              <a:t>TODO owner: The Individuating Membrane, a line for the card and what to say here.</a:t>
            </a:r>
          </a:p>
          <a:p/>
          <a:p>
            <a:r>
              <a:t>TODO owner: the lost deck's 'What comes next' slide carried the status 'scoped, starts after p*'. Put it on the programme it belonged to.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at 1:45. The open time starts here. The self-guided cells sit below the last checkpoint, and each stands on checkpoint 3. Nothing there runs live.</a:t>
            </a:r>
          </a:p>
          <a:p/>
          <a:p>
            <a:r>
              <a:t>Recording, notebook, package, slides and notes go to the Discord channel and the README within 48 hours.</a:t>
            </a:r>
          </a:p>
          <a:p/>
          <a:p>
            <a:r>
              <a:t>TODO owner: the Zenodo DOI once minted.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through the questions. The survey link goes in the chat as well, while the room is still here. One up, one down: one thing that worked and one that didn't.</a:t>
            </a:r>
          </a:p>
          <a:p/>
          <a:p>
            <a:r>
              <a:t>Everything shown runs on cpomdp 0.5.1 from PyPI.</a:t>
            </a:r>
          </a:p>
          <a:p/>
          <a:p>
            <a:r>
              <a:t>The QR codes open Kev's LinkedIn and inferogenesis.com.</a:t>
            </a:r>
          </a:p>
          <a:p/>
          <a:p>
            <a:r>
              <a:t>TODO owner: the survey link and the email.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pomdp.inferogenesis.com/"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inferogenesis/cpomdp-workshop/blob/main/notebooks/build_a_curious_rocket.ipynb" TargetMode="External"/><Relationship Id="rId3" Type="http://schemas.openxmlformats.org/officeDocument/2006/relationships/hyperlink" Target="https://github.com/inferogenesis/cpomdp-workshop"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pomdp.inferogenesis.com/examples/" TargetMode="External"/><Relationship Id="rId3" Type="http://schemas.openxmlformats.org/officeDocument/2006/relationships/hyperlink" Target="https://cpomdp.inferogenesis.com/examples-ffg/" TargetMode="External"/><Relationship Id="rId4" Type="http://schemas.openxmlformats.org/officeDocument/2006/relationships/hyperlink" Target="https://inferogenesis.com/research/state-dependent-observation-noise/" TargetMode="External"/><Relationship Id="rId5" Type="http://schemas.openxmlformats.org/officeDocument/2006/relationships/hyperlink" Target="https://inferogenesis.com/projects/cpomdp/applied/anti-surge/" TargetMode="Externa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nferogenesis.com/programmes/p-star/" TargetMode="Externa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inferogenesis/cpomdp-workshop" TargetMode="External"/><Relationship Id="rId3" Type="http://schemas.openxmlformats.org/officeDocument/2006/relationships/hyperlink" Target="https://pypi.org/project/cpomdp/" TargetMode="External"/><Relationship Id="rId4" Type="http://schemas.openxmlformats.org/officeDocument/2006/relationships/hyperlink" Target="https://inferogenesis.com/" TargetMode="Externa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grpSp>
        <p:nvGrpSpPr>
          <p:cNvPr id="2" name="mark"/>
          <p:cNvGrpSpPr/>
          <p:nvPr/>
        </p:nvGrpSpPr>
        <p:grpSpPr>
          <a:xfrm>
            <a:off x="577786" y="532066"/>
            <a:ext cx="291465" cy="748094"/>
            <a:chOff x="577786" y="532066"/>
            <a:chExt cx="291465" cy="748094"/>
          </a:xfrm>
        </p:grpSpPr>
        <p:sp>
          <p:nvSpPr>
            <p:cNvPr id="3" name="Oval 2"/>
            <p:cNvSpPr/>
            <p:nvPr/>
          </p:nvSpPr>
          <p:spPr>
            <a:xfrm>
              <a:off x="577786" y="532066"/>
              <a:ext cx="291465" cy="291465"/>
            </a:xfrm>
            <a:prstGeom prst="ellipse">
              <a:avLst/>
            </a:prstGeom>
            <a:noFill/>
            <a:ln w="63150">
              <a:solidFill>
                <a:srgbClr val="E69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79799" y="634079"/>
              <a:ext cx="87439" cy="87439"/>
            </a:xfrm>
            <a:prstGeom prst="ellipse">
              <a:avLst/>
            </a:prstGeom>
            <a:solidFill>
              <a:srgbClr val="162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0368" y="852678"/>
              <a:ext cx="126301" cy="427482"/>
            </a:xfrm>
            <a:prstGeom prst="roundRect">
              <a:avLst>
                <a:gd name="adj" fmla="val 50000"/>
              </a:avLst>
            </a:prstGeom>
            <a:solidFill>
              <a:srgbClr val="162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6" name="text"/>
          <p:cNvSpPr txBox="1"/>
          <p:nvPr/>
        </p:nvSpPr>
        <p:spPr>
          <a:xfrm>
            <a:off x="1097280" y="658368"/>
            <a:ext cx="4572000" cy="457200"/>
          </a:xfrm>
          <a:prstGeom prst="rect">
            <a:avLst/>
          </a:prstGeom>
          <a:noFill/>
        </p:spPr>
        <p:txBody>
          <a:bodyPr wrap="square" lIns="0" rIns="0" tIns="0" bIns="0" anchor="t">
            <a:spAutoFit/>
          </a:bodyPr>
          <a:lstStyle/>
          <a:p>
            <a:pPr algn="l">
              <a:lnSpc>
                <a:spcPct val="100000"/>
              </a:lnSpc>
            </a:pPr>
            <a:r>
              <a:rPr sz="2200" b="1">
                <a:solidFill>
                  <a:srgbClr val="5B6F68"/>
                </a:solidFill>
                <a:latin typeface="Calibri"/>
              </a:rPr>
              <a:t>Inferogenesis</a:t>
            </a:r>
          </a:p>
        </p:txBody>
      </p:sp>
      <p:sp>
        <p:nvSpPr>
          <p:cNvPr id="7" name="text"/>
          <p:cNvSpPr txBox="1"/>
          <p:nvPr/>
        </p:nvSpPr>
        <p:spPr>
          <a:xfrm>
            <a:off x="548640" y="1554480"/>
            <a:ext cx="10515600" cy="1097280"/>
          </a:xfrm>
          <a:prstGeom prst="rect">
            <a:avLst/>
          </a:prstGeom>
          <a:noFill/>
        </p:spPr>
        <p:txBody>
          <a:bodyPr wrap="square" lIns="0" rIns="0" tIns="0" bIns="0" anchor="t">
            <a:spAutoFit/>
          </a:bodyPr>
          <a:lstStyle/>
          <a:p>
            <a:pPr algn="l">
              <a:lnSpc>
                <a:spcPct val="100000"/>
              </a:lnSpc>
            </a:pPr>
            <a:r>
              <a:rPr sz="6000" b="1">
                <a:solidFill>
                  <a:srgbClr val="16241F"/>
                </a:solidFill>
                <a:latin typeface="Calibri"/>
              </a:rPr>
              <a:t>Build a curious rocket</a:t>
            </a:r>
          </a:p>
        </p:txBody>
      </p:sp>
      <p:sp>
        <p:nvSpPr>
          <p:cNvPr id="8" name="text"/>
          <p:cNvSpPr txBox="1"/>
          <p:nvPr/>
        </p:nvSpPr>
        <p:spPr>
          <a:xfrm>
            <a:off x="548640" y="2788920"/>
            <a:ext cx="10515600" cy="548640"/>
          </a:xfrm>
          <a:prstGeom prst="rect">
            <a:avLst/>
          </a:prstGeom>
          <a:noFill/>
        </p:spPr>
        <p:txBody>
          <a:bodyPr wrap="square" lIns="0" rIns="0" tIns="0" bIns="0" anchor="t">
            <a:spAutoFit/>
          </a:bodyPr>
          <a:lstStyle/>
          <a:p>
            <a:pPr algn="l">
              <a:lnSpc>
                <a:spcPct val="100000"/>
              </a:lnSpc>
            </a:pPr>
            <a:r>
              <a:rPr sz="2600" b="0">
                <a:solidFill>
                  <a:srgbClr val="5B6F68"/>
                </a:solidFill>
                <a:latin typeface="Calibri"/>
              </a:rPr>
              <a:t>cpomdp · continuous active inference in Python, hands-on</a:t>
            </a:r>
          </a:p>
        </p:txBody>
      </p:sp>
      <p:sp>
        <p:nvSpPr>
          <p:cNvPr id="9" name="text"/>
          <p:cNvSpPr txBox="1"/>
          <p:nvPr/>
        </p:nvSpPr>
        <p:spPr>
          <a:xfrm>
            <a:off x="548640" y="3383280"/>
            <a:ext cx="10515600" cy="457200"/>
          </a:xfrm>
          <a:prstGeom prst="rect">
            <a:avLst/>
          </a:prstGeom>
          <a:noFill/>
        </p:spPr>
        <p:txBody>
          <a:bodyPr wrap="square" lIns="0" rIns="0" tIns="0" bIns="0" anchor="t">
            <a:spAutoFit/>
          </a:bodyPr>
          <a:lstStyle/>
          <a:p>
            <a:pPr algn="l">
              <a:lnSpc>
                <a:spcPct val="100000"/>
              </a:lnSpc>
            </a:pPr>
            <a:r>
              <a:rPr sz="2000" b="0">
                <a:solidFill>
                  <a:srgbClr val="5B6F68"/>
                </a:solidFill>
                <a:latin typeface="Calibri"/>
              </a:rPr>
              <a:t>6th Applied Active Inference Symposium · 2026</a:t>
            </a:r>
          </a:p>
        </p:txBody>
      </p:sp>
      <p:sp>
        <p:nvSpPr>
          <p:cNvPr id="10" name="pill"/>
          <p:cNvSpPr/>
          <p:nvPr/>
        </p:nvSpPr>
        <p:spPr>
          <a:xfrm>
            <a:off x="548640" y="4114800"/>
            <a:ext cx="2377440" cy="502920"/>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800" b="0">
                <a:solidFill>
                  <a:srgbClr val="8A6000"/>
                </a:solidFill>
                <a:latin typeface="Courier New"/>
              </a:rPr>
              <a:t>cpomdp 0.5.1</a:t>
            </a:r>
          </a:p>
        </p:txBody>
      </p:sp>
      <p:sp>
        <p:nvSpPr>
          <p:cNvPr id="11" name="pill"/>
          <p:cNvSpPr/>
          <p:nvPr/>
        </p:nvSpPr>
        <p:spPr>
          <a:xfrm>
            <a:off x="548640" y="5394960"/>
            <a:ext cx="3474720" cy="640080"/>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2000" b="0">
                <a:solidFill>
                  <a:srgbClr val="16241F"/>
                </a:solidFill>
                <a:latin typeface="Calibri"/>
              </a:rPr>
              <a:t>1  the 1960 rocket</a:t>
            </a:r>
          </a:p>
        </p:txBody>
      </p:sp>
      <p:sp>
        <p:nvSpPr>
          <p:cNvPr id="12" name="pill"/>
          <p:cNvSpPr/>
          <p:nvPr/>
        </p:nvSpPr>
        <p:spPr>
          <a:xfrm>
            <a:off x="4297679" y="5394960"/>
            <a:ext cx="3474720" cy="640080"/>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2000" b="0">
                <a:solidFill>
                  <a:srgbClr val="8A6000"/>
                </a:solidFill>
                <a:latin typeface="Calibri"/>
              </a:rPr>
              <a:t>2  the beacon</a:t>
            </a:r>
          </a:p>
        </p:txBody>
      </p:sp>
      <p:sp>
        <p:nvSpPr>
          <p:cNvPr id="13" name="pill"/>
          <p:cNvSpPr/>
          <p:nvPr/>
        </p:nvSpPr>
        <p:spPr>
          <a:xfrm>
            <a:off x="8046719" y="5394960"/>
            <a:ext cx="3474720" cy="640080"/>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2000" b="0">
                <a:solidFill>
                  <a:srgbClr val="005F94"/>
                </a:solidFill>
                <a:latin typeface="Calibri"/>
              </a:rPr>
              <a:t>3  the blackout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Who we are</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welcome</a:t>
            </a:r>
          </a:p>
        </p:txBody>
      </p:sp>
      <p:sp>
        <p:nvSpPr>
          <p:cNvPr id="4" name="photo presenter_1.jpg"/>
          <p:cNvSpPr/>
          <p:nvPr/>
        </p:nvSpPr>
        <p:spPr>
          <a:xfrm>
            <a:off x="548640" y="1325880"/>
            <a:ext cx="1463040" cy="1463040"/>
          </a:xfrm>
          <a:prstGeom prst="roundRect">
            <a:avLst>
              <a:gd name="adj" fmla="val 75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ctr"/>
          </a:p>
        </p:txBody>
      </p:sp>
      <p:sp>
        <p:nvSpPr>
          <p:cNvPr id="5" name="text"/>
          <p:cNvSpPr txBox="1"/>
          <p:nvPr/>
        </p:nvSpPr>
        <p:spPr>
          <a:xfrm>
            <a:off x="2240280" y="1325880"/>
            <a:ext cx="3657600" cy="457200"/>
          </a:xfrm>
          <a:prstGeom prst="rect">
            <a:avLst/>
          </a:prstGeom>
          <a:noFill/>
        </p:spPr>
        <p:txBody>
          <a:bodyPr wrap="square" lIns="0" rIns="0" tIns="0" bIns="0" anchor="t">
            <a:spAutoFit/>
          </a:bodyPr>
          <a:lstStyle/>
          <a:p>
            <a:pPr algn="l">
              <a:lnSpc>
                <a:spcPct val="100000"/>
              </a:lnSpc>
            </a:pPr>
            <a:r>
              <a:rPr sz="2200" b="1">
                <a:solidFill>
                  <a:srgbClr val="16241F"/>
                </a:solidFill>
                <a:latin typeface="Calibri"/>
              </a:rPr>
              <a:t>Presenter 1 (keyboard)</a:t>
            </a:r>
          </a:p>
        </p:txBody>
      </p:sp>
      <p:sp>
        <p:nvSpPr>
          <p:cNvPr id="6" name="text"/>
          <p:cNvSpPr txBox="1"/>
          <p:nvPr/>
        </p:nvSpPr>
        <p:spPr>
          <a:xfrm>
            <a:off x="2240280" y="1874519"/>
            <a:ext cx="3657600" cy="2194560"/>
          </a:xfrm>
          <a:prstGeom prst="rect">
            <a:avLst/>
          </a:prstGeom>
          <a:noFill/>
        </p:spPr>
        <p:txBody>
          <a:bodyPr wrap="square" lIns="0" rIns="0" tIns="0" bIns="0" anchor="t">
            <a:spAutoFit/>
          </a:bodyPr>
          <a:lstStyle/>
          <a:p>
            <a:pPr algn="l">
              <a:lnSpc>
                <a:spcPct val="100000"/>
              </a:lnSpc>
            </a:pPr>
            <a:r>
              <a:rPr sz="1400" b="0">
                <a:solidFill>
                  <a:srgbClr val="16241F"/>
                </a:solidFill>
                <a:latin typeface="Calibri"/>
              </a:rPr>
              <a:t>Independent research software engineer, UK. Builds cpomdp, a JAX-native continuous-state active inference toolbox and the continuous sibling to pymdp, under Inferogenesis. Background in numerical general relativity and event-driven orchestration of RL models at scale. Author of State-Dependent Observation Noise Reintroduces Epistemic Value in Linear-Gaussian Active Inference (arXiv:2607.20306). Co-leads the Certifiable Active Inference programme.</a:t>
            </a:r>
          </a:p>
        </p:txBody>
      </p:sp>
      <p:sp>
        <p:nvSpPr>
          <p:cNvPr id="7" name="photo presenter_2.jpg"/>
          <p:cNvSpPr/>
          <p:nvPr/>
        </p:nvSpPr>
        <p:spPr>
          <a:xfrm>
            <a:off x="6217920" y="1325880"/>
            <a:ext cx="1463040" cy="1463040"/>
          </a:xfrm>
          <a:prstGeom prst="roundRect">
            <a:avLst>
              <a:gd name="adj" fmla="val 75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ctr"/>
          </a:p>
        </p:txBody>
      </p:sp>
      <p:sp>
        <p:nvSpPr>
          <p:cNvPr id="8" name="text"/>
          <p:cNvSpPr txBox="1"/>
          <p:nvPr/>
        </p:nvSpPr>
        <p:spPr>
          <a:xfrm>
            <a:off x="7909560" y="1325880"/>
            <a:ext cx="3657600" cy="457200"/>
          </a:xfrm>
          <a:prstGeom prst="rect">
            <a:avLst/>
          </a:prstGeom>
          <a:noFill/>
        </p:spPr>
        <p:txBody>
          <a:bodyPr wrap="square" lIns="0" rIns="0" tIns="0" bIns="0" anchor="t">
            <a:spAutoFit/>
          </a:bodyPr>
          <a:lstStyle/>
          <a:p>
            <a:pPr algn="l">
              <a:lnSpc>
                <a:spcPct val="100000"/>
              </a:lnSpc>
            </a:pPr>
            <a:r>
              <a:rPr sz="2200" b="1">
                <a:solidFill>
                  <a:srgbClr val="16241F"/>
                </a:solidFill>
                <a:latin typeface="Calibri"/>
              </a:rPr>
              <a:t>Kevin (concepts)</a:t>
            </a:r>
          </a:p>
        </p:txBody>
      </p:sp>
      <p:sp>
        <p:nvSpPr>
          <p:cNvPr id="9" name="text"/>
          <p:cNvSpPr txBox="1"/>
          <p:nvPr/>
        </p:nvSpPr>
        <p:spPr>
          <a:xfrm>
            <a:off x="7909560" y="1874519"/>
            <a:ext cx="3657600" cy="2194560"/>
          </a:xfrm>
          <a:prstGeom prst="rect">
            <a:avLst/>
          </a:prstGeom>
          <a:noFill/>
        </p:spPr>
        <p:txBody>
          <a:bodyPr wrap="square" lIns="0" rIns="0" tIns="0" bIns="0" anchor="t">
            <a:spAutoFit/>
          </a:bodyPr>
          <a:lstStyle/>
          <a:p>
            <a:pPr algn="l">
              <a:lnSpc>
                <a:spcPct val="100000"/>
              </a:lnSpc>
            </a:pPr>
            <a:r>
              <a:rPr sz="1400" b="0">
                <a:solidFill>
                  <a:srgbClr val="16241F"/>
                </a:solidFill>
                <a:latin typeface="Calibri"/>
              </a:rPr>
              <a:t>Kevin Backhouse is a PhD researcher in Cognitive Neuroscience at Durham University. His research examines how reward and expectation shape awareness, attention and memory. He also collaborates on CPOMDP, developing and evaluating artificial agents within the active inference framework.</a:t>
            </a:r>
          </a:p>
        </p:txBody>
      </p:sp>
      <p:sp>
        <p:nvSpPr>
          <p:cNvPr id="10" name="text"/>
          <p:cNvSpPr txBox="1"/>
          <p:nvPr/>
        </p:nvSpPr>
        <p:spPr>
          <a:xfrm>
            <a:off x="548640" y="4297680"/>
            <a:ext cx="11094415" cy="2011680"/>
          </a:xfrm>
          <a:prstGeom prst="rect">
            <a:avLst/>
          </a:prstGeom>
          <a:noFill/>
        </p:spPr>
        <p:txBody>
          <a:bodyPr wrap="square" lIns="0" rIns="0" tIns="0" bIns="0" anchor="t">
            <a:spAutoFit/>
          </a:bodyPr>
          <a:lstStyle/>
          <a:p>
            <a:pPr algn="l">
              <a:lnSpc>
                <a:spcPct val="100000"/>
              </a:lnSpc>
              <a:spcAft>
                <a:spcPts val="800"/>
              </a:spcAft>
            </a:pPr>
            <a:r>
              <a:rPr sz="2400" b="1">
                <a:solidFill>
                  <a:srgbClr val="16241F"/>
                </a:solidFill>
                <a:latin typeface="Courier New"/>
              </a:rPr>
              <a:t>cpomdp</a:t>
            </a:r>
          </a:p>
          <a:p>
            <a:pPr algn="l">
              <a:lnSpc>
                <a:spcPct val="100000"/>
              </a:lnSpc>
              <a:spcAft>
                <a:spcPts val="800"/>
              </a:spcAft>
            </a:pPr>
            <a:r>
              <a:rPr sz="2000" b="0">
                <a:solidFill>
                  <a:srgbClr val="16241F"/>
                </a:solidFill>
                <a:latin typeface="Calibri"/>
              </a:rPr>
              <a:t>The open-source library we'll use today, for active inference with continuous states.</a:t>
            </a:r>
          </a:p>
          <a:p>
            <a:pPr algn="l">
              <a:lnSpc>
                <a:spcPct val="100000"/>
              </a:lnSpc>
              <a:spcAft>
                <a:spcPts val="800"/>
              </a:spcAft>
            </a:pPr>
            <a:r>
              <a:rPr sz="2000" b="0">
                <a:solidFill>
                  <a:srgbClr val="16241F"/>
                </a:solidFill>
                <a:latin typeface="Calibri"/>
              </a:rPr>
              <a:t>It's written in Python on JAX, and it's the continuous-state sibling of pymdp.</a:t>
            </a:r>
          </a:p>
          <a:p>
            <a:pPr algn="l">
              <a:lnSpc>
                <a:spcPct val="100000"/>
              </a:lnSpc>
            </a:pPr>
            <a:r>
              <a:rPr sz="1600" b="0">
                <a:solidFill>
                  <a:srgbClr val="16241F"/>
                </a:solidFill>
                <a:latin typeface="Courier New"/>
                <a:hlinkClick r:id="rId2"/>
              </a:rPr>
              <a:t>cpomdp.inferogenesis.com/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Disclosure</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welcome</a:t>
            </a:r>
          </a:p>
        </p:txBody>
      </p:sp>
      <p:sp>
        <p:nvSpPr>
          <p:cNvPr id="4" name="placeholder"/>
          <p:cNvSpPr/>
          <p:nvPr/>
        </p:nvSpPr>
        <p:spPr>
          <a:xfrm>
            <a:off x="548640" y="1325880"/>
            <a:ext cx="11094415" cy="3566160"/>
          </a:xfrm>
          <a:prstGeom prst="roundRect">
            <a:avLst>
              <a:gd name="adj" fmla="val 3076"/>
            </a:avLst>
          </a:prstGeom>
          <a:noFill/>
          <a:ln w="15875">
            <a:solidFill>
              <a:srgbClr val="E69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ctr">
              <a:lnSpc>
                <a:spcPct val="100000"/>
              </a:lnSpc>
            </a:pPr>
            <a:r>
              <a:rPr sz="2000" b="0">
                <a:solidFill>
                  <a:srgbClr val="8A6000"/>
                </a:solidFill>
                <a:latin typeface="Calibri"/>
              </a:rPr>
              <a:t>[owner: the AI-use panel and the review it describes]</a:t>
            </a:r>
          </a:p>
        </p:txBody>
      </p:sp>
      <p:sp>
        <p:nvSpPr>
          <p:cNvPr id="5" name="text"/>
          <p:cNvSpPr txBox="1"/>
          <p:nvPr/>
        </p:nvSpPr>
        <p:spPr>
          <a:xfrm>
            <a:off x="548640" y="5257800"/>
            <a:ext cx="11094415" cy="822960"/>
          </a:xfrm>
          <a:prstGeom prst="rect">
            <a:avLst/>
          </a:prstGeom>
          <a:noFill/>
        </p:spPr>
        <p:txBody>
          <a:bodyPr wrap="square" lIns="0" rIns="0" tIns="0" bIns="0" anchor="t">
            <a:spAutoFit/>
          </a:bodyPr>
          <a:lstStyle/>
          <a:p>
            <a:pPr algn="l">
              <a:lnSpc>
                <a:spcPct val="100000"/>
              </a:lnSpc>
            </a:pPr>
            <a:r>
              <a:rPr sz="2000" b="0">
                <a:solidFill>
                  <a:srgbClr val="5B6F68"/>
                </a:solidFill>
                <a:latin typeface="Calibri"/>
              </a:rPr>
              <a:t>today's notebook pins 0.5.1. Some of its src was written by Claude Code under the review described.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Two hours, three tasks</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welcome</a:t>
            </a:r>
          </a:p>
        </p:txBody>
      </p:sp>
      <p:sp>
        <p:nvSpPr>
          <p:cNvPr id="4" name="text"/>
          <p:cNvSpPr txBox="1"/>
          <p:nvPr/>
        </p:nvSpPr>
        <p:spPr>
          <a:xfrm>
            <a:off x="548640" y="1463039"/>
            <a:ext cx="2926079" cy="548640"/>
          </a:xfrm>
          <a:prstGeom prst="rect">
            <a:avLst/>
          </a:prstGeom>
          <a:noFill/>
        </p:spPr>
        <p:txBody>
          <a:bodyPr wrap="square" lIns="0" rIns="0" tIns="0" bIns="0" anchor="ctr">
            <a:spAutoFit/>
          </a:bodyPr>
          <a:lstStyle/>
          <a:p>
            <a:pPr algn="l">
              <a:lnSpc>
                <a:spcPct val="100000"/>
              </a:lnSpc>
            </a:pPr>
            <a:r>
              <a:rPr sz="2000" b="1">
                <a:solidFill>
                  <a:srgbClr val="16241F"/>
                </a:solidFill>
                <a:latin typeface="Calibri"/>
              </a:rPr>
              <a:t>Welcome</a:t>
            </a:r>
          </a:p>
        </p:txBody>
      </p:sp>
      <p:sp>
        <p:nvSpPr>
          <p:cNvPr id="5" name="block"/>
          <p:cNvSpPr/>
          <p:nvPr/>
        </p:nvSpPr>
        <p:spPr>
          <a:xfrm>
            <a:off x="3675887" y="1463039"/>
            <a:ext cx="3512515" cy="548640"/>
          </a:xfrm>
          <a:prstGeom prst="roundRect">
            <a:avLst>
              <a:gd name="adj" fmla="val 8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15214" bIns="115214"/>
          <a:lstStyle/>
          <a:p>
            <a:pPr algn="ctr">
              <a:lnSpc>
                <a:spcPct val="100000"/>
              </a:lnSpc>
            </a:pPr>
            <a:r>
              <a:rPr sz="1600" b="0">
                <a:solidFill>
                  <a:srgbClr val="16241F"/>
                </a:solidFill>
                <a:latin typeface="Calibri"/>
              </a:rPr>
              <a:t>introductions and setup</a:t>
            </a:r>
          </a:p>
        </p:txBody>
      </p:sp>
      <p:sp>
        <p:nvSpPr>
          <p:cNvPr id="6" name="text"/>
          <p:cNvSpPr txBox="1"/>
          <p:nvPr/>
        </p:nvSpPr>
        <p:spPr>
          <a:xfrm>
            <a:off x="548640" y="2176272"/>
            <a:ext cx="2926079" cy="548640"/>
          </a:xfrm>
          <a:prstGeom prst="rect">
            <a:avLst/>
          </a:prstGeom>
          <a:noFill/>
        </p:spPr>
        <p:txBody>
          <a:bodyPr wrap="square" lIns="0" rIns="0" tIns="0" bIns="0" anchor="ctr">
            <a:spAutoFit/>
          </a:bodyPr>
          <a:lstStyle/>
          <a:p>
            <a:pPr algn="l">
              <a:lnSpc>
                <a:spcPct val="100000"/>
              </a:lnSpc>
            </a:pPr>
            <a:r>
              <a:rPr sz="2000" b="1">
                <a:solidFill>
                  <a:srgbClr val="16241F"/>
                </a:solidFill>
                <a:latin typeface="Calibri"/>
              </a:rPr>
              <a:t>Task 1</a:t>
            </a:r>
            <a:r>
              <a:rPr sz="1600" b="0">
                <a:solidFill>
                  <a:srgbClr val="5B6F68"/>
                </a:solidFill>
                <a:latin typeface="Calibri"/>
              </a:rPr>
              <a:t>  the 1960 rocket</a:t>
            </a:r>
          </a:p>
        </p:txBody>
      </p:sp>
      <p:sp>
        <p:nvSpPr>
          <p:cNvPr id="7" name="block"/>
          <p:cNvSpPr/>
          <p:nvPr/>
        </p:nvSpPr>
        <p:spPr>
          <a:xfrm>
            <a:off x="3675887" y="2176272"/>
            <a:ext cx="1146454" cy="548640"/>
          </a:xfrm>
          <a:prstGeom prst="roundRect">
            <a:avLst>
              <a:gd name="adj" fmla="val 8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15214" bIns="115214"/>
          <a:lstStyle/>
          <a:p>
            <a:pPr algn="ctr">
              <a:lnSpc>
                <a:spcPct val="100000"/>
              </a:lnSpc>
            </a:pPr>
            <a:r>
              <a:rPr sz="1600" b="0">
                <a:solidFill>
                  <a:srgbClr val="16241F"/>
                </a:solidFill>
                <a:latin typeface="Calibri"/>
              </a:rPr>
              <a:t>brief</a:t>
            </a:r>
          </a:p>
        </p:txBody>
      </p:sp>
      <p:sp>
        <p:nvSpPr>
          <p:cNvPr id="8" name="block"/>
          <p:cNvSpPr/>
          <p:nvPr/>
        </p:nvSpPr>
        <p:spPr>
          <a:xfrm>
            <a:off x="4858918" y="2176272"/>
            <a:ext cx="4399788" cy="548640"/>
          </a:xfrm>
          <a:prstGeom prst="roundRect">
            <a:avLst>
              <a:gd name="adj" fmla="val 8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15214" bIns="115214"/>
          <a:lstStyle/>
          <a:p>
            <a:pPr algn="ctr">
              <a:lnSpc>
                <a:spcPct val="100000"/>
              </a:lnSpc>
            </a:pPr>
            <a:r>
              <a:rPr sz="1600" b="0">
                <a:solidFill>
                  <a:srgbClr val="16241F"/>
                </a:solidFill>
                <a:latin typeface="Calibri"/>
              </a:rPr>
              <a:t>you code</a:t>
            </a:r>
          </a:p>
        </p:txBody>
      </p:sp>
      <p:sp>
        <p:nvSpPr>
          <p:cNvPr id="9" name="block"/>
          <p:cNvSpPr/>
          <p:nvPr/>
        </p:nvSpPr>
        <p:spPr>
          <a:xfrm>
            <a:off x="9295282" y="2176272"/>
            <a:ext cx="2329484" cy="548640"/>
          </a:xfrm>
          <a:prstGeom prst="roundRect">
            <a:avLst>
              <a:gd name="adj" fmla="val 8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15214" bIns="115214"/>
          <a:lstStyle/>
          <a:p>
            <a:pPr algn="ctr">
              <a:lnSpc>
                <a:spcPct val="100000"/>
              </a:lnSpc>
            </a:pPr>
            <a:r>
              <a:rPr sz="1600" b="0">
                <a:solidFill>
                  <a:srgbClr val="16241F"/>
                </a:solidFill>
                <a:latin typeface="Calibri"/>
              </a:rPr>
              <a:t>discussion</a:t>
            </a:r>
          </a:p>
        </p:txBody>
      </p:sp>
      <p:sp>
        <p:nvSpPr>
          <p:cNvPr id="10" name="text"/>
          <p:cNvSpPr txBox="1"/>
          <p:nvPr/>
        </p:nvSpPr>
        <p:spPr>
          <a:xfrm>
            <a:off x="548640" y="2889504"/>
            <a:ext cx="2926079" cy="548640"/>
          </a:xfrm>
          <a:prstGeom prst="rect">
            <a:avLst/>
          </a:prstGeom>
          <a:noFill/>
        </p:spPr>
        <p:txBody>
          <a:bodyPr wrap="square" lIns="0" rIns="0" tIns="0" bIns="0" anchor="ctr">
            <a:spAutoFit/>
          </a:bodyPr>
          <a:lstStyle/>
          <a:p>
            <a:pPr algn="l">
              <a:lnSpc>
                <a:spcPct val="100000"/>
              </a:lnSpc>
            </a:pPr>
            <a:r>
              <a:rPr sz="2000" b="1">
                <a:solidFill>
                  <a:srgbClr val="16241F"/>
                </a:solidFill>
                <a:latin typeface="Calibri"/>
              </a:rPr>
              <a:t>Task 2</a:t>
            </a:r>
            <a:r>
              <a:rPr sz="1600" b="0">
                <a:solidFill>
                  <a:srgbClr val="5B6F68"/>
                </a:solidFill>
                <a:latin typeface="Calibri"/>
              </a:rPr>
              <a:t>  the beacon</a:t>
            </a:r>
          </a:p>
        </p:txBody>
      </p:sp>
      <p:sp>
        <p:nvSpPr>
          <p:cNvPr id="11" name="block"/>
          <p:cNvSpPr/>
          <p:nvPr/>
        </p:nvSpPr>
        <p:spPr>
          <a:xfrm>
            <a:off x="3675887" y="2889504"/>
            <a:ext cx="1146454" cy="548640"/>
          </a:xfrm>
          <a:prstGeom prst="roundRect">
            <a:avLst>
              <a:gd name="adj" fmla="val 8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15214" bIns="115214"/>
          <a:lstStyle/>
          <a:p>
            <a:pPr algn="ctr">
              <a:lnSpc>
                <a:spcPct val="100000"/>
              </a:lnSpc>
            </a:pPr>
            <a:r>
              <a:rPr sz="1600" b="0">
                <a:solidFill>
                  <a:srgbClr val="16241F"/>
                </a:solidFill>
                <a:latin typeface="Calibri"/>
              </a:rPr>
              <a:t>brief</a:t>
            </a:r>
          </a:p>
        </p:txBody>
      </p:sp>
      <p:sp>
        <p:nvSpPr>
          <p:cNvPr id="12" name="block"/>
          <p:cNvSpPr/>
          <p:nvPr/>
        </p:nvSpPr>
        <p:spPr>
          <a:xfrm>
            <a:off x="4858918" y="2889504"/>
            <a:ext cx="4399788" cy="548640"/>
          </a:xfrm>
          <a:prstGeom prst="roundRect">
            <a:avLst>
              <a:gd name="adj" fmla="val 8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15214" bIns="115214"/>
          <a:lstStyle/>
          <a:p>
            <a:pPr algn="ctr">
              <a:lnSpc>
                <a:spcPct val="100000"/>
              </a:lnSpc>
            </a:pPr>
            <a:r>
              <a:rPr sz="1600" b="0">
                <a:solidFill>
                  <a:srgbClr val="16241F"/>
                </a:solidFill>
                <a:latin typeface="Calibri"/>
              </a:rPr>
              <a:t>you code</a:t>
            </a:r>
          </a:p>
        </p:txBody>
      </p:sp>
      <p:sp>
        <p:nvSpPr>
          <p:cNvPr id="13" name="block"/>
          <p:cNvSpPr/>
          <p:nvPr/>
        </p:nvSpPr>
        <p:spPr>
          <a:xfrm>
            <a:off x="9295282" y="2889504"/>
            <a:ext cx="2329484" cy="548640"/>
          </a:xfrm>
          <a:prstGeom prst="roundRect">
            <a:avLst>
              <a:gd name="adj" fmla="val 8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15214" bIns="115214"/>
          <a:lstStyle/>
          <a:p>
            <a:pPr algn="ctr">
              <a:lnSpc>
                <a:spcPct val="100000"/>
              </a:lnSpc>
            </a:pPr>
            <a:r>
              <a:rPr sz="1600" b="0">
                <a:solidFill>
                  <a:srgbClr val="16241F"/>
                </a:solidFill>
                <a:latin typeface="Calibri"/>
              </a:rPr>
              <a:t>discussion</a:t>
            </a:r>
          </a:p>
        </p:txBody>
      </p:sp>
      <p:sp>
        <p:nvSpPr>
          <p:cNvPr id="14" name="text"/>
          <p:cNvSpPr txBox="1"/>
          <p:nvPr/>
        </p:nvSpPr>
        <p:spPr>
          <a:xfrm>
            <a:off x="548640" y="3602735"/>
            <a:ext cx="2926079" cy="548640"/>
          </a:xfrm>
          <a:prstGeom prst="rect">
            <a:avLst/>
          </a:prstGeom>
          <a:noFill/>
        </p:spPr>
        <p:txBody>
          <a:bodyPr wrap="square" lIns="0" rIns="0" tIns="0" bIns="0" anchor="ctr">
            <a:spAutoFit/>
          </a:bodyPr>
          <a:lstStyle/>
          <a:p>
            <a:pPr algn="l">
              <a:lnSpc>
                <a:spcPct val="100000"/>
              </a:lnSpc>
            </a:pPr>
            <a:r>
              <a:rPr sz="2000" b="1">
                <a:solidFill>
                  <a:srgbClr val="16241F"/>
                </a:solidFill>
                <a:latin typeface="Calibri"/>
              </a:rPr>
              <a:t>Task 3</a:t>
            </a:r>
            <a:r>
              <a:rPr sz="1600" b="0">
                <a:solidFill>
                  <a:srgbClr val="5B6F68"/>
                </a:solidFill>
                <a:latin typeface="Calibri"/>
              </a:rPr>
              <a:t>  the blackout</a:t>
            </a:r>
          </a:p>
        </p:txBody>
      </p:sp>
      <p:sp>
        <p:nvSpPr>
          <p:cNvPr id="15" name="block"/>
          <p:cNvSpPr/>
          <p:nvPr/>
        </p:nvSpPr>
        <p:spPr>
          <a:xfrm>
            <a:off x="3675887" y="3602735"/>
            <a:ext cx="1146454" cy="548640"/>
          </a:xfrm>
          <a:prstGeom prst="roundRect">
            <a:avLst>
              <a:gd name="adj" fmla="val 8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15214" bIns="115214"/>
          <a:lstStyle/>
          <a:p>
            <a:pPr algn="ctr">
              <a:lnSpc>
                <a:spcPct val="100000"/>
              </a:lnSpc>
            </a:pPr>
            <a:r>
              <a:rPr sz="1600" b="0">
                <a:solidFill>
                  <a:srgbClr val="16241F"/>
                </a:solidFill>
                <a:latin typeface="Calibri"/>
              </a:rPr>
              <a:t>brief</a:t>
            </a:r>
          </a:p>
        </p:txBody>
      </p:sp>
      <p:sp>
        <p:nvSpPr>
          <p:cNvPr id="16" name="block"/>
          <p:cNvSpPr/>
          <p:nvPr/>
        </p:nvSpPr>
        <p:spPr>
          <a:xfrm>
            <a:off x="4858918" y="3602735"/>
            <a:ext cx="4399788" cy="548640"/>
          </a:xfrm>
          <a:prstGeom prst="roundRect">
            <a:avLst>
              <a:gd name="adj" fmla="val 8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15214" bIns="115214"/>
          <a:lstStyle/>
          <a:p>
            <a:pPr algn="ctr">
              <a:lnSpc>
                <a:spcPct val="100000"/>
              </a:lnSpc>
            </a:pPr>
            <a:r>
              <a:rPr sz="1600" b="0">
                <a:solidFill>
                  <a:srgbClr val="16241F"/>
                </a:solidFill>
                <a:latin typeface="Calibri"/>
              </a:rPr>
              <a:t>you code</a:t>
            </a:r>
          </a:p>
        </p:txBody>
      </p:sp>
      <p:sp>
        <p:nvSpPr>
          <p:cNvPr id="17" name="block"/>
          <p:cNvSpPr/>
          <p:nvPr/>
        </p:nvSpPr>
        <p:spPr>
          <a:xfrm>
            <a:off x="9295282" y="3602735"/>
            <a:ext cx="2329484" cy="548640"/>
          </a:xfrm>
          <a:prstGeom prst="roundRect">
            <a:avLst>
              <a:gd name="adj" fmla="val 8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15214" bIns="115214"/>
          <a:lstStyle/>
          <a:p>
            <a:pPr algn="ctr">
              <a:lnSpc>
                <a:spcPct val="100000"/>
              </a:lnSpc>
            </a:pPr>
            <a:r>
              <a:rPr sz="1600" b="0">
                <a:solidFill>
                  <a:srgbClr val="16241F"/>
                </a:solidFill>
                <a:latin typeface="Calibri"/>
              </a:rPr>
              <a:t>discussion</a:t>
            </a:r>
          </a:p>
        </p:txBody>
      </p:sp>
      <p:sp>
        <p:nvSpPr>
          <p:cNvPr id="18" name="text"/>
          <p:cNvSpPr txBox="1"/>
          <p:nvPr/>
        </p:nvSpPr>
        <p:spPr>
          <a:xfrm>
            <a:off x="548640" y="4315968"/>
            <a:ext cx="2926079" cy="548640"/>
          </a:xfrm>
          <a:prstGeom prst="rect">
            <a:avLst/>
          </a:prstGeom>
          <a:noFill/>
        </p:spPr>
        <p:txBody>
          <a:bodyPr wrap="square" lIns="0" rIns="0" tIns="0" bIns="0" anchor="ctr">
            <a:spAutoFit/>
          </a:bodyPr>
          <a:lstStyle/>
          <a:p>
            <a:pPr algn="l">
              <a:lnSpc>
                <a:spcPct val="100000"/>
              </a:lnSpc>
            </a:pPr>
            <a:r>
              <a:rPr sz="2000" b="1">
                <a:solidFill>
                  <a:srgbClr val="16241F"/>
                </a:solidFill>
                <a:latin typeface="Calibri"/>
              </a:rPr>
              <a:t>Why it matters</a:t>
            </a:r>
          </a:p>
        </p:txBody>
      </p:sp>
      <p:sp>
        <p:nvSpPr>
          <p:cNvPr id="19" name="block"/>
          <p:cNvSpPr/>
          <p:nvPr/>
        </p:nvSpPr>
        <p:spPr>
          <a:xfrm>
            <a:off x="3675887" y="4315968"/>
            <a:ext cx="3512515" cy="548640"/>
          </a:xfrm>
          <a:prstGeom prst="roundRect">
            <a:avLst>
              <a:gd name="adj" fmla="val 8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15214" bIns="115214"/>
          <a:lstStyle/>
          <a:p>
            <a:pPr algn="ctr">
              <a:lnSpc>
                <a:spcPct val="100000"/>
              </a:lnSpc>
            </a:pPr>
            <a:r>
              <a:rPr sz="1600" b="0">
                <a:solidFill>
                  <a:srgbClr val="16241F"/>
                </a:solidFill>
                <a:latin typeface="Calibri"/>
              </a:rPr>
              <a:t>what cpomdp adds, and what's next</a:t>
            </a:r>
          </a:p>
        </p:txBody>
      </p:sp>
      <p:sp>
        <p:nvSpPr>
          <p:cNvPr id="20" name="text"/>
          <p:cNvSpPr txBox="1"/>
          <p:nvPr/>
        </p:nvSpPr>
        <p:spPr>
          <a:xfrm>
            <a:off x="548640" y="5029200"/>
            <a:ext cx="2926079" cy="548640"/>
          </a:xfrm>
          <a:prstGeom prst="rect">
            <a:avLst/>
          </a:prstGeom>
          <a:noFill/>
        </p:spPr>
        <p:txBody>
          <a:bodyPr wrap="square" lIns="0" rIns="0" tIns="0" bIns="0" anchor="ctr">
            <a:spAutoFit/>
          </a:bodyPr>
          <a:lstStyle/>
          <a:p>
            <a:pPr algn="l">
              <a:lnSpc>
                <a:spcPct val="100000"/>
              </a:lnSpc>
            </a:pPr>
            <a:r>
              <a:rPr sz="2000" b="1">
                <a:solidFill>
                  <a:srgbClr val="16241F"/>
                </a:solidFill>
                <a:latin typeface="Calibri"/>
              </a:rPr>
              <a:t>Questions</a:t>
            </a:r>
          </a:p>
        </p:txBody>
      </p:sp>
      <p:sp>
        <p:nvSpPr>
          <p:cNvPr id="21" name="block"/>
          <p:cNvSpPr/>
          <p:nvPr/>
        </p:nvSpPr>
        <p:spPr>
          <a:xfrm>
            <a:off x="3675887" y="5029200"/>
            <a:ext cx="4399788" cy="548640"/>
          </a:xfrm>
          <a:prstGeom prst="roundRect">
            <a:avLst>
              <a:gd name="adj" fmla="val 8000"/>
            </a:avLst>
          </a:prstGeom>
          <a:noFill/>
          <a:ln w="15875">
            <a:solidFill>
              <a:srgbClr val="5B6F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15214" bIns="115214"/>
          <a:lstStyle/>
          <a:p>
            <a:pPr algn="ctr">
              <a:lnSpc>
                <a:spcPct val="100000"/>
              </a:lnSpc>
            </a:pPr>
            <a:r>
              <a:rPr sz="1600" b="0">
                <a:solidFill>
                  <a:srgbClr val="16241F"/>
                </a:solidFill>
                <a:latin typeface="Calibri"/>
              </a:rPr>
              <a:t>questions, or leave early</a:t>
            </a:r>
          </a:p>
        </p:txBody>
      </p:sp>
      <p:sp>
        <p:nvSpPr>
          <p:cNvPr id="22" name="text"/>
          <p:cNvSpPr txBox="1"/>
          <p:nvPr/>
        </p:nvSpPr>
        <p:spPr>
          <a:xfrm>
            <a:off x="548640" y="5879592"/>
            <a:ext cx="11094415" cy="457200"/>
          </a:xfrm>
          <a:prstGeom prst="rect">
            <a:avLst/>
          </a:prstGeom>
          <a:noFill/>
        </p:spPr>
        <p:txBody>
          <a:bodyPr wrap="square" lIns="0" rIns="0" tIns="0" bIns="0" anchor="t">
            <a:spAutoFit/>
          </a:bodyPr>
          <a:lstStyle/>
          <a:p>
            <a:pPr algn="l">
              <a:lnSpc>
                <a:spcPct val="100000"/>
              </a:lnSpc>
            </a:pPr>
            <a:r>
              <a:rPr sz="1900" b="0">
                <a:solidFill>
                  <a:srgbClr val="5B6F68"/>
                </a:solidFill>
                <a:latin typeface="Calibri"/>
              </a:rPr>
              <a:t>While you code, a 15-minute timer stays on the screen.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How we'll work</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welcome</a:t>
            </a:r>
          </a:p>
        </p:txBody>
      </p:sp>
      <p:sp>
        <p:nvSpPr>
          <p:cNvPr id="4" name="card"/>
          <p:cNvSpPr/>
          <p:nvPr/>
        </p:nvSpPr>
        <p:spPr>
          <a:xfrm>
            <a:off x="548640" y="1325880"/>
            <a:ext cx="5410047" cy="1783080"/>
          </a:xfrm>
          <a:prstGeom prst="roundRect">
            <a:avLst>
              <a:gd name="adj" fmla="val 615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800" b="1">
                <a:solidFill>
                  <a:srgbClr val="8A6000"/>
                </a:solidFill>
                <a:latin typeface="Calibri"/>
              </a:rPr>
              <a:t>Two lines per task</a:t>
            </a:r>
          </a:p>
          <a:p>
            <a:pPr algn="l">
              <a:lnSpc>
                <a:spcPct val="100000"/>
              </a:lnSpc>
            </a:pPr>
            <a:r>
              <a:rPr sz="1800" b="0">
                <a:solidFill>
                  <a:srgbClr val="16241F"/>
                </a:solidFill>
                <a:latin typeface="Calibri"/>
              </a:rPr>
              <a:t>Each task has two lines marked </a:t>
            </a:r>
            <a:r>
              <a:rPr sz="1800" b="1">
                <a:solidFill>
                  <a:srgbClr val="8A6000"/>
                </a:solidFill>
                <a:latin typeface="Courier New"/>
              </a:rPr>
              <a:t>...</a:t>
            </a:r>
            <a:r>
              <a:rPr sz="1800" b="0">
                <a:solidFill>
                  <a:srgbClr val="16241F"/>
                </a:solidFill>
                <a:latin typeface="Calibri"/>
              </a:rPr>
              <a:t> for you to write. We've written the rest, so you can focus on the key concepts without worrying about the Python. Some bonus exercises ask you to write your own.</a:t>
            </a:r>
          </a:p>
        </p:txBody>
      </p:sp>
      <p:sp>
        <p:nvSpPr>
          <p:cNvPr id="5" name="card"/>
          <p:cNvSpPr/>
          <p:nvPr/>
        </p:nvSpPr>
        <p:spPr>
          <a:xfrm>
            <a:off x="6233007" y="1325880"/>
            <a:ext cx="5410047" cy="1783080"/>
          </a:xfrm>
          <a:prstGeom prst="roundRect">
            <a:avLst>
              <a:gd name="adj" fmla="val 615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800" b="1">
                <a:solidFill>
                  <a:srgbClr val="16241F"/>
                </a:solidFill>
                <a:latin typeface="Calibri"/>
              </a:rPr>
              <a:t>Hints when you need them</a:t>
            </a:r>
          </a:p>
          <a:p>
            <a:pPr algn="l">
              <a:lnSpc>
                <a:spcPct val="100000"/>
              </a:lnSpc>
            </a:pPr>
            <a:r>
              <a:rPr sz="1800" b="0">
                <a:solidFill>
                  <a:srgbClr val="16241F"/>
                </a:solidFill>
                <a:latin typeface="Calibri"/>
              </a:rPr>
              <a:t>Each task has two hints and a reference solution, collapsed below the code cell. Open them whenever you like, and using them is absolutely fine.</a:t>
            </a:r>
          </a:p>
        </p:txBody>
      </p:sp>
      <p:sp>
        <p:nvSpPr>
          <p:cNvPr id="6" name="card"/>
          <p:cNvSpPr/>
          <p:nvPr/>
        </p:nvSpPr>
        <p:spPr>
          <a:xfrm>
            <a:off x="548640" y="3383280"/>
            <a:ext cx="5410047" cy="1783080"/>
          </a:xfrm>
          <a:prstGeom prst="roundRect">
            <a:avLst>
              <a:gd name="adj" fmla="val 615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800" b="1">
                <a:solidFill>
                  <a:srgbClr val="16241F"/>
                </a:solidFill>
                <a:latin typeface="Calibri"/>
              </a:rPr>
              <a:t>Run the checkpoint</a:t>
            </a:r>
          </a:p>
          <a:p>
            <a:pPr algn="l">
              <a:lnSpc>
                <a:spcPct val="100000"/>
              </a:lnSpc>
            </a:pPr>
            <a:r>
              <a:rPr sz="1800" b="0">
                <a:solidFill>
                  <a:srgbClr val="16241F"/>
                </a:solidFill>
                <a:latin typeface="Calibri"/>
              </a:rPr>
              <a:t>Run the checkpoint cell at the end of every task, even if everything worked. It restores the setup the next task needs.</a:t>
            </a:r>
          </a:p>
        </p:txBody>
      </p:sp>
      <p:sp>
        <p:nvSpPr>
          <p:cNvPr id="7" name="card"/>
          <p:cNvSpPr/>
          <p:nvPr/>
        </p:nvSpPr>
        <p:spPr>
          <a:xfrm>
            <a:off x="6233007" y="3383280"/>
            <a:ext cx="5410047" cy="1783080"/>
          </a:xfrm>
          <a:prstGeom prst="roundRect">
            <a:avLst>
              <a:gd name="adj" fmla="val 615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800" b="1">
                <a:solidFill>
                  <a:srgbClr val="16241F"/>
                </a:solidFill>
                <a:latin typeface="Calibri"/>
              </a:rPr>
              <a:t>One number in the chat</a:t>
            </a:r>
          </a:p>
          <a:p>
            <a:pPr algn="l">
              <a:lnSpc>
                <a:spcPct val="100000"/>
              </a:lnSpc>
            </a:pPr>
            <a:r>
              <a:rPr sz="1800" b="0">
                <a:solidFill>
                  <a:srgbClr val="16241F"/>
                </a:solidFill>
                <a:latin typeface="Calibri"/>
              </a:rPr>
              <a:t>Each task ends with one number to paste in the chat, then a 60-second poll.</a:t>
            </a:r>
          </a:p>
        </p:txBody>
      </p:sp>
      <p:sp>
        <p:nvSpPr>
          <p:cNvPr id="8" name="text"/>
          <p:cNvSpPr txBox="1"/>
          <p:nvPr/>
        </p:nvSpPr>
        <p:spPr>
          <a:xfrm>
            <a:off x="548640" y="5532120"/>
            <a:ext cx="11094415" cy="822960"/>
          </a:xfrm>
          <a:prstGeom prst="rect">
            <a:avLst/>
          </a:prstGeom>
          <a:noFill/>
        </p:spPr>
        <p:txBody>
          <a:bodyPr wrap="square" lIns="0" rIns="0" tIns="0" bIns="0" anchor="t">
            <a:spAutoFit/>
          </a:bodyPr>
          <a:lstStyle/>
          <a:p>
            <a:pPr algn="l">
              <a:lnSpc>
                <a:spcPct val="100000"/>
              </a:lnSpc>
            </a:pPr>
            <a:r>
              <a:rPr sz="1800" b="0">
                <a:solidFill>
                  <a:srgbClr val="5B6F68"/>
                </a:solidFill>
                <a:latin typeface="Calibri"/>
              </a:rPr>
              <a:t>The aim is to explore the ideas behind the code, rather than test your programming skills. Questions are welcome any time, in the chat or on the anonymous 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Get set up</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welcome</a:t>
            </a:r>
          </a:p>
        </p:txBody>
      </p:sp>
      <p:sp>
        <p:nvSpPr>
          <p:cNvPr id="4" name="text"/>
          <p:cNvSpPr txBox="1"/>
          <p:nvPr/>
        </p:nvSpPr>
        <p:spPr>
          <a:xfrm>
            <a:off x="548640" y="1325880"/>
            <a:ext cx="5272887" cy="2377440"/>
          </a:xfrm>
          <a:prstGeom prst="rect">
            <a:avLst/>
          </a:prstGeom>
          <a:noFill/>
        </p:spPr>
        <p:txBody>
          <a:bodyPr wrap="square" lIns="0" rIns="0" tIns="0" bIns="0" anchor="t">
            <a:spAutoFit/>
          </a:bodyPr>
          <a:lstStyle/>
          <a:p>
            <a:pPr algn="l">
              <a:lnSpc>
                <a:spcPct val="100000"/>
              </a:lnSpc>
              <a:spcAft>
                <a:spcPts val="800"/>
              </a:spcAft>
            </a:pPr>
            <a:r>
              <a:rPr sz="2600" b="1">
                <a:solidFill>
                  <a:srgbClr val="8A6000"/>
                </a:solidFill>
                <a:latin typeface="Calibri"/>
              </a:rPr>
              <a:t>Google Colab</a:t>
            </a:r>
          </a:p>
          <a:p>
            <a:pPr algn="l">
              <a:lnSpc>
                <a:spcPct val="100000"/>
              </a:lnSpc>
              <a:spcAft>
                <a:spcPts val="800"/>
              </a:spcAft>
            </a:pPr>
            <a:r>
              <a:rPr sz="1900" b="0">
                <a:solidFill>
                  <a:srgbClr val="5B6F68"/>
                </a:solidFill>
                <a:latin typeface="Calibri"/>
              </a:rPr>
              <a:t>Recommended</a:t>
            </a:r>
          </a:p>
          <a:p>
            <a:pPr algn="l">
              <a:lnSpc>
                <a:spcPct val="100000"/>
              </a:lnSpc>
              <a:spcAft>
                <a:spcPts val="800"/>
              </a:spcAft>
            </a:pPr>
            <a:r>
              <a:rPr sz="1900" b="0">
                <a:solidFill>
                  <a:srgbClr val="16241F"/>
                </a:solidFill>
                <a:latin typeface="Calibri"/>
              </a:rPr>
              <a:t>It runs in your browser, so there's nothing to install.</a:t>
            </a:r>
          </a:p>
          <a:p>
            <a:pPr algn="l">
              <a:lnSpc>
                <a:spcPct val="100000"/>
              </a:lnSpc>
            </a:pPr>
            <a:r>
              <a:rPr sz="1900" b="0">
                <a:solidFill>
                  <a:srgbClr val="16241F"/>
                </a:solidFill>
                <a:latin typeface="Calibri"/>
              </a:rPr>
              <a:t>Open the notebook link below, then run cell 1. It installs the workshop and checks it's ready.</a:t>
            </a:r>
          </a:p>
        </p:txBody>
      </p:sp>
      <p:sp>
        <p:nvSpPr>
          <p:cNvPr id="5" name="text"/>
          <p:cNvSpPr txBox="1"/>
          <p:nvPr/>
        </p:nvSpPr>
        <p:spPr>
          <a:xfrm>
            <a:off x="6370167" y="1325880"/>
            <a:ext cx="5272887" cy="1691640"/>
          </a:xfrm>
          <a:prstGeom prst="rect">
            <a:avLst/>
          </a:prstGeom>
          <a:noFill/>
        </p:spPr>
        <p:txBody>
          <a:bodyPr wrap="square" lIns="0" rIns="0" tIns="0" bIns="0" anchor="t">
            <a:spAutoFit/>
          </a:bodyPr>
          <a:lstStyle/>
          <a:p>
            <a:pPr algn="l">
              <a:lnSpc>
                <a:spcPct val="100000"/>
              </a:lnSpc>
              <a:spcAft>
                <a:spcPts val="800"/>
              </a:spcAft>
            </a:pPr>
            <a:r>
              <a:rPr sz="2600" b="1">
                <a:solidFill>
                  <a:srgbClr val="005F94"/>
                </a:solidFill>
                <a:latin typeface="Calibri"/>
              </a:rPr>
              <a:t>Your own Python</a:t>
            </a:r>
          </a:p>
          <a:p>
            <a:pPr algn="l">
              <a:lnSpc>
                <a:spcPct val="100000"/>
              </a:lnSpc>
              <a:spcAft>
                <a:spcPts val="800"/>
              </a:spcAft>
            </a:pPr>
            <a:r>
              <a:rPr sz="1900" b="0">
                <a:solidFill>
                  <a:srgbClr val="5B6F68"/>
                </a:solidFill>
                <a:latin typeface="Calibri"/>
              </a:rPr>
              <a:t>VS Code or Jupyter</a:t>
            </a:r>
          </a:p>
          <a:p>
            <a:pPr algn="l">
              <a:lnSpc>
                <a:spcPct val="100000"/>
              </a:lnSpc>
            </a:pPr>
            <a:r>
              <a:rPr sz="1900" b="0">
                <a:solidFill>
                  <a:srgbClr val="16241F"/>
                </a:solidFill>
                <a:latin typeface="Calibri"/>
              </a:rPr>
              <a:t>Python 3.11 or newer, then install the workshop:</a:t>
            </a:r>
          </a:p>
        </p:txBody>
      </p:sp>
      <p:sp>
        <p:nvSpPr>
          <p:cNvPr id="6" name="code"/>
          <p:cNvSpPr/>
          <p:nvPr/>
        </p:nvSpPr>
        <p:spPr>
          <a:xfrm>
            <a:off x="6370167" y="3108960"/>
            <a:ext cx="5272887" cy="502920"/>
          </a:xfrm>
          <a:prstGeom prst="roundRect">
            <a:avLst>
              <a:gd name="adj" fmla="val 8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t" wrap="none" lIns="164592" rIns="164592" tIns="115214" bIns="115214"/>
          <a:lstStyle/>
          <a:p>
            <a:pPr algn="l">
              <a:lnSpc>
                <a:spcPct val="100000"/>
              </a:lnSpc>
            </a:pPr>
            <a:r>
              <a:rPr sz="1500" b="0">
                <a:solidFill>
                  <a:srgbClr val="16241F"/>
                </a:solidFill>
                <a:latin typeface="Courier New"/>
              </a:rPr>
              <a:t>pip install cpomdp-workshop==0.2.0</a:t>
            </a:r>
          </a:p>
        </p:txBody>
      </p:sp>
      <p:sp>
        <p:nvSpPr>
          <p:cNvPr id="7" name="text"/>
          <p:cNvSpPr txBox="1"/>
          <p:nvPr/>
        </p:nvSpPr>
        <p:spPr>
          <a:xfrm>
            <a:off x="6370167" y="3749039"/>
            <a:ext cx="5272887" cy="822960"/>
          </a:xfrm>
          <a:prstGeom prst="rect">
            <a:avLst/>
          </a:prstGeom>
          <a:noFill/>
        </p:spPr>
        <p:txBody>
          <a:bodyPr wrap="square" lIns="0" rIns="0" tIns="0" bIns="0" anchor="t">
            <a:spAutoFit/>
          </a:bodyPr>
          <a:lstStyle/>
          <a:p>
            <a:pPr algn="l">
              <a:lnSpc>
                <a:spcPct val="100000"/>
              </a:lnSpc>
            </a:pPr>
            <a:r>
              <a:rPr sz="1900" b="0">
                <a:solidFill>
                  <a:srgbClr val="16241F"/>
                </a:solidFill>
                <a:latin typeface="Calibri"/>
              </a:rPr>
              <a:t>Open the notebook from the repository below and run cell 1.</a:t>
            </a:r>
          </a:p>
        </p:txBody>
      </p:sp>
      <p:sp>
        <p:nvSpPr>
          <p:cNvPr id="8" name="text"/>
          <p:cNvSpPr txBox="1"/>
          <p:nvPr/>
        </p:nvSpPr>
        <p:spPr>
          <a:xfrm>
            <a:off x="548640" y="4663440"/>
            <a:ext cx="3657600" cy="320040"/>
          </a:xfrm>
          <a:prstGeom prst="rect">
            <a:avLst/>
          </a:prstGeom>
          <a:noFill/>
        </p:spPr>
        <p:txBody>
          <a:bodyPr wrap="square" lIns="0" rIns="0" tIns="0" bIns="0" anchor="t">
            <a:spAutoFit/>
          </a:bodyPr>
          <a:lstStyle/>
          <a:p>
            <a:pPr algn="l">
              <a:lnSpc>
                <a:spcPct val="100000"/>
              </a:lnSpc>
            </a:pPr>
            <a:r>
              <a:rPr sz="1500" b="0">
                <a:solidFill>
                  <a:srgbClr val="5B6F68"/>
                </a:solidFill>
                <a:latin typeface="Calibri"/>
              </a:rPr>
              <a:t>notebook in Colab</a:t>
            </a:r>
          </a:p>
        </p:txBody>
      </p:sp>
      <p:sp>
        <p:nvSpPr>
          <p:cNvPr id="9" name="link"/>
          <p:cNvSpPr txBox="1"/>
          <p:nvPr/>
        </p:nvSpPr>
        <p:spPr>
          <a:xfrm>
            <a:off x="548640" y="4992624"/>
            <a:ext cx="11094415" cy="320040"/>
          </a:xfrm>
          <a:prstGeom prst="rect">
            <a:avLst/>
          </a:prstGeom>
          <a:noFill/>
        </p:spPr>
        <p:txBody>
          <a:bodyPr wrap="none" lIns="0" rIns="0" tIns="0" bIns="0">
            <a:spAutoFit/>
          </a:bodyPr>
          <a:lstStyle/>
          <a:p>
            <a:r>
              <a:rPr sz="1200">
                <a:solidFill>
                  <a:srgbClr val="16241F"/>
                </a:solidFill>
                <a:latin typeface="Courier New"/>
                <a:hlinkClick r:id="rId2"/>
              </a:rPr>
              <a:t>colab.research.google.com/github/inferogenesis/cpomdp-workshop/blob/main/notebooks/build_a_curious_rocket.ipynb</a:t>
            </a:r>
          </a:p>
        </p:txBody>
      </p:sp>
      <p:sp>
        <p:nvSpPr>
          <p:cNvPr id="10" name="text"/>
          <p:cNvSpPr txBox="1"/>
          <p:nvPr/>
        </p:nvSpPr>
        <p:spPr>
          <a:xfrm>
            <a:off x="548640" y="5440679"/>
            <a:ext cx="3657600" cy="320040"/>
          </a:xfrm>
          <a:prstGeom prst="rect">
            <a:avLst/>
          </a:prstGeom>
          <a:noFill/>
        </p:spPr>
        <p:txBody>
          <a:bodyPr wrap="square" lIns="0" rIns="0" tIns="0" bIns="0" anchor="t">
            <a:spAutoFit/>
          </a:bodyPr>
          <a:lstStyle/>
          <a:p>
            <a:pPr algn="l">
              <a:lnSpc>
                <a:spcPct val="100000"/>
              </a:lnSpc>
            </a:pPr>
            <a:r>
              <a:rPr sz="1500" b="0">
                <a:solidFill>
                  <a:srgbClr val="5B6F68"/>
                </a:solidFill>
                <a:latin typeface="Calibri"/>
              </a:rPr>
              <a:t>repository</a:t>
            </a:r>
          </a:p>
        </p:txBody>
      </p:sp>
      <p:sp>
        <p:nvSpPr>
          <p:cNvPr id="11" name="link"/>
          <p:cNvSpPr txBox="1"/>
          <p:nvPr/>
        </p:nvSpPr>
        <p:spPr>
          <a:xfrm>
            <a:off x="548640" y="5769864"/>
            <a:ext cx="11094415" cy="320040"/>
          </a:xfrm>
          <a:prstGeom prst="rect">
            <a:avLst/>
          </a:prstGeom>
          <a:noFill/>
        </p:spPr>
        <p:txBody>
          <a:bodyPr wrap="none" lIns="0" rIns="0" tIns="0" bIns="0">
            <a:spAutoFit/>
          </a:bodyPr>
          <a:lstStyle/>
          <a:p>
            <a:r>
              <a:rPr sz="1200">
                <a:solidFill>
                  <a:srgbClr val="16241F"/>
                </a:solidFill>
                <a:latin typeface="Courier New"/>
                <a:hlinkClick r:id="rId3"/>
              </a:rPr>
              <a:t>github.com/inferogenesis/cpomdp-workshop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Where we're heading</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welcome</a:t>
            </a:r>
          </a:p>
        </p:txBody>
      </p:sp>
      <p:pic>
        <p:nvPicPr>
          <p:cNvPr id="4" name="picture route_4_rock.png" descr="route_4_rock.png"/>
          <p:cNvPicPr>
            <a:picLocks noChangeAspect="1"/>
          </p:cNvPicPr>
          <p:nvPr/>
        </p:nvPicPr>
        <p:blipFill>
          <a:blip r:embed="rId2"/>
          <a:stretch>
            <a:fillRect/>
          </a:stretch>
        </p:blipFill>
        <p:spPr>
          <a:xfrm>
            <a:off x="548640" y="1280160"/>
            <a:ext cx="7680960" cy="4071706"/>
          </a:xfrm>
          <a:prstGeom prst="rect">
            <a:avLst/>
          </a:prstGeom>
        </p:spPr>
      </p:pic>
      <p:sp>
        <p:nvSpPr>
          <p:cNvPr id="5" name="text"/>
          <p:cNvSpPr txBox="1"/>
          <p:nvPr/>
        </p:nvSpPr>
        <p:spPr>
          <a:xfrm>
            <a:off x="8503920" y="1325880"/>
            <a:ext cx="3139135" cy="3291840"/>
          </a:xfrm>
          <a:prstGeom prst="rect">
            <a:avLst/>
          </a:prstGeom>
          <a:noFill/>
        </p:spPr>
        <p:txBody>
          <a:bodyPr wrap="square" lIns="0" rIns="0" tIns="0" bIns="0" anchor="t">
            <a:spAutoFit/>
          </a:bodyPr>
          <a:lstStyle/>
          <a:p>
            <a:pPr algn="l">
              <a:lnSpc>
                <a:spcPct val="100000"/>
              </a:lnSpc>
              <a:spcAft>
                <a:spcPts val="1400"/>
              </a:spcAft>
            </a:pPr>
            <a:r>
              <a:rPr sz="1900" b="0">
                <a:solidFill>
                  <a:srgbClr val="16241F"/>
                </a:solidFill>
                <a:latin typeface="Calibri"/>
              </a:rPr>
              <a:t>By the end of Task 3, we'll have built this picture.</a:t>
            </a:r>
          </a:p>
          <a:p>
            <a:pPr algn="l">
              <a:lnSpc>
                <a:spcPct val="100000"/>
              </a:lnSpc>
              <a:spcAft>
                <a:spcPts val="1400"/>
              </a:spcAft>
            </a:pPr>
            <a:r>
              <a:rPr sz="1900" b="0">
                <a:solidFill>
                  <a:srgbClr val="16241F"/>
                </a:solidFill>
                <a:latin typeface="Calibri"/>
              </a:rPr>
              <a:t>Three rockets, one rock. The dashed line is the 1960 rocket.</a:t>
            </a:r>
          </a:p>
          <a:p>
            <a:pPr algn="l">
              <a:lnSpc>
                <a:spcPct val="100000"/>
              </a:lnSpc>
            </a:pPr>
            <a:r>
              <a:rPr sz="1900" b="0">
                <a:solidFill>
                  <a:srgbClr val="16241F"/>
                </a:solidFill>
                <a:latin typeface="Calibri"/>
              </a:rPr>
              <a:t>Cell 2 draws it. </a:t>
            </a:r>
            <a:r>
              <a:rPr sz="1900" b="0">
                <a:solidFill>
                  <a:srgbClr val="16241F"/>
                </a:solidFill>
                <a:latin typeface="Courier New"/>
              </a:rPr>
              <a:t>workshop.preview()</a:t>
            </a:r>
          </a:p>
        </p:txBody>
      </p:sp>
      <p:sp>
        <p:nvSpPr>
          <p:cNvPr id="6" name="text"/>
          <p:cNvSpPr txBox="1"/>
          <p:nvPr/>
        </p:nvSpPr>
        <p:spPr>
          <a:xfrm>
            <a:off x="8503920" y="5760720"/>
            <a:ext cx="3139135" cy="457200"/>
          </a:xfrm>
          <a:prstGeom prst="rect">
            <a:avLst/>
          </a:prstGeom>
          <a:noFill/>
        </p:spPr>
        <p:txBody>
          <a:bodyPr wrap="square" lIns="0" rIns="0" tIns="0" bIns="0" anchor="t">
            <a:spAutoFit/>
          </a:bodyPr>
          <a:lstStyle/>
          <a:p>
            <a:pPr algn="l">
              <a:lnSpc>
                <a:spcPct val="100000"/>
              </a:lnSpc>
            </a:pPr>
            <a:r>
              <a:rPr sz="1500" b="0">
                <a:solidFill>
                  <a:srgbClr val="5B6F68"/>
                </a:solidFill>
                <a:latin typeface="Calibri"/>
              </a:rPr>
              <a:t>Seed 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Task 1 · The 1960 rocket</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1</a:t>
            </a:r>
          </a:p>
        </p:txBody>
      </p:sp>
      <p:sp>
        <p:nvSpPr>
          <p:cNvPr id="4" name="text"/>
          <p:cNvSpPr txBox="1"/>
          <p:nvPr/>
        </p:nvSpPr>
        <p:spPr>
          <a:xfrm>
            <a:off x="548640" y="1325880"/>
            <a:ext cx="11094415" cy="1508760"/>
          </a:xfrm>
          <a:prstGeom prst="rect">
            <a:avLst/>
          </a:prstGeom>
          <a:noFill/>
        </p:spPr>
        <p:txBody>
          <a:bodyPr wrap="square" lIns="0" rIns="0" tIns="0" bIns="0" anchor="t">
            <a:spAutoFit/>
          </a:bodyPr>
          <a:lstStyle/>
          <a:p>
            <a:pPr algn="l">
              <a:lnSpc>
                <a:spcPct val="100000"/>
              </a:lnSpc>
              <a:spcAft>
                <a:spcPts val="1200"/>
              </a:spcAft>
            </a:pPr>
            <a:r>
              <a:rPr sz="2100" b="0">
                <a:solidFill>
                  <a:srgbClr val="16241F"/>
                </a:solidFill>
                <a:latin typeface="Calibri"/>
              </a:rPr>
              <a:t>A Kalman filter estimates where the rocket is from noisy sensor readings, and a linear quadratic regulator (LQR) steers it to the landing pad.</a:t>
            </a:r>
          </a:p>
          <a:p>
            <a:pPr algn="l">
              <a:lnSpc>
                <a:spcPct val="100000"/>
              </a:lnSpc>
            </a:pPr>
            <a:r>
              <a:rPr sz="2100" b="0">
                <a:solidFill>
                  <a:srgbClr val="16241F"/>
                </a:solidFill>
                <a:latin typeface="Calibri"/>
              </a:rPr>
              <a:t>The sensor is equally reliable wherever the rocket flies.</a:t>
            </a:r>
          </a:p>
        </p:txBody>
      </p:sp>
      <p:sp>
        <p:nvSpPr>
          <p:cNvPr id="5" name="text"/>
          <p:cNvSpPr txBox="1"/>
          <p:nvPr/>
        </p:nvSpPr>
        <p:spPr>
          <a:xfrm>
            <a:off x="548640" y="2926080"/>
            <a:ext cx="11094415" cy="868680"/>
          </a:xfrm>
          <a:prstGeom prst="rect">
            <a:avLst/>
          </a:prstGeom>
          <a:noFill/>
        </p:spPr>
        <p:txBody>
          <a:bodyPr wrap="square" lIns="0" rIns="0" tIns="0" bIns="0" anchor="t">
            <a:spAutoFit/>
          </a:bodyPr>
          <a:lstStyle/>
          <a:p>
            <a:pPr algn="l">
              <a:lnSpc>
                <a:spcPct val="100000"/>
              </a:lnSpc>
            </a:pPr>
            <a:r>
              <a:rPr sz="2200" b="1">
                <a:solidFill>
                  <a:srgbClr val="8A6000"/>
                </a:solidFill>
                <a:latin typeface="Calibri"/>
              </a:rPr>
              <a:t>Does that make every move equally informative?</a:t>
            </a:r>
          </a:p>
        </p:txBody>
      </p:sp>
      <p:sp>
        <p:nvSpPr>
          <p:cNvPr id="6" name="card"/>
          <p:cNvSpPr/>
          <p:nvPr/>
        </p:nvSpPr>
        <p:spPr>
          <a:xfrm>
            <a:off x="548640" y="3931920"/>
            <a:ext cx="2567863" cy="2103120"/>
          </a:xfrm>
          <a:prstGeom prst="roundRect">
            <a:avLst>
              <a:gd name="adj" fmla="val 521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200"/>
              </a:spcAft>
            </a:pPr>
            <a:r>
              <a:rPr sz="3200" b="1">
                <a:solidFill>
                  <a:srgbClr val="8A6000"/>
                </a:solidFill>
                <a:latin typeface="Calibri"/>
              </a:rPr>
              <a:t>A</a:t>
            </a:r>
          </a:p>
          <a:p>
            <a:pPr algn="l">
              <a:lnSpc>
                <a:spcPct val="100000"/>
              </a:lnSpc>
              <a:spcAft>
                <a:spcPts val="200"/>
              </a:spcAft>
            </a:pPr>
            <a:r>
              <a:rPr sz="1500" b="0">
                <a:solidFill>
                  <a:srgbClr val="5B6F68"/>
                </a:solidFill>
                <a:latin typeface="Calibri"/>
              </a:rPr>
              <a:t>the observation likelihood</a:t>
            </a:r>
          </a:p>
          <a:p>
            <a:pPr algn="l">
              <a:lnSpc>
                <a:spcPct val="100000"/>
              </a:lnSpc>
              <a:spcAft>
                <a:spcPts val="200"/>
              </a:spcAft>
            </a:pPr>
            <a:r>
              <a:rPr sz="1500" b="0">
                <a:solidFill>
                  <a:srgbClr val="16241F"/>
                </a:solidFill>
                <a:latin typeface="Courier New"/>
              </a:rPr>
              <a:t>observation_matrix,</a:t>
            </a:r>
          </a:p>
          <a:p>
            <a:pPr algn="l">
              <a:lnSpc>
                <a:spcPct val="100000"/>
              </a:lnSpc>
            </a:pPr>
            <a:r>
              <a:rPr sz="1500" b="0">
                <a:solidFill>
                  <a:srgbClr val="16241F"/>
                </a:solidFill>
                <a:latin typeface="Courier New"/>
              </a:rPr>
              <a:t>observation_noise</a:t>
            </a:r>
          </a:p>
        </p:txBody>
      </p:sp>
      <p:sp>
        <p:nvSpPr>
          <p:cNvPr id="7" name="card"/>
          <p:cNvSpPr/>
          <p:nvPr/>
        </p:nvSpPr>
        <p:spPr>
          <a:xfrm>
            <a:off x="3390823" y="3931920"/>
            <a:ext cx="2567863" cy="2103120"/>
          </a:xfrm>
          <a:prstGeom prst="roundRect">
            <a:avLst>
              <a:gd name="adj" fmla="val 521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200"/>
              </a:spcAft>
            </a:pPr>
            <a:r>
              <a:rPr sz="3200" b="1">
                <a:solidFill>
                  <a:srgbClr val="8A6000"/>
                </a:solidFill>
                <a:latin typeface="Calibri"/>
              </a:rPr>
              <a:t>B</a:t>
            </a:r>
          </a:p>
          <a:p>
            <a:pPr algn="l">
              <a:lnSpc>
                <a:spcPct val="100000"/>
              </a:lnSpc>
              <a:spcAft>
                <a:spcPts val="200"/>
              </a:spcAft>
            </a:pPr>
            <a:r>
              <a:rPr sz="1500" b="0">
                <a:solidFill>
                  <a:srgbClr val="5B6F68"/>
                </a:solidFill>
                <a:latin typeface="Calibri"/>
              </a:rPr>
              <a:t>the transition</a:t>
            </a:r>
          </a:p>
          <a:p>
            <a:pPr algn="l">
              <a:lnSpc>
                <a:spcPct val="100000"/>
              </a:lnSpc>
              <a:spcAft>
                <a:spcPts val="200"/>
              </a:spcAft>
            </a:pPr>
            <a:r>
              <a:rPr sz="1500" b="0">
                <a:solidFill>
                  <a:srgbClr val="16241F"/>
                </a:solidFill>
                <a:latin typeface="Courier New"/>
              </a:rPr>
              <a:t>dynamics_matrix,</a:t>
            </a:r>
          </a:p>
          <a:p>
            <a:pPr algn="l">
              <a:lnSpc>
                <a:spcPct val="100000"/>
              </a:lnSpc>
            </a:pPr>
            <a:r>
              <a:rPr sz="1500" b="0">
                <a:solidFill>
                  <a:srgbClr val="16241F"/>
                </a:solidFill>
                <a:latin typeface="Courier New"/>
              </a:rPr>
              <a:t>control_matrix</a:t>
            </a:r>
          </a:p>
        </p:txBody>
      </p:sp>
      <p:sp>
        <p:nvSpPr>
          <p:cNvPr id="8" name="card"/>
          <p:cNvSpPr/>
          <p:nvPr/>
        </p:nvSpPr>
        <p:spPr>
          <a:xfrm>
            <a:off x="6233007" y="3931920"/>
            <a:ext cx="2567863" cy="2103120"/>
          </a:xfrm>
          <a:prstGeom prst="roundRect">
            <a:avLst>
              <a:gd name="adj" fmla="val 521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200"/>
              </a:spcAft>
            </a:pPr>
            <a:r>
              <a:rPr sz="3200" b="1">
                <a:solidFill>
                  <a:srgbClr val="8A6000"/>
                </a:solidFill>
                <a:latin typeface="Calibri"/>
              </a:rPr>
              <a:t>C</a:t>
            </a:r>
          </a:p>
          <a:p>
            <a:pPr algn="l">
              <a:lnSpc>
                <a:spcPct val="100000"/>
              </a:lnSpc>
              <a:spcAft>
                <a:spcPts val="200"/>
              </a:spcAft>
            </a:pPr>
            <a:r>
              <a:rPr sz="1500" b="0">
                <a:solidFill>
                  <a:srgbClr val="5B6F68"/>
                </a:solidFill>
                <a:latin typeface="Calibri"/>
              </a:rPr>
              <a:t>the preference</a:t>
            </a:r>
          </a:p>
          <a:p>
            <a:pPr algn="l">
              <a:lnSpc>
                <a:spcPct val="100000"/>
              </a:lnSpc>
              <a:spcAft>
                <a:spcPts val="200"/>
              </a:spcAft>
            </a:pPr>
            <a:r>
              <a:rPr sz="1500" b="0">
                <a:solidFill>
                  <a:srgbClr val="16241F"/>
                </a:solidFill>
                <a:latin typeface="Courier New"/>
              </a:rPr>
              <a:t>Preference</a:t>
            </a:r>
          </a:p>
          <a:p>
            <a:pPr algn="l">
              <a:lnSpc>
                <a:spcPct val="100000"/>
              </a:lnSpc>
            </a:pPr>
            <a:r>
              <a:rPr sz="1500" b="0">
                <a:solidFill>
                  <a:srgbClr val="16241F"/>
                </a:solidFill>
                <a:latin typeface="Courier New"/>
              </a:rPr>
              <a:t>from Task 2</a:t>
            </a:r>
          </a:p>
        </p:txBody>
      </p:sp>
      <p:sp>
        <p:nvSpPr>
          <p:cNvPr id="9" name="card"/>
          <p:cNvSpPr/>
          <p:nvPr/>
        </p:nvSpPr>
        <p:spPr>
          <a:xfrm>
            <a:off x="9075191" y="3931920"/>
            <a:ext cx="2567863" cy="2103120"/>
          </a:xfrm>
          <a:prstGeom prst="roundRect">
            <a:avLst>
              <a:gd name="adj" fmla="val 521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200"/>
              </a:spcAft>
            </a:pPr>
            <a:r>
              <a:rPr sz="3200" b="1">
                <a:solidFill>
                  <a:srgbClr val="8A6000"/>
                </a:solidFill>
                <a:latin typeface="Calibri"/>
              </a:rPr>
              <a:t>D</a:t>
            </a:r>
          </a:p>
          <a:p>
            <a:pPr algn="l">
              <a:lnSpc>
                <a:spcPct val="100000"/>
              </a:lnSpc>
              <a:spcAft>
                <a:spcPts val="200"/>
              </a:spcAft>
            </a:pPr>
            <a:r>
              <a:rPr sz="1500" b="0">
                <a:solidFill>
                  <a:srgbClr val="5B6F68"/>
                </a:solidFill>
                <a:latin typeface="Calibri"/>
              </a:rPr>
              <a:t>the prior</a:t>
            </a:r>
          </a:p>
          <a:p>
            <a:pPr algn="l">
              <a:lnSpc>
                <a:spcPct val="100000"/>
              </a:lnSpc>
            </a:pPr>
            <a:r>
              <a:rPr sz="1500" b="0">
                <a:solidFill>
                  <a:srgbClr val="16241F"/>
                </a:solidFill>
                <a:latin typeface="Courier New"/>
              </a:rPr>
              <a:t>prior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Task 1 · Two lines to write</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1</a:t>
            </a:r>
          </a:p>
        </p:txBody>
      </p:sp>
      <p:sp>
        <p:nvSpPr>
          <p:cNvPr id="4" name="code"/>
          <p:cNvSpPr/>
          <p:nvPr/>
        </p:nvSpPr>
        <p:spPr>
          <a:xfrm>
            <a:off x="548640" y="1325880"/>
            <a:ext cx="11094415" cy="3764584"/>
          </a:xfrm>
          <a:prstGeom prst="roundRect">
            <a:avLst>
              <a:gd name="adj" fmla="val 2914"/>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t" wrap="none" lIns="164592" rIns="164592" tIns="115214" bIns="115214"/>
          <a:lstStyle/>
          <a:p>
            <a:pPr algn="l">
              <a:lnSpc>
                <a:spcPct val="100000"/>
              </a:lnSpc>
              <a:spcAft>
                <a:spcPts val="0"/>
              </a:spcAft>
            </a:pPr>
            <a:r>
              <a:rPr sz="1350" b="1">
                <a:solidFill>
                  <a:srgbClr val="8A6000"/>
                </a:solidFill>
                <a:latin typeface="Courier New"/>
              </a:rPr>
              <a:t>observation_matrix = ...  # pymdp's A, with R below: the reading sees the position</a:t>
            </a:r>
          </a:p>
          <a:p>
            <a:pPr algn="l">
              <a:lnSpc>
                <a:spcPct val="100000"/>
              </a:lnSpc>
              <a:spcAft>
                <a:spcPts val="0"/>
              </a:spcAft>
            </a:pPr>
            <a:r>
              <a:rPr sz="1350" b="1">
                <a:solidFill>
                  <a:srgbClr val="8A6000"/>
                </a:solidFill>
                <a:latin typeface="Courier New"/>
              </a:rPr>
              <a:t>observation_noise = ...  # R: variance 0.05 on each axis, the same everywhere</a:t>
            </a:r>
          </a:p>
          <a:p>
            <a:pPr algn="l">
              <a:lnSpc>
                <a:spcPct val="100000"/>
              </a:lnSpc>
              <a:spcAft>
                <a:spcPts val="0"/>
              </a:spcAft>
            </a:pPr>
            <a:r>
              <a:rPr sz="1350" b="0">
                <a:solidFill>
                  <a:srgbClr val="16241F"/>
                </a:solidFill>
                <a:latin typeface="Courier New"/>
              </a:rPr>
              <a:t> </a:t>
            </a:r>
          </a:p>
          <a:p>
            <a:pPr algn="l">
              <a:lnSpc>
                <a:spcPct val="100000"/>
              </a:lnSpc>
              <a:spcAft>
                <a:spcPts val="0"/>
              </a:spcAft>
            </a:pPr>
            <a:r>
              <a:rPr sz="1350" b="0">
                <a:solidFill>
                  <a:srgbClr val="16241F"/>
                </a:solidFill>
                <a:latin typeface="Courier New"/>
              </a:rPr>
              <a:t>model = LinearGaussianModel(</a:t>
            </a:r>
          </a:p>
          <a:p>
            <a:pPr algn="l">
              <a:lnSpc>
                <a:spcPct val="100000"/>
              </a:lnSpc>
              <a:spcAft>
                <a:spcPts val="0"/>
              </a:spcAft>
            </a:pPr>
            <a:r>
              <a:rPr sz="1350" b="0">
                <a:solidFill>
                  <a:srgbClr val="16241F"/>
                </a:solidFill>
                <a:latin typeface="Courier New"/>
              </a:rPr>
              <a:t>    jnp.eye(2),</a:t>
            </a:r>
            <a:r>
              <a:rPr sz="1350" b="0">
                <a:solidFill>
                  <a:srgbClr val="5B6F68"/>
                </a:solidFill>
                <a:latin typeface="Courier New"/>
              </a:rPr>
              <a:t>  # dynamics, pymdp's B: the rocket stays put unless moved</a:t>
            </a:r>
          </a:p>
          <a:p>
            <a:pPr algn="l">
              <a:lnSpc>
                <a:spcPct val="100000"/>
              </a:lnSpc>
              <a:spcAft>
                <a:spcPts val="0"/>
              </a:spcAft>
            </a:pPr>
            <a:r>
              <a:rPr sz="1350" b="0">
                <a:solidFill>
                  <a:srgbClr val="16241F"/>
                </a:solidFill>
                <a:latin typeface="Courier New"/>
              </a:rPr>
              <a:t>    control_matrix=jnp.eye(2),</a:t>
            </a:r>
            <a:r>
              <a:rPr sz="1350" b="0">
                <a:solidFill>
                  <a:srgbClr val="5B6F68"/>
                </a:solidFill>
                <a:latin typeface="Courier New"/>
              </a:rPr>
              <a:t>  # a move adds straight to the position</a:t>
            </a:r>
          </a:p>
          <a:p>
            <a:pPr algn="l">
              <a:lnSpc>
                <a:spcPct val="100000"/>
              </a:lnSpc>
              <a:spcAft>
                <a:spcPts val="0"/>
              </a:spcAft>
            </a:pPr>
            <a:r>
              <a:rPr sz="1350" b="0">
                <a:solidFill>
                  <a:srgbClr val="16241F"/>
                </a:solidFill>
                <a:latin typeface="Courier New"/>
              </a:rPr>
              <a:t>    observation_matrix=observation_matrix,</a:t>
            </a:r>
          </a:p>
          <a:p>
            <a:pPr algn="l">
              <a:lnSpc>
                <a:spcPct val="100000"/>
              </a:lnSpc>
              <a:spcAft>
                <a:spcPts val="0"/>
              </a:spcAft>
            </a:pPr>
            <a:r>
              <a:rPr sz="1350" b="0">
                <a:solidFill>
                  <a:srgbClr val="16241F"/>
                </a:solidFill>
                <a:latin typeface="Courier New"/>
              </a:rPr>
              <a:t>    observation_noise=observation_noise,</a:t>
            </a:r>
          </a:p>
          <a:p>
            <a:pPr algn="l">
              <a:lnSpc>
                <a:spcPct val="100000"/>
              </a:lnSpc>
              <a:spcAft>
                <a:spcPts val="0"/>
              </a:spcAft>
            </a:pPr>
            <a:r>
              <a:rPr sz="1350" b="0">
                <a:solidFill>
                  <a:srgbClr val="16241F"/>
                </a:solidFill>
                <a:latin typeface="Courier New"/>
              </a:rPr>
              <a:t>    dynamics_noise=1e-3 * jnp.eye(2),</a:t>
            </a:r>
            <a:r>
              <a:rPr sz="1350" b="0">
                <a:solidFill>
                  <a:srgbClr val="5B6F68"/>
                </a:solidFill>
                <a:latin typeface="Courier New"/>
              </a:rPr>
              <a:t>  # Q: a little drift each step</a:t>
            </a:r>
          </a:p>
          <a:p>
            <a:pPr algn="l">
              <a:lnSpc>
                <a:spcPct val="100000"/>
              </a:lnSpc>
              <a:spcAft>
                <a:spcPts val="0"/>
              </a:spcAft>
            </a:pPr>
            <a:r>
              <a:rPr sz="1350" b="0">
                <a:solidFill>
                  <a:srgbClr val="16241F"/>
                </a:solidFill>
                <a:latin typeface="Courier New"/>
              </a:rPr>
              <a:t>    prior=Belief(mean=LAUNCH, cov=4 * jnp.eye(2)),</a:t>
            </a:r>
            <a:r>
              <a:rPr sz="1350" b="0">
                <a:solidFill>
                  <a:srgbClr val="5B6F68"/>
                </a:solidFill>
                <a:latin typeface="Courier New"/>
              </a:rPr>
              <a:t>  # pymdp's D: unsure where it is</a:t>
            </a:r>
          </a:p>
          <a:p>
            <a:pPr algn="l">
              <a:lnSpc>
                <a:spcPct val="100000"/>
              </a:lnSpc>
              <a:spcAft>
                <a:spcPts val="0"/>
              </a:spcAft>
            </a:pPr>
            <a:r>
              <a:rPr sz="1350" b="0">
                <a:solidFill>
                  <a:srgbClr val="16241F"/>
                </a:solidFill>
                <a:latin typeface="Courier New"/>
              </a:rPr>
              <a:t>)</a:t>
            </a:r>
          </a:p>
          <a:p>
            <a:pPr algn="l">
              <a:lnSpc>
                <a:spcPct val="100000"/>
              </a:lnSpc>
              <a:spcAft>
                <a:spcPts val="0"/>
              </a:spcAft>
            </a:pPr>
            <a:r>
              <a:rPr sz="1350" b="0">
                <a:solidFill>
                  <a:srgbClr val="16241F"/>
                </a:solidFill>
                <a:latin typeface="Courier New"/>
              </a:rPr>
              <a:t>goal = StateGoal(PAD, precision=jnp.eye(2), effort=100 * jnp.eye(2))</a:t>
            </a:r>
            <a:r>
              <a:rPr sz="1350" b="0">
                <a:solidFill>
                  <a:srgbClr val="5B6F68"/>
                </a:solidFill>
                <a:latin typeface="Courier New"/>
              </a:rPr>
              <a:t>  # thruster cost</a:t>
            </a:r>
          </a:p>
          <a:p>
            <a:pPr algn="l">
              <a:lnSpc>
                <a:spcPct val="100000"/>
              </a:lnSpc>
              <a:spcAft>
                <a:spcPts val="0"/>
              </a:spcAft>
            </a:pPr>
            <a:r>
              <a:rPr sz="1350" b="0">
                <a:solidFill>
                  <a:srgbClr val="16241F"/>
                </a:solidFill>
                <a:latin typeface="Courier New"/>
              </a:rPr>
              <a:t>rocket = Agent(model, goal)</a:t>
            </a:r>
          </a:p>
          <a:p>
            <a:pPr algn="l">
              <a:lnSpc>
                <a:spcPct val="100000"/>
              </a:lnSpc>
              <a:spcAft>
                <a:spcPts val="0"/>
              </a:spcAft>
            </a:pPr>
            <a:r>
              <a:rPr sz="1350" b="0">
                <a:solidFill>
                  <a:srgbClr val="16241F"/>
                </a:solidFill>
                <a:latin typeface="Courier New"/>
              </a:rPr>
              <a:t>check_agent(rocket)</a:t>
            </a:r>
          </a:p>
          <a:p>
            <a:pPr algn="l">
              <a:lnSpc>
                <a:spcPct val="100000"/>
              </a:lnSpc>
              <a:spcAft>
                <a:spcPts val="0"/>
              </a:spcAft>
            </a:pPr>
            <a:r>
              <a:rPr sz="1350" b="0">
                <a:solidFill>
                  <a:srgbClr val="16241F"/>
                </a:solidFill>
                <a:latin typeface="Courier New"/>
              </a:rPr>
              <a:t> </a:t>
            </a:r>
          </a:p>
          <a:p>
            <a:pPr algn="l">
              <a:lnSpc>
                <a:spcPct val="100000"/>
              </a:lnSpc>
              <a:spcAft>
                <a:spcPts val="0"/>
              </a:spcAft>
            </a:pPr>
            <a:r>
              <a:rPr sz="1350" b="0">
                <a:solidFill>
                  <a:srgbClr val="16241F"/>
                </a:solidFill>
                <a:latin typeface="Courier New"/>
              </a:rPr>
              <a:t>report = probe_model(model, model.prior, compass_moves())</a:t>
            </a:r>
          </a:p>
          <a:p>
            <a:pPr algn="l">
              <a:lnSpc>
                <a:spcPct val="100000"/>
              </a:lnSpc>
            </a:pPr>
            <a:r>
              <a:rPr sz="1350" b="0">
                <a:solidFill>
                  <a:srgbClr val="16241F"/>
                </a:solidFill>
                <a:latin typeface="Courier New"/>
              </a:rPr>
              <a:t>show_probe(report)</a:t>
            </a:r>
            <a:r>
              <a:rPr sz="1350" b="0">
                <a:solidFill>
                  <a:srgbClr val="5B6F68"/>
                </a:solidFill>
                <a:latin typeface="Courier New"/>
              </a:rPr>
              <a:t>  # paste the spread in chat</a:t>
            </a:r>
          </a:p>
        </p:txBody>
      </p:sp>
      <p:sp>
        <p:nvSpPr>
          <p:cNvPr id="5" name="text"/>
          <p:cNvSpPr txBox="1"/>
          <p:nvPr/>
        </p:nvSpPr>
        <p:spPr>
          <a:xfrm>
            <a:off x="548640" y="5227624"/>
            <a:ext cx="11094415" cy="395935"/>
          </a:xfrm>
          <a:prstGeom prst="rect">
            <a:avLst/>
          </a:prstGeom>
          <a:noFill/>
        </p:spPr>
        <p:txBody>
          <a:bodyPr wrap="square" lIns="0" rIns="0" tIns="0" bIns="0" anchor="t">
            <a:spAutoFit/>
          </a:bodyPr>
          <a:lstStyle/>
          <a:p>
            <a:pPr algn="l">
              <a:lnSpc>
                <a:spcPct val="100000"/>
              </a:lnSpc>
            </a:pPr>
            <a:r>
              <a:rPr sz="1800" b="0">
                <a:solidFill>
                  <a:srgbClr val="5B6F68"/>
                </a:solidFill>
                <a:latin typeface="Calibri"/>
              </a:rPr>
              <a:t>Then the bonuses. Can you make the spread move?</a:t>
            </a:r>
          </a:p>
        </p:txBody>
      </p:sp>
      <p:sp>
        <p:nvSpPr>
          <p:cNvPr id="6" name="card"/>
          <p:cNvSpPr/>
          <p:nvPr/>
        </p:nvSpPr>
        <p:spPr>
          <a:xfrm>
            <a:off x="548640" y="5669280"/>
            <a:ext cx="3200400"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pPr>
            <a:r>
              <a:rPr sz="1700" b="1">
                <a:solidFill>
                  <a:srgbClr val="8A6000"/>
                </a:solidFill>
                <a:latin typeface="Calibri"/>
              </a:rPr>
              <a:t>Write the two amber lines</a:t>
            </a:r>
          </a:p>
        </p:txBody>
      </p:sp>
      <p:sp>
        <p:nvSpPr>
          <p:cNvPr id="7" name="card"/>
          <p:cNvSpPr/>
          <p:nvPr/>
        </p:nvSpPr>
        <p:spPr>
          <a:xfrm>
            <a:off x="4023359" y="5669280"/>
            <a:ext cx="3383280"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pPr>
            <a:r>
              <a:rPr sz="1700" b="0">
                <a:solidFill>
                  <a:srgbClr val="16241F"/>
                </a:solidFill>
                <a:latin typeface="Calibri"/>
              </a:rPr>
              <a:t>Hints are below the cell</a:t>
            </a:r>
          </a:p>
        </p:txBody>
      </p:sp>
      <p:sp>
        <p:nvSpPr>
          <p:cNvPr id="8" name="card"/>
          <p:cNvSpPr/>
          <p:nvPr/>
        </p:nvSpPr>
        <p:spPr>
          <a:xfrm>
            <a:off x="7680959" y="5669280"/>
            <a:ext cx="3962095" cy="685800"/>
          </a:xfrm>
          <a:prstGeom prst="roundRect">
            <a:avLst>
              <a:gd name="adj" fmla="val 8000"/>
            </a:avLst>
          </a:prstGeom>
          <a:solidFill>
            <a:srgbClr val="FFFFFF"/>
          </a:solidFill>
          <a:ln w="12700">
            <a:solidFill>
              <a:srgbClr val="E69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pPr>
            <a:r>
              <a:rPr sz="1700" b="0">
                <a:solidFill>
                  <a:srgbClr val="5B6F68"/>
                </a:solidFill>
                <a:latin typeface="Calibri"/>
              </a:rPr>
              <a:t>Paste in chat  </a:t>
            </a:r>
            <a:r>
              <a:rPr sz="1700" b="0">
                <a:solidFill>
                  <a:srgbClr val="16241F"/>
                </a:solidFill>
                <a:latin typeface="Courier New"/>
              </a:rPr>
              <a:t>spread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Task 1 · Over to you</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1</a:t>
            </a:r>
          </a:p>
        </p:txBody>
      </p:sp>
      <p:sp>
        <p:nvSpPr>
          <p:cNvPr id="4" name="text"/>
          <p:cNvSpPr txBox="1"/>
          <p:nvPr/>
        </p:nvSpPr>
        <p:spPr>
          <a:xfrm>
            <a:off x="548640" y="1417320"/>
            <a:ext cx="11094415" cy="2286000"/>
          </a:xfrm>
          <a:prstGeom prst="rect">
            <a:avLst/>
          </a:prstGeom>
          <a:noFill/>
        </p:spPr>
        <p:txBody>
          <a:bodyPr wrap="square" lIns="0" rIns="0" tIns="0" bIns="0" anchor="t">
            <a:spAutoFit/>
          </a:bodyPr>
          <a:lstStyle/>
          <a:p>
            <a:pPr algn="l">
              <a:lnSpc>
                <a:spcPct val="100000"/>
              </a:lnSpc>
              <a:spcAft>
                <a:spcPts val="1400"/>
              </a:spcAft>
            </a:pPr>
            <a:r>
              <a:rPr sz="2400" b="1">
                <a:solidFill>
                  <a:srgbClr val="8A6000"/>
                </a:solidFill>
                <a:latin typeface="Calibri"/>
              </a:rPr>
              <a:t>1   </a:t>
            </a:r>
            <a:r>
              <a:rPr sz="2400" b="0">
                <a:solidFill>
                  <a:srgbClr val="16241F"/>
                </a:solidFill>
                <a:latin typeface="Calibri"/>
              </a:rPr>
              <a:t>Write the two amber lines and run the cell.</a:t>
            </a:r>
          </a:p>
          <a:p>
            <a:pPr algn="l">
              <a:lnSpc>
                <a:spcPct val="100000"/>
              </a:lnSpc>
              <a:spcAft>
                <a:spcPts val="1400"/>
              </a:spcAft>
            </a:pPr>
            <a:r>
              <a:rPr sz="2400" b="1">
                <a:solidFill>
                  <a:srgbClr val="8A6000"/>
                </a:solidFill>
                <a:latin typeface="Calibri"/>
              </a:rPr>
              <a:t>2   </a:t>
            </a:r>
            <a:r>
              <a:rPr sz="2400" b="0">
                <a:solidFill>
                  <a:srgbClr val="16241F"/>
                </a:solidFill>
                <a:latin typeface="Calibri"/>
              </a:rPr>
              <a:t>Paste your spread in the chat.</a:t>
            </a:r>
          </a:p>
          <a:p>
            <a:pPr algn="l">
              <a:lnSpc>
                <a:spcPct val="100000"/>
              </a:lnSpc>
            </a:pPr>
            <a:r>
              <a:rPr sz="2400" b="1">
                <a:solidFill>
                  <a:srgbClr val="8A6000"/>
                </a:solidFill>
                <a:latin typeface="Calibri"/>
              </a:rPr>
              <a:t>3   </a:t>
            </a:r>
            <a:r>
              <a:rPr sz="2400" b="0">
                <a:solidFill>
                  <a:srgbClr val="16241F"/>
                </a:solidFill>
                <a:latin typeface="Calibri"/>
              </a:rPr>
              <a:t>Finished early? Try the two bonuses.</a:t>
            </a:r>
          </a:p>
        </p:txBody>
      </p:sp>
      <p:sp>
        <p:nvSpPr>
          <p:cNvPr id="5" name="track"/>
          <p:cNvSpPr/>
          <p:nvPr/>
        </p:nvSpPr>
        <p:spPr>
          <a:xfrm>
            <a:off x="548640" y="3931920"/>
            <a:ext cx="11094415" cy="640080"/>
          </a:xfrm>
          <a:prstGeom prst="roundRect">
            <a:avLst>
              <a:gd name="adj" fmla="val 50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ctr"/>
          </a:p>
        </p:txBody>
      </p:sp>
      <p:sp>
        <p:nvSpPr>
          <p:cNvPr id="6" name="bar"/>
          <p:cNvSpPr/>
          <p:nvPr/>
        </p:nvSpPr>
        <p:spPr>
          <a:xfrm>
            <a:off x="603503" y="3986783"/>
            <a:ext cx="10984687" cy="530352"/>
          </a:xfrm>
          <a:prstGeom prst="roundRect">
            <a:avLst>
              <a:gd name="adj" fmla="val 50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548640" y="4709159"/>
            <a:ext cx="1097280" cy="411480"/>
          </a:xfrm>
          <a:prstGeom prst="rect">
            <a:avLst/>
          </a:prstGeom>
          <a:noFill/>
        </p:spPr>
        <p:txBody>
          <a:bodyPr wrap="square" lIns="0" rIns="0" tIns="0" bIns="0" anchor="t">
            <a:spAutoFit/>
          </a:bodyPr>
          <a:lstStyle/>
          <a:p>
            <a:pPr algn="l">
              <a:lnSpc>
                <a:spcPct val="100000"/>
              </a:lnSpc>
            </a:pPr>
            <a:r>
              <a:rPr sz="1600" b="0">
                <a:solidFill>
                  <a:srgbClr val="5B6F68"/>
                </a:solidFill>
                <a:latin typeface="Calibri"/>
              </a:rPr>
              <a:t>0</a:t>
            </a:r>
          </a:p>
        </p:txBody>
      </p:sp>
      <p:sp>
        <p:nvSpPr>
          <p:cNvPr id="8" name="text"/>
          <p:cNvSpPr txBox="1"/>
          <p:nvPr/>
        </p:nvSpPr>
        <p:spPr>
          <a:xfrm>
            <a:off x="3698138" y="4709159"/>
            <a:ext cx="1097280" cy="411480"/>
          </a:xfrm>
          <a:prstGeom prst="rect">
            <a:avLst/>
          </a:prstGeom>
          <a:noFill/>
        </p:spPr>
        <p:txBody>
          <a:bodyPr wrap="square" lIns="0" rIns="0" tIns="0" bIns="0" anchor="t">
            <a:spAutoFit/>
          </a:bodyPr>
          <a:lstStyle/>
          <a:p>
            <a:pPr algn="ctr">
              <a:lnSpc>
                <a:spcPct val="100000"/>
              </a:lnSpc>
            </a:pPr>
            <a:r>
              <a:rPr sz="1600" b="0">
                <a:solidFill>
                  <a:srgbClr val="5B6F68"/>
                </a:solidFill>
                <a:latin typeface="Calibri"/>
              </a:rPr>
              <a:t>5</a:t>
            </a:r>
          </a:p>
        </p:txBody>
      </p:sp>
      <p:sp>
        <p:nvSpPr>
          <p:cNvPr id="9" name="text"/>
          <p:cNvSpPr txBox="1"/>
          <p:nvPr/>
        </p:nvSpPr>
        <p:spPr>
          <a:xfrm>
            <a:off x="7396276" y="4709159"/>
            <a:ext cx="1097280" cy="411480"/>
          </a:xfrm>
          <a:prstGeom prst="rect">
            <a:avLst/>
          </a:prstGeom>
          <a:noFill/>
        </p:spPr>
        <p:txBody>
          <a:bodyPr wrap="square" lIns="0" rIns="0" tIns="0" bIns="0" anchor="t">
            <a:spAutoFit/>
          </a:bodyPr>
          <a:lstStyle/>
          <a:p>
            <a:pPr algn="ctr">
              <a:lnSpc>
                <a:spcPct val="100000"/>
              </a:lnSpc>
            </a:pPr>
            <a:r>
              <a:rPr sz="1600" b="0">
                <a:solidFill>
                  <a:srgbClr val="5B6F68"/>
                </a:solidFill>
                <a:latin typeface="Calibri"/>
              </a:rPr>
              <a:t>10</a:t>
            </a:r>
          </a:p>
        </p:txBody>
      </p:sp>
      <p:sp>
        <p:nvSpPr>
          <p:cNvPr id="10" name="text"/>
          <p:cNvSpPr txBox="1"/>
          <p:nvPr/>
        </p:nvSpPr>
        <p:spPr>
          <a:xfrm>
            <a:off x="10545775" y="4709159"/>
            <a:ext cx="1097280" cy="411480"/>
          </a:xfrm>
          <a:prstGeom prst="rect">
            <a:avLst/>
          </a:prstGeom>
          <a:noFill/>
        </p:spPr>
        <p:txBody>
          <a:bodyPr wrap="square" lIns="0" rIns="0" tIns="0" bIns="0" anchor="t">
            <a:spAutoFit/>
          </a:bodyPr>
          <a:lstStyle/>
          <a:p>
            <a:pPr algn="r">
              <a:lnSpc>
                <a:spcPct val="100000"/>
              </a:lnSpc>
            </a:pPr>
            <a:r>
              <a:rPr sz="1600" b="0">
                <a:solidFill>
                  <a:srgbClr val="5B6F68"/>
                </a:solidFill>
                <a:latin typeface="Calibri"/>
              </a:rPr>
              <a:t>15 min</a:t>
            </a:r>
          </a:p>
        </p:txBody>
      </p:sp>
      <p:sp>
        <p:nvSpPr>
          <p:cNvPr id="11" name="text"/>
          <p:cNvSpPr txBox="1"/>
          <p:nvPr/>
        </p:nvSpPr>
        <p:spPr>
          <a:xfrm>
            <a:off x="548640" y="5303520"/>
            <a:ext cx="11094415" cy="548640"/>
          </a:xfrm>
          <a:prstGeom prst="rect">
            <a:avLst/>
          </a:prstGeom>
          <a:noFill/>
        </p:spPr>
        <p:txBody>
          <a:bodyPr wrap="square" lIns="0" rIns="0" tIns="0" bIns="0" anchor="t">
            <a:spAutoFit/>
          </a:bodyPr>
          <a:lstStyle/>
          <a:p>
            <a:pPr algn="l">
              <a:lnSpc>
                <a:spcPct val="100000"/>
              </a:lnSpc>
            </a:pPr>
            <a:r>
              <a:rPr sz="2200" b="1">
                <a:solidFill>
                  <a:srgbClr val="8A6000"/>
                </a:solidFill>
                <a:latin typeface="Calibri"/>
              </a:rPr>
              <a:t>Time's up. </a:t>
            </a:r>
            <a:r>
              <a:rPr sz="2200" b="1">
                <a:solidFill>
                  <a:srgbClr val="16241F"/>
                </a:solidFill>
                <a:latin typeface="Calibri"/>
              </a:rPr>
              <a:t>Run checkpoint 1, even if everything worked.</a:t>
            </a:r>
          </a:p>
        </p:txBody>
      </p:sp>
      <p:sp>
        <p:nvSpPr>
          <p:cNvPr id="12" name="text"/>
          <p:cNvSpPr txBox="1"/>
          <p:nvPr/>
        </p:nvSpPr>
        <p:spPr>
          <a:xfrm>
            <a:off x="548640" y="5989320"/>
            <a:ext cx="11094415" cy="411480"/>
          </a:xfrm>
          <a:prstGeom prst="rect">
            <a:avLst/>
          </a:prstGeom>
          <a:noFill/>
        </p:spPr>
        <p:txBody>
          <a:bodyPr wrap="square" lIns="0" rIns="0" tIns="0" bIns="0" anchor="t">
            <a:spAutoFit/>
          </a:bodyPr>
          <a:lstStyle/>
          <a:p>
            <a:pPr algn="l">
              <a:lnSpc>
                <a:spcPct val="100000"/>
              </a:lnSpc>
            </a:pPr>
            <a:r>
              <a:rPr sz="1600" b="0">
                <a:solidFill>
                  <a:srgbClr val="5B6F68"/>
                </a:solidFill>
                <a:latin typeface="Calibri"/>
              </a:rPr>
              <a:t>Stuck on an error?  </a:t>
            </a:r>
            <a:r>
              <a:rPr sz="1600" b="0">
                <a:solidFill>
                  <a:srgbClr val="5B6F68"/>
                </a:solidFill>
                <a:latin typeface="Courier New"/>
              </a:rPr>
              <a:t>workshop.symptoms()</a:t>
            </a:r>
            <a:r>
              <a:rPr sz="1600" b="0">
                <a:solidFill>
                  <a:srgbClr val="5B6F68"/>
                </a:solidFill>
                <a:latin typeface="Calibri"/>
              </a:rPr>
              <a:t>  lists the five most common, with their fixes.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 fill="hold">
                            <p:stCondLst>
                              <p:cond delay="0"/>
                            </p:stCondLst>
                            <p:childTnLst>
                              <p:par>
                                <p:cTn id="6" presetID="22" presetClass="entr" presetSubtype="8" fill="hold" grpId="0" nodeType="after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wipe(left)">
                                      <p:cBhvr>
                                        <p:cTn id="4" dur="900000"/>
                                        <p:tgtEl>
                                          <p:spTgt spid="6"/>
                                        </p:tgtEl>
                                      </p:cBhvr>
                                    </p:animEffect>
                                  </p:childTnLst>
                                </p:cTn>
                              </p:par>
                            </p:childTnLst>
                          </p:cTn>
                        </p:par>
                        <p:par>
                          <p:cTn id="8" fill="hold">
                            <p:stCondLst>
                              <p:cond delay="900000"/>
                            </p:stCondLst>
                            <p:childTnLst>
                              <p:par>
                                <p:cTn id="9" presetID="1"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The 1960 rocket flies the straight line</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1</a:t>
            </a:r>
          </a:p>
        </p:txBody>
      </p:sp>
      <p:pic>
        <p:nvPicPr>
          <p:cNvPr id="4" name="picture route_1_straight.png" descr="route_1_straight.png"/>
          <p:cNvPicPr>
            <a:picLocks noChangeAspect="1"/>
          </p:cNvPicPr>
          <p:nvPr/>
        </p:nvPicPr>
        <p:blipFill>
          <a:blip r:embed="rId2"/>
          <a:stretch>
            <a:fillRect/>
          </a:stretch>
        </p:blipFill>
        <p:spPr>
          <a:xfrm>
            <a:off x="548640" y="1280160"/>
            <a:ext cx="7680960" cy="4071706"/>
          </a:xfrm>
          <a:prstGeom prst="rect">
            <a:avLst/>
          </a:prstGeom>
        </p:spPr>
      </p:pic>
      <p:sp>
        <p:nvSpPr>
          <p:cNvPr id="5" name="printed"/>
          <p:cNvSpPr/>
          <p:nvPr/>
        </p:nvSpPr>
        <p:spPr>
          <a:xfrm>
            <a:off x="548640" y="5468112"/>
            <a:ext cx="7680960" cy="88696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spcAft>
                <a:spcPts val="0"/>
              </a:spcAft>
            </a:pPr>
            <a:r>
              <a:rPr sz="1100" b="0">
                <a:solidFill>
                  <a:srgbClr val="16241F"/>
                </a:solidFill>
                <a:latin typeface="Courier New"/>
              </a:rPr>
              <a:t>Agent(objective=StateGoal, selector=LQRSelector(controller=LQRController(gain=[[0.0951, 0.0], [0.0, 0.0951]])), backend=KalmanBackend)</a:t>
            </a:r>
          </a:p>
          <a:p>
            <a:pPr algn="l">
              <a:lnSpc>
                <a:spcPct val="100000"/>
              </a:lnSpc>
              <a:spcAft>
                <a:spcPts val="0"/>
              </a:spcAft>
            </a:pPr>
            <a:r>
              <a:rPr sz="1100" b="0">
                <a:solidFill>
                  <a:srgbClr val="16241F"/>
                </a:solidFill>
                <a:latin typeface="Courier New"/>
              </a:rPr>
              <a:t>after 36 moves it is at (4.87, 0.04), 0.13 from the pad</a:t>
            </a:r>
          </a:p>
          <a:p>
            <a:pPr algn="l">
              <a:lnSpc>
                <a:spcPct val="100000"/>
              </a:lnSpc>
            </a:pPr>
            <a:r>
              <a:rPr sz="1100" b="0">
                <a:solidFill>
                  <a:srgbClr val="16241F"/>
                </a:solidFill>
                <a:latin typeface="Courier New"/>
              </a:rPr>
              <a:t>epistemic_varies = False   flattens = True   spread = 0.000000 nats</a:t>
            </a:r>
          </a:p>
        </p:txBody>
      </p:sp>
      <p:sp>
        <p:nvSpPr>
          <p:cNvPr id="6" name="card"/>
          <p:cNvSpPr/>
          <p:nvPr/>
        </p:nvSpPr>
        <p:spPr>
          <a:xfrm>
            <a:off x="8503920" y="1325880"/>
            <a:ext cx="3139135" cy="2697480"/>
          </a:xfrm>
          <a:prstGeom prst="roundRect">
            <a:avLst>
              <a:gd name="adj" fmla="val 406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spcAft>
                <a:spcPts val="600"/>
              </a:spcAft>
            </a:pPr>
            <a:r>
              <a:rPr sz="1700" b="0">
                <a:solidFill>
                  <a:srgbClr val="5B6F68"/>
                </a:solidFill>
                <a:latin typeface="Calibri"/>
              </a:rPr>
              <a:t>spread</a:t>
            </a:r>
          </a:p>
          <a:p>
            <a:pPr algn="l">
              <a:lnSpc>
                <a:spcPct val="100000"/>
              </a:lnSpc>
              <a:spcAft>
                <a:spcPts val="600"/>
              </a:spcAft>
            </a:pPr>
            <a:r>
              <a:rPr sz="3600" b="1">
                <a:solidFill>
                  <a:srgbClr val="16241F"/>
                </a:solidFill>
                <a:latin typeface="Courier New"/>
              </a:rPr>
              <a:t>0.000000</a:t>
            </a:r>
          </a:p>
          <a:p>
            <a:pPr algn="l">
              <a:lnSpc>
                <a:spcPct val="100000"/>
              </a:lnSpc>
            </a:pPr>
            <a:r>
              <a:rPr sz="1700" b="0">
                <a:solidFill>
                  <a:srgbClr val="16241F"/>
                </a:solidFill>
                <a:latin typeface="Calibri"/>
              </a:rPr>
              <a:t>nats between the most and the least informative move</a:t>
            </a:r>
          </a:p>
        </p:txBody>
      </p:sp>
      <p:sp>
        <p:nvSpPr>
          <p:cNvPr id="7" name="card"/>
          <p:cNvSpPr/>
          <p:nvPr/>
        </p:nvSpPr>
        <p:spPr>
          <a:xfrm>
            <a:off x="8503920" y="4251960"/>
            <a:ext cx="3139135" cy="960120"/>
          </a:xfrm>
          <a:prstGeom prst="roundRect">
            <a:avLst>
              <a:gd name="adj" fmla="val 8000"/>
            </a:avLst>
          </a:prstGeom>
          <a:solidFill>
            <a:srgbClr val="FFFFFF"/>
          </a:solidFill>
          <a:ln w="12700">
            <a:solidFill>
              <a:srgbClr val="E69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spcAft>
                <a:spcPts val="200"/>
              </a:spcAft>
            </a:pPr>
            <a:r>
              <a:rPr sz="1700" b="0">
                <a:solidFill>
                  <a:srgbClr val="5B6F68"/>
                </a:solidFill>
                <a:latin typeface="Calibri"/>
              </a:rPr>
              <a:t>Paste in chat</a:t>
            </a:r>
          </a:p>
          <a:p>
            <a:pPr algn="l">
              <a:lnSpc>
                <a:spcPct val="100000"/>
              </a:lnSpc>
            </a:pPr>
            <a:r>
              <a:rPr sz="1700" b="0">
                <a:solidFill>
                  <a:srgbClr val="16241F"/>
                </a:solidFill>
                <a:latin typeface="Courier New"/>
              </a:rPr>
              <a:t>spread</a:t>
            </a:r>
          </a:p>
        </p:txBody>
      </p:sp>
      <p:sp>
        <p:nvSpPr>
          <p:cNvPr id="8" name="pill"/>
          <p:cNvSpPr/>
          <p:nvPr/>
        </p:nvSpPr>
        <p:spPr>
          <a:xfrm>
            <a:off x="8503920" y="5468112"/>
            <a:ext cx="3139135" cy="502920"/>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600" b="0">
                <a:solidFill>
                  <a:srgbClr val="8A6000"/>
                </a:solidFill>
                <a:latin typeface="Calibri"/>
              </a:rPr>
              <a:t>Poll 1 · 60 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Under a fixed sensor, expected free energy is LQR</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1</a:t>
            </a:r>
          </a:p>
        </p:txBody>
      </p:sp>
      <p:sp>
        <p:nvSpPr>
          <p:cNvPr id="4" name="card"/>
          <p:cNvSpPr/>
          <p:nvPr/>
        </p:nvSpPr>
        <p:spPr>
          <a:xfrm>
            <a:off x="548640" y="1325880"/>
            <a:ext cx="5364327" cy="3291840"/>
          </a:xfrm>
          <a:prstGeom prst="roundRect">
            <a:avLst>
              <a:gd name="adj" fmla="val 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1000"/>
              </a:spcAft>
            </a:pPr>
            <a:r>
              <a:rPr sz="4400" b="1">
                <a:solidFill>
                  <a:srgbClr val="16241F"/>
                </a:solidFill>
                <a:latin typeface="Courier New"/>
              </a:rPr>
              <a:t>R</a:t>
            </a:r>
          </a:p>
          <a:p>
            <a:pPr algn="l">
              <a:lnSpc>
                <a:spcPct val="100000"/>
              </a:lnSpc>
              <a:spcAft>
                <a:spcPts val="1000"/>
              </a:spcAft>
            </a:pPr>
            <a:r>
              <a:rPr sz="2000" b="0">
                <a:solidFill>
                  <a:srgbClr val="5B6F68"/>
                </a:solidFill>
                <a:latin typeface="Calibri"/>
              </a:rPr>
              <a:t>the 1960 rocket</a:t>
            </a:r>
          </a:p>
          <a:p>
            <a:pPr algn="l">
              <a:lnSpc>
                <a:spcPct val="100000"/>
              </a:lnSpc>
              <a:spcAft>
                <a:spcPts val="1000"/>
              </a:spcAft>
            </a:pPr>
            <a:r>
              <a:rPr sz="2000" b="0">
                <a:solidFill>
                  <a:srgbClr val="16241F"/>
                </a:solidFill>
                <a:latin typeface="Calibri"/>
              </a:rPr>
              <a:t>The sensor noise is the same everywhere.</a:t>
            </a:r>
          </a:p>
          <a:p>
            <a:pPr algn="l">
              <a:lnSpc>
                <a:spcPct val="100000"/>
              </a:lnSpc>
              <a:spcAft>
                <a:spcPts val="1000"/>
              </a:spcAft>
            </a:pPr>
            <a:r>
              <a:rPr sz="2000" b="0">
                <a:solidFill>
                  <a:srgbClr val="16241F"/>
                </a:solidFill>
                <a:latin typeface="Calibri"/>
              </a:rPr>
              <a:t>So every move leaves the rocket equally uncertain.</a:t>
            </a:r>
          </a:p>
          <a:p>
            <a:pPr algn="l">
              <a:lnSpc>
                <a:spcPct val="100000"/>
              </a:lnSpc>
            </a:pPr>
            <a:r>
              <a:rPr sz="2000" b="0">
                <a:solidFill>
                  <a:srgbClr val="16241F"/>
                </a:solidFill>
                <a:latin typeface="Calibri"/>
              </a:rPr>
              <a:t>Expected free energy reduces to LQR.</a:t>
            </a:r>
          </a:p>
        </p:txBody>
      </p:sp>
      <p:sp>
        <p:nvSpPr>
          <p:cNvPr id="5" name="card"/>
          <p:cNvSpPr/>
          <p:nvPr/>
        </p:nvSpPr>
        <p:spPr>
          <a:xfrm>
            <a:off x="6278727" y="1325880"/>
            <a:ext cx="5364327" cy="3291840"/>
          </a:xfrm>
          <a:prstGeom prst="roundRect">
            <a:avLst>
              <a:gd name="adj" fmla="val 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1000"/>
              </a:spcAft>
            </a:pPr>
            <a:r>
              <a:rPr sz="4400" b="1">
                <a:solidFill>
                  <a:srgbClr val="8A6000"/>
                </a:solidFill>
                <a:latin typeface="Courier New"/>
              </a:rPr>
              <a:t>R(x)</a:t>
            </a:r>
          </a:p>
          <a:p>
            <a:pPr algn="l">
              <a:lnSpc>
                <a:spcPct val="100000"/>
              </a:lnSpc>
              <a:spcAft>
                <a:spcPts val="1000"/>
              </a:spcAft>
            </a:pPr>
            <a:r>
              <a:rPr sz="2000" b="0">
                <a:solidFill>
                  <a:srgbClr val="5B6F68"/>
                </a:solidFill>
                <a:latin typeface="Calibri"/>
              </a:rPr>
              <a:t>a curious rocket</a:t>
            </a:r>
          </a:p>
          <a:p>
            <a:pPr algn="l">
              <a:lnSpc>
                <a:spcPct val="100000"/>
              </a:lnSpc>
              <a:spcAft>
                <a:spcPts val="1000"/>
              </a:spcAft>
            </a:pPr>
            <a:r>
              <a:rPr sz="2000" b="0">
                <a:solidFill>
                  <a:srgbClr val="16241F"/>
                </a:solidFill>
                <a:latin typeface="Calibri"/>
              </a:rPr>
              <a:t>The sensor noise depends on where the rocket is.</a:t>
            </a:r>
          </a:p>
          <a:p>
            <a:pPr algn="l">
              <a:lnSpc>
                <a:spcPct val="100000"/>
              </a:lnSpc>
              <a:spcAft>
                <a:spcPts val="1000"/>
              </a:spcAft>
            </a:pPr>
            <a:r>
              <a:rPr sz="2000" b="0">
                <a:solidFill>
                  <a:srgbClr val="16241F"/>
                </a:solidFill>
                <a:latin typeface="Calibri"/>
              </a:rPr>
              <a:t>So where a move lands changes how informative the next reading is.</a:t>
            </a:r>
          </a:p>
          <a:p>
            <a:pPr algn="l">
              <a:lnSpc>
                <a:spcPct val="100000"/>
              </a:lnSpc>
            </a:pPr>
            <a:r>
              <a:rPr sz="2000" b="0">
                <a:solidFill>
                  <a:srgbClr val="16241F"/>
                </a:solidFill>
                <a:latin typeface="Calibri"/>
              </a:rPr>
              <a:t>Tasks 2 and 3 build it.</a:t>
            </a:r>
          </a:p>
        </p:txBody>
      </p:sp>
      <p:sp>
        <p:nvSpPr>
          <p:cNvPr id="6" name="text"/>
          <p:cNvSpPr txBox="1"/>
          <p:nvPr/>
        </p:nvSpPr>
        <p:spPr>
          <a:xfrm>
            <a:off x="548640" y="4892040"/>
            <a:ext cx="11094415" cy="1280160"/>
          </a:xfrm>
          <a:prstGeom prst="rect">
            <a:avLst/>
          </a:prstGeom>
          <a:noFill/>
        </p:spPr>
        <p:txBody>
          <a:bodyPr wrap="square" lIns="0" rIns="0" tIns="0" bIns="0" anchor="t">
            <a:spAutoFit/>
          </a:bodyPr>
          <a:lstStyle/>
          <a:p>
            <a:pPr algn="l">
              <a:lnSpc>
                <a:spcPct val="100000"/>
              </a:lnSpc>
              <a:spcAft>
                <a:spcPts val="1000"/>
              </a:spcAft>
            </a:pPr>
            <a:r>
              <a:rPr sz="2000" b="0">
                <a:solidFill>
                  <a:srgbClr val="16241F"/>
                </a:solidFill>
                <a:latin typeface="Calibri"/>
              </a:rPr>
              <a:t>With fixed noise in a linear Gaussian model, the expected information gain is the same for every action, so curiosity can't change what the rocket does.</a:t>
            </a:r>
          </a:p>
          <a:p>
            <a:pPr algn="l">
              <a:lnSpc>
                <a:spcPct val="100000"/>
              </a:lnSpc>
            </a:pPr>
            <a:r>
              <a:rPr sz="1600" b="0">
                <a:solidFill>
                  <a:srgbClr val="5B6F68"/>
                </a:solidFill>
                <a:latin typeface="Calibri"/>
              </a:rPr>
              <a:t>Koudahl, Kouw &amp; de Vries, 2021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What changes when observations depend on location?</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2</a:t>
            </a:r>
          </a:p>
        </p:txBody>
      </p:sp>
      <p:sp>
        <p:nvSpPr>
          <p:cNvPr id="4" name="card"/>
          <p:cNvSpPr/>
          <p:nvPr/>
        </p:nvSpPr>
        <p:spPr>
          <a:xfrm>
            <a:off x="548640" y="1325880"/>
            <a:ext cx="3515258" cy="2194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800" b="1">
                <a:solidFill>
                  <a:srgbClr val="16241F"/>
                </a:solidFill>
                <a:latin typeface="Calibri"/>
              </a:rPr>
              <a:t>Task 1: fixed sensor noise</a:t>
            </a:r>
          </a:p>
          <a:p>
            <a:pPr algn="l">
              <a:lnSpc>
                <a:spcPct val="100000"/>
              </a:lnSpc>
            </a:pPr>
            <a:r>
              <a:rPr sz="1800" b="0">
                <a:solidFill>
                  <a:srgbClr val="16241F"/>
                </a:solidFill>
                <a:latin typeface="Calibri"/>
              </a:rPr>
              <a:t>Sensor reliability is the same wherever the rocket travels.</a:t>
            </a:r>
          </a:p>
        </p:txBody>
      </p:sp>
      <p:sp>
        <p:nvSpPr>
          <p:cNvPr id="5" name="card"/>
          <p:cNvSpPr/>
          <p:nvPr/>
        </p:nvSpPr>
        <p:spPr>
          <a:xfrm>
            <a:off x="4338218" y="1325880"/>
            <a:ext cx="3515258" cy="2194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800" b="1">
                <a:solidFill>
                  <a:srgbClr val="8A6000"/>
                </a:solidFill>
                <a:latin typeface="Calibri"/>
              </a:rPr>
              <a:t>Task 2: location-dependent noise</a:t>
            </a:r>
          </a:p>
          <a:p>
            <a:pPr algn="l">
              <a:lnSpc>
                <a:spcPct val="100000"/>
              </a:lnSpc>
            </a:pPr>
            <a:r>
              <a:rPr sz="1800" b="0">
                <a:solidFill>
                  <a:srgbClr val="16241F"/>
                </a:solidFill>
                <a:latin typeface="Calibri"/>
              </a:rPr>
              <a:t>Observations are more reliable near the beacon and noisier further away.</a:t>
            </a:r>
          </a:p>
        </p:txBody>
      </p:sp>
      <p:sp>
        <p:nvSpPr>
          <p:cNvPr id="6" name="card"/>
          <p:cNvSpPr/>
          <p:nvPr/>
        </p:nvSpPr>
        <p:spPr>
          <a:xfrm>
            <a:off x="8127796" y="1325880"/>
            <a:ext cx="3515258" cy="2194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800" b="1">
                <a:solidFill>
                  <a:srgbClr val="16241F"/>
                </a:solidFill>
                <a:latin typeface="Calibri"/>
              </a:rPr>
              <a:t>A change in the objective</a:t>
            </a:r>
          </a:p>
          <a:p>
            <a:pPr algn="l">
              <a:lnSpc>
                <a:spcPct val="100000"/>
              </a:lnSpc>
            </a:pPr>
            <a:r>
              <a:rPr sz="1800" b="0">
                <a:solidFill>
                  <a:srgbClr val="16241F"/>
                </a:solidFill>
                <a:latin typeface="Calibri"/>
              </a:rPr>
              <a:t>The rocket now has a preference over observations. It wants a reading that says it's on the landing pad.</a:t>
            </a:r>
          </a:p>
        </p:txBody>
      </p:sp>
      <p:sp>
        <p:nvSpPr>
          <p:cNvPr id="7" name="text"/>
          <p:cNvSpPr txBox="1"/>
          <p:nvPr/>
        </p:nvSpPr>
        <p:spPr>
          <a:xfrm>
            <a:off x="548640" y="3840480"/>
            <a:ext cx="11094415" cy="868680"/>
          </a:xfrm>
          <a:prstGeom prst="rect">
            <a:avLst/>
          </a:prstGeom>
          <a:noFill/>
        </p:spPr>
        <p:txBody>
          <a:bodyPr wrap="square" lIns="0" rIns="0" tIns="0" bIns="0" anchor="t">
            <a:spAutoFit/>
          </a:bodyPr>
          <a:lstStyle/>
          <a:p>
            <a:pPr algn="l">
              <a:lnSpc>
                <a:spcPct val="100000"/>
              </a:lnSpc>
            </a:pPr>
            <a:r>
              <a:rPr sz="2200" b="1">
                <a:solidFill>
                  <a:srgbClr val="8A6000"/>
                </a:solidFill>
                <a:latin typeface="Calibri"/>
              </a:rPr>
              <a:t>Will the rocket change its route when some places give more reliable observations?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Task 2 · Two lines to write</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2</a:t>
            </a:r>
          </a:p>
        </p:txBody>
      </p:sp>
      <p:sp>
        <p:nvSpPr>
          <p:cNvPr id="4" name="code"/>
          <p:cNvSpPr/>
          <p:nvPr/>
        </p:nvSpPr>
        <p:spPr>
          <a:xfrm>
            <a:off x="548640" y="1325880"/>
            <a:ext cx="11094415" cy="3741724"/>
          </a:xfrm>
          <a:prstGeom prst="roundRect">
            <a:avLst>
              <a:gd name="adj" fmla="val 2932"/>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t" wrap="none" lIns="164592" rIns="164592" tIns="115214" bIns="115214"/>
          <a:lstStyle/>
          <a:p>
            <a:pPr algn="l">
              <a:lnSpc>
                <a:spcPct val="100000"/>
              </a:lnSpc>
              <a:spcAft>
                <a:spcPts val="0"/>
              </a:spcAft>
            </a:pPr>
            <a:r>
              <a:rPr sz="1200" b="1">
                <a:solidFill>
                  <a:srgbClr val="8A6000"/>
                </a:solidFill>
                <a:latin typeface="Courier New"/>
              </a:rPr>
              <a:t>beacon_gain = ...  # k: type 0.08 first, then raise it until the path bends</a:t>
            </a:r>
          </a:p>
          <a:p>
            <a:pPr algn="l">
              <a:lnSpc>
                <a:spcPct val="100000"/>
              </a:lnSpc>
              <a:spcAft>
                <a:spcPts val="0"/>
              </a:spcAft>
            </a:pPr>
            <a:r>
              <a:rPr sz="1200" b="0">
                <a:solidFill>
                  <a:srgbClr val="16241F"/>
                </a:solidFill>
                <a:latin typeface="Courier New"/>
              </a:rPr>
              <a:t>params = default_params(beacon_gain)</a:t>
            </a:r>
          </a:p>
          <a:p>
            <a:pPr algn="l">
              <a:lnSpc>
                <a:spcPct val="100000"/>
              </a:lnSpc>
              <a:spcAft>
                <a:spcPts val="0"/>
              </a:spcAft>
            </a:pPr>
            <a:r>
              <a:rPr sz="1200" b="0">
                <a:solidFill>
                  <a:srgbClr val="5B6F68"/>
                </a:solidFill>
                <a:latin typeface="Courier New"/>
              </a:rPr>
              <a:t># The settings params holds for this task. The only one we're concerned with for this</a:t>
            </a:r>
          </a:p>
          <a:p>
            <a:pPr algn="l">
              <a:lnSpc>
                <a:spcPct val="100000"/>
              </a:lnSpc>
              <a:spcAft>
                <a:spcPts val="0"/>
              </a:spcAft>
            </a:pPr>
            <a:r>
              <a:rPr sz="1200" b="0">
                <a:solidFill>
                  <a:srgbClr val="5B6F68"/>
                </a:solidFill>
                <a:latin typeface="Courier New"/>
              </a:rPr>
              <a:t># exercise is k, "beacon_gain". The rest are chosen for you to best display the</a:t>
            </a:r>
          </a:p>
          <a:p>
            <a:pPr algn="l">
              <a:lnSpc>
                <a:spcPct val="100000"/>
              </a:lnSpc>
              <a:spcAft>
                <a:spcPts val="0"/>
              </a:spcAft>
            </a:pPr>
            <a:r>
              <a:rPr sz="1200" b="0">
                <a:solidFill>
                  <a:srgbClr val="5B6F68"/>
                </a:solidFill>
                <a:latin typeface="Courier New"/>
              </a:rPr>
              <a:t># behaviour:</a:t>
            </a:r>
          </a:p>
          <a:p>
            <a:pPr algn="l">
              <a:lnSpc>
                <a:spcPct val="100000"/>
              </a:lnSpc>
              <a:spcAft>
                <a:spcPts val="0"/>
              </a:spcAft>
            </a:pPr>
            <a:r>
              <a:rPr sz="1200" b="0">
                <a:solidFill>
                  <a:srgbClr val="5B6F68"/>
                </a:solidFill>
                <a:latin typeface="Courier New"/>
              </a:rPr>
              <a:t>#   params["beacon_gain"]  k            how fast the noise grows away from the beacon</a:t>
            </a:r>
          </a:p>
          <a:p>
            <a:pPr algn="l">
              <a:lnSpc>
                <a:spcPct val="100000"/>
              </a:lnSpc>
              <a:spcAft>
                <a:spcPts val="0"/>
              </a:spcAft>
            </a:pPr>
            <a:r>
              <a:rPr sz="1200" b="0">
                <a:solidFill>
                  <a:srgbClr val="5B6F68"/>
                </a:solidFill>
                <a:latin typeface="Courier New"/>
              </a:rPr>
              <a:t>#   params["beacon_cap"]   4.0          the largest distance_squared that counts</a:t>
            </a:r>
          </a:p>
          <a:p>
            <a:pPr algn="l">
              <a:lnSpc>
                <a:spcPct val="100000"/>
              </a:lnSpc>
              <a:spcAft>
                <a:spcPts val="0"/>
              </a:spcAft>
            </a:pPr>
            <a:r>
              <a:rPr sz="1200" b="0">
                <a:solidFill>
                  <a:srgbClr val="5B6F68"/>
                </a:solidFill>
                <a:latin typeface="Courier New"/>
              </a:rPr>
              <a:t>#   params["beacon"]       (2.5, 1.4)   where the beacon is</a:t>
            </a:r>
          </a:p>
          <a:p>
            <a:pPr algn="l">
              <a:lnSpc>
                <a:spcPct val="100000"/>
              </a:lnSpc>
              <a:spcAft>
                <a:spcPts val="0"/>
              </a:spcAft>
            </a:pPr>
            <a:r>
              <a:rPr sz="1200" b="0">
                <a:solidFill>
                  <a:srgbClr val="5B6F68"/>
                </a:solidFill>
                <a:latin typeface="Courier New"/>
              </a:rPr>
              <a:t>#   params["noise_floor"]  0.05         the noise at the beacon itself</a:t>
            </a:r>
          </a:p>
          <a:p>
            <a:pPr algn="l">
              <a:lnSpc>
                <a:spcPct val="100000"/>
              </a:lnSpc>
              <a:spcAft>
                <a:spcPts val="0"/>
              </a:spcAft>
            </a:pPr>
            <a:r>
              <a:rPr sz="1200" b="0">
                <a:solidFill>
                  <a:srgbClr val="5B6F68"/>
                </a:solidFill>
                <a:latin typeface="Courier New"/>
              </a:rPr>
              <a:t># It also holds the blackout's settings, for task 3.</a:t>
            </a:r>
          </a:p>
          <a:p>
            <a:pPr algn="l">
              <a:lnSpc>
                <a:spcPct val="100000"/>
              </a:lnSpc>
              <a:spcAft>
                <a:spcPts val="0"/>
              </a:spcAft>
            </a:pPr>
            <a:r>
              <a:rPr sz="1200" b="0">
                <a:solidFill>
                  <a:srgbClr val="16241F"/>
                </a:solidFill>
                <a:latin typeface="Courier New"/>
              </a:rPr>
              <a:t> </a:t>
            </a:r>
          </a:p>
          <a:p>
            <a:pPr algn="l">
              <a:lnSpc>
                <a:spcPct val="100000"/>
              </a:lnSpc>
              <a:spcAft>
                <a:spcPts val="0"/>
              </a:spcAft>
            </a:pPr>
            <a:r>
              <a:rPr sz="1200" b="0">
                <a:solidFill>
                  <a:srgbClr val="16241F"/>
                </a:solidFill>
                <a:latin typeface="Courier New"/>
              </a:rPr>
              <a:t> </a:t>
            </a:r>
          </a:p>
          <a:p>
            <a:pPr algn="l">
              <a:lnSpc>
                <a:spcPct val="100000"/>
              </a:lnSpc>
              <a:spcAft>
                <a:spcPts val="0"/>
              </a:spcAft>
            </a:pPr>
            <a:r>
              <a:rPr sz="1200" b="0">
                <a:solidFill>
                  <a:srgbClr val="16241F"/>
                </a:solidFill>
                <a:latin typeface="Courier New"/>
              </a:rPr>
              <a:t>def my_sensor(x, params):</a:t>
            </a:r>
            <a:r>
              <a:rPr sz="1200" b="0">
                <a:solidFill>
                  <a:srgbClr val="5B6F68"/>
                </a:solidFill>
                <a:latin typeface="Courier New"/>
              </a:rPr>
              <a:t>  # the reading's noise at position x</a:t>
            </a:r>
          </a:p>
          <a:p>
            <a:pPr algn="l">
              <a:lnSpc>
                <a:spcPct val="100000"/>
              </a:lnSpc>
              <a:spcAft>
                <a:spcPts val="0"/>
              </a:spcAft>
            </a:pPr>
            <a:r>
              <a:rPr sz="1200" b="0">
                <a:solidFill>
                  <a:srgbClr val="16241F"/>
                </a:solidFill>
                <a:latin typeface="Courier New"/>
              </a:rPr>
              <a:t>    distance_squared = jnp.sum((x - params["beacon"]) ** 2)</a:t>
            </a:r>
          </a:p>
          <a:p>
            <a:pPr algn="l">
              <a:lnSpc>
                <a:spcPct val="100000"/>
              </a:lnSpc>
              <a:spcAft>
                <a:spcPts val="0"/>
              </a:spcAft>
            </a:pPr>
            <a:r>
              <a:rPr sz="1200" b="1">
                <a:solidFill>
                  <a:srgbClr val="8A6000"/>
                </a:solidFill>
                <a:latin typeface="Courier New"/>
              </a:rPr>
              <a:t>    pull = ...  # k times jnp.minimum(distance_squared, cap), read from params</a:t>
            </a:r>
          </a:p>
          <a:p>
            <a:pPr algn="l">
              <a:lnSpc>
                <a:spcPct val="100000"/>
              </a:lnSpc>
              <a:spcAft>
                <a:spcPts val="0"/>
              </a:spcAft>
            </a:pPr>
            <a:r>
              <a:rPr sz="1200" b="0">
                <a:solidFill>
                  <a:srgbClr val="16241F"/>
                </a:solidFill>
                <a:latin typeface="Courier New"/>
              </a:rPr>
              <a:t>    return jnp.eye(2) * (params["noise_floor"] + pull)</a:t>
            </a:r>
          </a:p>
          <a:p>
            <a:pPr algn="l">
              <a:lnSpc>
                <a:spcPct val="100000"/>
              </a:lnSpc>
              <a:spcAft>
                <a:spcPts val="0"/>
              </a:spcAft>
            </a:pPr>
            <a:r>
              <a:rPr sz="1200" b="0">
                <a:solidFill>
                  <a:srgbClr val="16241F"/>
                </a:solidFill>
                <a:latin typeface="Courier New"/>
              </a:rPr>
              <a:t> </a:t>
            </a:r>
          </a:p>
          <a:p>
            <a:pPr algn="l">
              <a:lnSpc>
                <a:spcPct val="100000"/>
              </a:lnSpc>
              <a:spcAft>
                <a:spcPts val="0"/>
              </a:spcAft>
            </a:pPr>
            <a:r>
              <a:rPr sz="1200" b="0">
                <a:solidFill>
                  <a:srgbClr val="16241F"/>
                </a:solidFill>
                <a:latin typeface="Courier New"/>
              </a:rPr>
              <a:t> </a:t>
            </a:r>
          </a:p>
          <a:p>
            <a:pPr algn="l">
              <a:lnSpc>
                <a:spcPct val="100000"/>
              </a:lnSpc>
            </a:pPr>
            <a:r>
              <a:rPr sz="1200" b="0">
                <a:solidFill>
                  <a:srgbClr val="16241F"/>
                </a:solidFill>
                <a:latin typeface="Courier New"/>
              </a:rPr>
              <a:t>check_my_sensor(my_sensor, params)</a:t>
            </a:r>
          </a:p>
        </p:txBody>
      </p:sp>
      <p:sp>
        <p:nvSpPr>
          <p:cNvPr id="5" name="text"/>
          <p:cNvSpPr txBox="1"/>
          <p:nvPr/>
        </p:nvSpPr>
        <p:spPr>
          <a:xfrm>
            <a:off x="548640" y="5204764"/>
            <a:ext cx="11094415" cy="418795"/>
          </a:xfrm>
          <a:prstGeom prst="rect">
            <a:avLst/>
          </a:prstGeom>
          <a:noFill/>
        </p:spPr>
        <p:txBody>
          <a:bodyPr wrap="square" lIns="0" rIns="0" tIns="0" bIns="0" anchor="t">
            <a:spAutoFit/>
          </a:bodyPr>
          <a:lstStyle/>
          <a:p>
            <a:pPr algn="l">
              <a:lnSpc>
                <a:spcPct val="100000"/>
              </a:lnSpc>
            </a:pPr>
            <a:r>
              <a:rPr sz="1800" b="0">
                <a:solidFill>
                  <a:srgbClr val="5B6F68"/>
                </a:solidFill>
                <a:latin typeface="Calibri"/>
              </a:rPr>
              <a:t>Below this, the cell builds a curious rocket on your sensor, flies it and plots its route.</a:t>
            </a:r>
          </a:p>
        </p:txBody>
      </p:sp>
      <p:sp>
        <p:nvSpPr>
          <p:cNvPr id="6" name="card"/>
          <p:cNvSpPr/>
          <p:nvPr/>
        </p:nvSpPr>
        <p:spPr>
          <a:xfrm>
            <a:off x="548640" y="5669280"/>
            <a:ext cx="3200400"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pPr>
            <a:r>
              <a:rPr sz="1700" b="1">
                <a:solidFill>
                  <a:srgbClr val="8A6000"/>
                </a:solidFill>
                <a:latin typeface="Calibri"/>
              </a:rPr>
              <a:t>Write the two amber lines</a:t>
            </a:r>
          </a:p>
        </p:txBody>
      </p:sp>
      <p:sp>
        <p:nvSpPr>
          <p:cNvPr id="7" name="card"/>
          <p:cNvSpPr/>
          <p:nvPr/>
        </p:nvSpPr>
        <p:spPr>
          <a:xfrm>
            <a:off x="4023359" y="5669280"/>
            <a:ext cx="3383280"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pPr>
            <a:r>
              <a:rPr sz="1700" b="0">
                <a:solidFill>
                  <a:srgbClr val="16241F"/>
                </a:solidFill>
                <a:latin typeface="Calibri"/>
              </a:rPr>
              <a:t>Hints are below the cell</a:t>
            </a:r>
          </a:p>
        </p:txBody>
      </p:sp>
      <p:sp>
        <p:nvSpPr>
          <p:cNvPr id="8" name="card"/>
          <p:cNvSpPr/>
          <p:nvPr/>
        </p:nvSpPr>
        <p:spPr>
          <a:xfrm>
            <a:off x="7680959" y="5669280"/>
            <a:ext cx="3962095" cy="685800"/>
          </a:xfrm>
          <a:prstGeom prst="roundRect">
            <a:avLst>
              <a:gd name="adj" fmla="val 8000"/>
            </a:avLst>
          </a:prstGeom>
          <a:solidFill>
            <a:srgbClr val="FFFFFF"/>
          </a:solidFill>
          <a:ln w="12700">
            <a:solidFill>
              <a:srgbClr val="E69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pPr>
            <a:r>
              <a:rPr sz="1700" b="0">
                <a:solidFill>
                  <a:srgbClr val="5B6F68"/>
                </a:solidFill>
                <a:latin typeface="Calibri"/>
              </a:rPr>
              <a:t>Paste in chat  </a:t>
            </a:r>
            <a:r>
              <a:rPr sz="1700" b="0">
                <a:solidFill>
                  <a:srgbClr val="16241F"/>
                </a:solidFill>
                <a:latin typeface="Courier New"/>
              </a:rPr>
              <a:t>your 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Task 2 · Over to you</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2</a:t>
            </a:r>
          </a:p>
        </p:txBody>
      </p:sp>
      <p:sp>
        <p:nvSpPr>
          <p:cNvPr id="4" name="text"/>
          <p:cNvSpPr txBox="1"/>
          <p:nvPr/>
        </p:nvSpPr>
        <p:spPr>
          <a:xfrm>
            <a:off x="548640" y="1417320"/>
            <a:ext cx="11094415" cy="2286000"/>
          </a:xfrm>
          <a:prstGeom prst="rect">
            <a:avLst/>
          </a:prstGeom>
          <a:noFill/>
        </p:spPr>
        <p:txBody>
          <a:bodyPr wrap="square" lIns="0" rIns="0" tIns="0" bIns="0" anchor="t">
            <a:spAutoFit/>
          </a:bodyPr>
          <a:lstStyle/>
          <a:p>
            <a:pPr algn="l">
              <a:lnSpc>
                <a:spcPct val="100000"/>
              </a:lnSpc>
              <a:spcAft>
                <a:spcPts val="1400"/>
              </a:spcAft>
            </a:pPr>
            <a:r>
              <a:rPr sz="2400" b="1">
                <a:solidFill>
                  <a:srgbClr val="8A6000"/>
                </a:solidFill>
                <a:latin typeface="Calibri"/>
              </a:rPr>
              <a:t>1   </a:t>
            </a:r>
            <a:r>
              <a:rPr sz="2400" b="0">
                <a:solidFill>
                  <a:srgbClr val="16241F"/>
                </a:solidFill>
                <a:latin typeface="Calibri"/>
              </a:rPr>
              <a:t>Write the two amber lines. Start with k = 0.08.</a:t>
            </a:r>
          </a:p>
          <a:p>
            <a:pPr algn="l">
              <a:lnSpc>
                <a:spcPct val="100000"/>
              </a:lnSpc>
              <a:spcAft>
                <a:spcPts val="1400"/>
              </a:spcAft>
            </a:pPr>
            <a:r>
              <a:rPr sz="2400" b="1">
                <a:solidFill>
                  <a:srgbClr val="8A6000"/>
                </a:solidFill>
                <a:latin typeface="Calibri"/>
              </a:rPr>
              <a:t>2   </a:t>
            </a:r>
            <a:r>
              <a:rPr sz="2400" b="0">
                <a:solidFill>
                  <a:srgbClr val="16241F"/>
                </a:solidFill>
                <a:latin typeface="Calibri"/>
              </a:rPr>
              <a:t>Raise k until the route changes. Paste your k in the chat.</a:t>
            </a:r>
          </a:p>
          <a:p>
            <a:pPr algn="l">
              <a:lnSpc>
                <a:spcPct val="100000"/>
              </a:lnSpc>
            </a:pPr>
            <a:r>
              <a:rPr sz="2400" b="1">
                <a:solidFill>
                  <a:srgbClr val="8A6000"/>
                </a:solidFill>
                <a:latin typeface="Calibri"/>
              </a:rPr>
              <a:t>3   </a:t>
            </a:r>
            <a:r>
              <a:rPr sz="2400" b="0">
                <a:solidFill>
                  <a:srgbClr val="16241F"/>
                </a:solidFill>
                <a:latin typeface="Calibri"/>
              </a:rPr>
              <a:t>Finished early? Try the two bonuses.</a:t>
            </a:r>
          </a:p>
        </p:txBody>
      </p:sp>
      <p:sp>
        <p:nvSpPr>
          <p:cNvPr id="5" name="track"/>
          <p:cNvSpPr/>
          <p:nvPr/>
        </p:nvSpPr>
        <p:spPr>
          <a:xfrm>
            <a:off x="548640" y="3931920"/>
            <a:ext cx="11094415" cy="640080"/>
          </a:xfrm>
          <a:prstGeom prst="roundRect">
            <a:avLst>
              <a:gd name="adj" fmla="val 50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ctr"/>
          </a:p>
        </p:txBody>
      </p:sp>
      <p:sp>
        <p:nvSpPr>
          <p:cNvPr id="6" name="bar"/>
          <p:cNvSpPr/>
          <p:nvPr/>
        </p:nvSpPr>
        <p:spPr>
          <a:xfrm>
            <a:off x="603503" y="3986783"/>
            <a:ext cx="10984687" cy="530352"/>
          </a:xfrm>
          <a:prstGeom prst="roundRect">
            <a:avLst>
              <a:gd name="adj" fmla="val 50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548640" y="4709159"/>
            <a:ext cx="1097280" cy="411480"/>
          </a:xfrm>
          <a:prstGeom prst="rect">
            <a:avLst/>
          </a:prstGeom>
          <a:noFill/>
        </p:spPr>
        <p:txBody>
          <a:bodyPr wrap="square" lIns="0" rIns="0" tIns="0" bIns="0" anchor="t">
            <a:spAutoFit/>
          </a:bodyPr>
          <a:lstStyle/>
          <a:p>
            <a:pPr algn="l">
              <a:lnSpc>
                <a:spcPct val="100000"/>
              </a:lnSpc>
            </a:pPr>
            <a:r>
              <a:rPr sz="1600" b="0">
                <a:solidFill>
                  <a:srgbClr val="5B6F68"/>
                </a:solidFill>
                <a:latin typeface="Calibri"/>
              </a:rPr>
              <a:t>0</a:t>
            </a:r>
          </a:p>
        </p:txBody>
      </p:sp>
      <p:sp>
        <p:nvSpPr>
          <p:cNvPr id="8" name="text"/>
          <p:cNvSpPr txBox="1"/>
          <p:nvPr/>
        </p:nvSpPr>
        <p:spPr>
          <a:xfrm>
            <a:off x="3698138" y="4709159"/>
            <a:ext cx="1097280" cy="411480"/>
          </a:xfrm>
          <a:prstGeom prst="rect">
            <a:avLst/>
          </a:prstGeom>
          <a:noFill/>
        </p:spPr>
        <p:txBody>
          <a:bodyPr wrap="square" lIns="0" rIns="0" tIns="0" bIns="0" anchor="t">
            <a:spAutoFit/>
          </a:bodyPr>
          <a:lstStyle/>
          <a:p>
            <a:pPr algn="ctr">
              <a:lnSpc>
                <a:spcPct val="100000"/>
              </a:lnSpc>
            </a:pPr>
            <a:r>
              <a:rPr sz="1600" b="0">
                <a:solidFill>
                  <a:srgbClr val="5B6F68"/>
                </a:solidFill>
                <a:latin typeface="Calibri"/>
              </a:rPr>
              <a:t>5</a:t>
            </a:r>
          </a:p>
        </p:txBody>
      </p:sp>
      <p:sp>
        <p:nvSpPr>
          <p:cNvPr id="9" name="text"/>
          <p:cNvSpPr txBox="1"/>
          <p:nvPr/>
        </p:nvSpPr>
        <p:spPr>
          <a:xfrm>
            <a:off x="7396276" y="4709159"/>
            <a:ext cx="1097280" cy="411480"/>
          </a:xfrm>
          <a:prstGeom prst="rect">
            <a:avLst/>
          </a:prstGeom>
          <a:noFill/>
        </p:spPr>
        <p:txBody>
          <a:bodyPr wrap="square" lIns="0" rIns="0" tIns="0" bIns="0" anchor="t">
            <a:spAutoFit/>
          </a:bodyPr>
          <a:lstStyle/>
          <a:p>
            <a:pPr algn="ctr">
              <a:lnSpc>
                <a:spcPct val="100000"/>
              </a:lnSpc>
            </a:pPr>
            <a:r>
              <a:rPr sz="1600" b="0">
                <a:solidFill>
                  <a:srgbClr val="5B6F68"/>
                </a:solidFill>
                <a:latin typeface="Calibri"/>
              </a:rPr>
              <a:t>10</a:t>
            </a:r>
          </a:p>
        </p:txBody>
      </p:sp>
      <p:sp>
        <p:nvSpPr>
          <p:cNvPr id="10" name="text"/>
          <p:cNvSpPr txBox="1"/>
          <p:nvPr/>
        </p:nvSpPr>
        <p:spPr>
          <a:xfrm>
            <a:off x="10545775" y="4709159"/>
            <a:ext cx="1097280" cy="411480"/>
          </a:xfrm>
          <a:prstGeom prst="rect">
            <a:avLst/>
          </a:prstGeom>
          <a:noFill/>
        </p:spPr>
        <p:txBody>
          <a:bodyPr wrap="square" lIns="0" rIns="0" tIns="0" bIns="0" anchor="t">
            <a:spAutoFit/>
          </a:bodyPr>
          <a:lstStyle/>
          <a:p>
            <a:pPr algn="r">
              <a:lnSpc>
                <a:spcPct val="100000"/>
              </a:lnSpc>
            </a:pPr>
            <a:r>
              <a:rPr sz="1600" b="0">
                <a:solidFill>
                  <a:srgbClr val="5B6F68"/>
                </a:solidFill>
                <a:latin typeface="Calibri"/>
              </a:rPr>
              <a:t>15 min</a:t>
            </a:r>
          </a:p>
        </p:txBody>
      </p:sp>
      <p:sp>
        <p:nvSpPr>
          <p:cNvPr id="11" name="text"/>
          <p:cNvSpPr txBox="1"/>
          <p:nvPr/>
        </p:nvSpPr>
        <p:spPr>
          <a:xfrm>
            <a:off x="548640" y="5303520"/>
            <a:ext cx="11094415" cy="548640"/>
          </a:xfrm>
          <a:prstGeom prst="rect">
            <a:avLst/>
          </a:prstGeom>
          <a:noFill/>
        </p:spPr>
        <p:txBody>
          <a:bodyPr wrap="square" lIns="0" rIns="0" tIns="0" bIns="0" anchor="t">
            <a:spAutoFit/>
          </a:bodyPr>
          <a:lstStyle/>
          <a:p>
            <a:pPr algn="l">
              <a:lnSpc>
                <a:spcPct val="100000"/>
              </a:lnSpc>
            </a:pPr>
            <a:r>
              <a:rPr sz="2200" b="1">
                <a:solidFill>
                  <a:srgbClr val="8A6000"/>
                </a:solidFill>
                <a:latin typeface="Calibri"/>
              </a:rPr>
              <a:t>Time's up. </a:t>
            </a:r>
            <a:r>
              <a:rPr sz="2200" b="1">
                <a:solidFill>
                  <a:srgbClr val="16241F"/>
                </a:solidFill>
                <a:latin typeface="Calibri"/>
              </a:rPr>
              <a:t>Run checkpoint 2, even if everything worked.</a:t>
            </a:r>
          </a:p>
        </p:txBody>
      </p:sp>
      <p:sp>
        <p:nvSpPr>
          <p:cNvPr id="12" name="text"/>
          <p:cNvSpPr txBox="1"/>
          <p:nvPr/>
        </p:nvSpPr>
        <p:spPr>
          <a:xfrm>
            <a:off x="548640" y="5989320"/>
            <a:ext cx="11094415" cy="411480"/>
          </a:xfrm>
          <a:prstGeom prst="rect">
            <a:avLst/>
          </a:prstGeom>
          <a:noFill/>
        </p:spPr>
        <p:txBody>
          <a:bodyPr wrap="square" lIns="0" rIns="0" tIns="0" bIns="0" anchor="t">
            <a:spAutoFit/>
          </a:bodyPr>
          <a:lstStyle/>
          <a:p>
            <a:pPr algn="l">
              <a:lnSpc>
                <a:spcPct val="100000"/>
              </a:lnSpc>
            </a:pPr>
            <a:r>
              <a:rPr sz="1600" b="0">
                <a:solidFill>
                  <a:srgbClr val="5B6F68"/>
                </a:solidFill>
                <a:latin typeface="Calibri"/>
              </a:rPr>
              <a:t>Stuck on an error?  </a:t>
            </a:r>
            <a:r>
              <a:rPr sz="1600" b="0">
                <a:solidFill>
                  <a:srgbClr val="5B6F68"/>
                </a:solidFill>
                <a:latin typeface="Courier New"/>
              </a:rPr>
              <a:t>workshop.symptoms()</a:t>
            </a:r>
            <a:r>
              <a:rPr sz="1600" b="0">
                <a:solidFill>
                  <a:srgbClr val="5B6F68"/>
                </a:solidFill>
                <a:latin typeface="Calibri"/>
              </a:rPr>
              <a:t>  lists the five most common, with their fixes.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 fill="hold">
                            <p:stCondLst>
                              <p:cond delay="0"/>
                            </p:stCondLst>
                            <p:childTnLst>
                              <p:par>
                                <p:cTn id="6" presetID="22" presetClass="entr" presetSubtype="8" fill="hold" grpId="0" nodeType="after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wipe(left)">
                                      <p:cBhvr>
                                        <p:cTn id="4" dur="900000"/>
                                        <p:tgtEl>
                                          <p:spTgt spid="6"/>
                                        </p:tgtEl>
                                      </p:cBhvr>
                                    </p:animEffect>
                                  </p:childTnLst>
                                </p:cTn>
                              </p:par>
                            </p:childTnLst>
                          </p:cTn>
                        </p:par>
                        <p:par>
                          <p:cTn id="8" fill="hold">
                            <p:stCondLst>
                              <p:cond delay="900000"/>
                            </p:stCondLst>
                            <p:childTnLst>
                              <p:par>
                                <p:cTn id="9" presetID="1"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The beacon bends the route</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2</a:t>
            </a:r>
          </a:p>
        </p:txBody>
      </p:sp>
      <p:pic>
        <p:nvPicPr>
          <p:cNvPr id="4" name="picture route_2_beacon.png" descr="route_2_beacon.png"/>
          <p:cNvPicPr>
            <a:picLocks noChangeAspect="1"/>
          </p:cNvPicPr>
          <p:nvPr/>
        </p:nvPicPr>
        <p:blipFill>
          <a:blip r:embed="rId2"/>
          <a:stretch>
            <a:fillRect/>
          </a:stretch>
        </p:blipFill>
        <p:spPr>
          <a:xfrm>
            <a:off x="548640" y="1280160"/>
            <a:ext cx="7680960" cy="4071706"/>
          </a:xfrm>
          <a:prstGeom prst="rect">
            <a:avLst/>
          </a:prstGeom>
        </p:spPr>
      </p:pic>
      <p:sp>
        <p:nvSpPr>
          <p:cNvPr id="5" name="printed"/>
          <p:cNvSpPr/>
          <p:nvPr/>
        </p:nvSpPr>
        <p:spPr>
          <a:xfrm>
            <a:off x="548640" y="5468112"/>
            <a:ext cx="7680960" cy="88696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pPr>
            <a:r>
              <a:rPr sz="1100" b="0">
                <a:solidFill>
                  <a:srgbClr val="16241F"/>
                </a:solidFill>
                <a:latin typeface="Courier New"/>
              </a:rPr>
              <a:t>The rocket bends 1.41 off the straight line and lands 0.24 from the pad. It matches the workshop's beacon_sensor.</a:t>
            </a:r>
          </a:p>
        </p:txBody>
      </p:sp>
      <p:sp>
        <p:nvSpPr>
          <p:cNvPr id="6" name="card"/>
          <p:cNvSpPr/>
          <p:nvPr/>
        </p:nvSpPr>
        <p:spPr>
          <a:xfrm>
            <a:off x="8503920" y="1325880"/>
            <a:ext cx="3139135" cy="2697480"/>
          </a:xfrm>
          <a:prstGeom prst="roundRect">
            <a:avLst>
              <a:gd name="adj" fmla="val 406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spcAft>
                <a:spcPts val="600"/>
              </a:spcAft>
            </a:pPr>
            <a:r>
              <a:rPr sz="1700" b="0">
                <a:solidFill>
                  <a:srgbClr val="5B6F68"/>
                </a:solidFill>
                <a:latin typeface="Calibri"/>
              </a:rPr>
              <a:t>k = 0.40</a:t>
            </a:r>
          </a:p>
          <a:p>
            <a:pPr algn="l">
              <a:lnSpc>
                <a:spcPct val="100000"/>
              </a:lnSpc>
              <a:spcAft>
                <a:spcPts val="600"/>
              </a:spcAft>
            </a:pPr>
            <a:r>
              <a:rPr sz="6000" b="1">
                <a:solidFill>
                  <a:srgbClr val="8A6000"/>
                </a:solidFill>
                <a:latin typeface="Calibri"/>
              </a:rPr>
              <a:t>1.41</a:t>
            </a:r>
          </a:p>
          <a:p>
            <a:pPr algn="l">
              <a:lnSpc>
                <a:spcPct val="100000"/>
              </a:lnSpc>
            </a:pPr>
            <a:r>
              <a:rPr sz="1700" b="0">
                <a:solidFill>
                  <a:srgbClr val="16241F"/>
                </a:solidFill>
                <a:latin typeface="Calibri"/>
              </a:rPr>
              <a:t>off the straight line. It lands 0.24 from the pad.</a:t>
            </a:r>
          </a:p>
        </p:txBody>
      </p:sp>
      <p:sp>
        <p:nvSpPr>
          <p:cNvPr id="7" name="card"/>
          <p:cNvSpPr/>
          <p:nvPr/>
        </p:nvSpPr>
        <p:spPr>
          <a:xfrm>
            <a:off x="8503920" y="4251960"/>
            <a:ext cx="3139135" cy="960120"/>
          </a:xfrm>
          <a:prstGeom prst="roundRect">
            <a:avLst>
              <a:gd name="adj" fmla="val 8000"/>
            </a:avLst>
          </a:prstGeom>
          <a:solidFill>
            <a:srgbClr val="FFFFFF"/>
          </a:solidFill>
          <a:ln w="12700">
            <a:solidFill>
              <a:srgbClr val="E69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spcAft>
                <a:spcPts val="200"/>
              </a:spcAft>
            </a:pPr>
            <a:r>
              <a:rPr sz="1700" b="0">
                <a:solidFill>
                  <a:srgbClr val="5B6F68"/>
                </a:solidFill>
                <a:latin typeface="Calibri"/>
              </a:rPr>
              <a:t>Paste in chat</a:t>
            </a:r>
          </a:p>
          <a:p>
            <a:pPr algn="l">
              <a:lnSpc>
                <a:spcPct val="100000"/>
              </a:lnSpc>
            </a:pPr>
            <a:r>
              <a:rPr sz="1700" b="0">
                <a:solidFill>
                  <a:srgbClr val="16241F"/>
                </a:solidFill>
                <a:latin typeface="Courier New"/>
              </a:rPr>
              <a:t>your k</a:t>
            </a:r>
          </a:p>
        </p:txBody>
      </p:sp>
      <p:sp>
        <p:nvSpPr>
          <p:cNvPr id="8" name="pill"/>
          <p:cNvSpPr/>
          <p:nvPr/>
        </p:nvSpPr>
        <p:spPr>
          <a:xfrm>
            <a:off x="8503920" y="5468112"/>
            <a:ext cx="3139135" cy="502920"/>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600" b="0">
                <a:solidFill>
                  <a:srgbClr val="8A6000"/>
                </a:solidFill>
                <a:latin typeface="Calibri"/>
              </a:rPr>
              <a:t>Poll 2 · 60 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What steers the route</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2</a:t>
            </a:r>
          </a:p>
        </p:txBody>
      </p:sp>
      <p:sp>
        <p:nvSpPr>
          <p:cNvPr id="4" name="card"/>
          <p:cNvSpPr/>
          <p:nvPr/>
        </p:nvSpPr>
        <p:spPr>
          <a:xfrm>
            <a:off x="548640" y="1325880"/>
            <a:ext cx="11094415" cy="1645920"/>
          </a:xfrm>
          <a:prstGeom prst="roundRect">
            <a:avLst>
              <a:gd name="adj" fmla="val 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spcAft>
                <a:spcPts val="600"/>
              </a:spcAft>
            </a:pPr>
            <a:r>
              <a:rPr sz="2000" b="0">
                <a:solidFill>
                  <a:srgbClr val="5B6F68"/>
                </a:solidFill>
                <a:latin typeface="Calibri"/>
              </a:rPr>
              <a:t>the expected miss from “on the pad”</a:t>
            </a:r>
          </a:p>
          <a:p>
            <a:pPr algn="l">
              <a:lnSpc>
                <a:spcPct val="100000"/>
              </a:lnSpc>
              <a:spcAft>
                <a:spcPts val="600"/>
              </a:spcAft>
            </a:pPr>
            <a:r>
              <a:rPr sz="2400" b="0">
                <a:solidFill>
                  <a:srgbClr val="16241F"/>
                </a:solidFill>
                <a:latin typeface="Cambria"/>
              </a:rPr>
              <a:t>½ (o⁺ − o*)ᵀ Λ (o⁺ − o*)  +  ½ tr(Λ S)</a:t>
            </a:r>
          </a:p>
          <a:p>
            <a:pPr algn="l">
              <a:lnSpc>
                <a:spcPct val="100000"/>
              </a:lnSpc>
            </a:pPr>
            <a:r>
              <a:rPr sz="2000" b="0">
                <a:solidFill>
                  <a:srgbClr val="16241F"/>
                </a:solidFill>
                <a:latin typeface="Cambria"/>
              </a:rPr>
              <a:t>S = C Σ⁺ Cᵀ + </a:t>
            </a:r>
            <a:r>
              <a:rPr sz="2000" b="1">
                <a:solidFill>
                  <a:srgbClr val="8A6000"/>
                </a:solidFill>
                <a:latin typeface="Cambria"/>
              </a:rPr>
              <a:t>R(μ⁺)</a:t>
            </a:r>
            <a:r>
              <a:rPr sz="1700" b="0">
                <a:solidFill>
                  <a:srgbClr val="5B6F68"/>
                </a:solidFill>
                <a:latin typeface="Calibri"/>
              </a:rPr>
              <a:t>    the sensor's own noise, where the move is expected to land</a:t>
            </a:r>
          </a:p>
        </p:txBody>
      </p:sp>
      <p:sp>
        <p:nvSpPr>
          <p:cNvPr id="5" name="text"/>
          <p:cNvSpPr txBox="1"/>
          <p:nvPr/>
        </p:nvSpPr>
        <p:spPr>
          <a:xfrm>
            <a:off x="548640" y="3246120"/>
            <a:ext cx="11094415" cy="2194560"/>
          </a:xfrm>
          <a:prstGeom prst="rect">
            <a:avLst/>
          </a:prstGeom>
          <a:noFill/>
        </p:spPr>
        <p:txBody>
          <a:bodyPr wrap="square" lIns="0" rIns="0" tIns="0" bIns="0" anchor="t">
            <a:spAutoFit/>
          </a:bodyPr>
          <a:lstStyle/>
          <a:p>
            <a:pPr algn="l">
              <a:lnSpc>
                <a:spcPct val="100000"/>
              </a:lnSpc>
              <a:spcAft>
                <a:spcPts val="1200"/>
              </a:spcAft>
            </a:pPr>
            <a:r>
              <a:rPr sz="1900" b="0">
                <a:solidFill>
                  <a:srgbClr val="16241F"/>
                </a:solidFill>
                <a:latin typeface="Calibri"/>
              </a:rPr>
              <a:t>At each step the rocket scores the nine moves. The first part of each score is how far its reading is expected to land from “on the pad”.</a:t>
            </a:r>
          </a:p>
          <a:p>
            <a:pPr algn="l">
              <a:lnSpc>
                <a:spcPct val="100000"/>
              </a:lnSpc>
              <a:spcAft>
                <a:spcPts val="1200"/>
              </a:spcAft>
            </a:pPr>
            <a:r>
              <a:rPr sz="1900" b="0">
                <a:solidFill>
                  <a:srgbClr val="16241F"/>
                </a:solidFill>
                <a:latin typeface="Calibri"/>
              </a:rPr>
              <a:t>That expectation includes the sensor's own noise. Where the noise is large, even a reading taken on the pad lands far from it on average, so moves towards the beacon score better.</a:t>
            </a:r>
          </a:p>
          <a:p>
            <a:pPr algn="l">
              <a:lnSpc>
                <a:spcPct val="100000"/>
              </a:lnSpc>
            </a:pPr>
            <a:r>
              <a:rPr sz="1900" b="0">
                <a:solidFill>
                  <a:srgbClr val="16241F"/>
                </a:solidFill>
                <a:latin typeface="Calibri"/>
              </a:rPr>
              <a:t>It takes a sensor whose noise depends on position. The 1960 rocket's never does.</a:t>
            </a:r>
          </a:p>
        </p:txBody>
      </p:sp>
      <p:sp>
        <p:nvSpPr>
          <p:cNvPr id="6" name="text"/>
          <p:cNvSpPr txBox="1"/>
          <p:nvPr/>
        </p:nvSpPr>
        <p:spPr>
          <a:xfrm>
            <a:off x="548640" y="5577840"/>
            <a:ext cx="11094415" cy="685800"/>
          </a:xfrm>
          <a:prstGeom prst="rect">
            <a:avLst/>
          </a:prstGeom>
          <a:noFill/>
        </p:spPr>
        <p:txBody>
          <a:bodyPr wrap="square" lIns="0" rIns="0" tIns="0" bIns="0" anchor="t">
            <a:spAutoFit/>
          </a:bodyPr>
          <a:lstStyle/>
          <a:p>
            <a:pPr algn="l">
              <a:lnSpc>
                <a:spcPct val="100000"/>
              </a:lnSpc>
            </a:pPr>
            <a:r>
              <a:rPr sz="1700" b="0">
                <a:solidFill>
                  <a:srgbClr val="5B6F68"/>
                </a:solidFill>
                <a:latin typeface="Calibri"/>
              </a:rPr>
              <a:t>At k = 0.6 the rocket stops short of the pad, however many moves ahead it looks.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What happens when observations become unreliable?</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3</a:t>
            </a:r>
          </a:p>
        </p:txBody>
      </p:sp>
      <p:sp>
        <p:nvSpPr>
          <p:cNvPr id="4" name="card"/>
          <p:cNvSpPr/>
          <p:nvPr/>
        </p:nvSpPr>
        <p:spPr>
          <a:xfrm>
            <a:off x="548640" y="1325880"/>
            <a:ext cx="3515258" cy="2194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800" b="1">
                <a:solidFill>
                  <a:srgbClr val="16241F"/>
                </a:solidFill>
                <a:latin typeface="Calibri"/>
              </a:rPr>
              <a:t>The beacon</a:t>
            </a:r>
          </a:p>
          <a:p>
            <a:pPr algn="l">
              <a:lnSpc>
                <a:spcPct val="100000"/>
              </a:lnSpc>
            </a:pPr>
            <a:r>
              <a:rPr sz="1800" b="0">
                <a:solidFill>
                  <a:srgbClr val="16241F"/>
                </a:solidFill>
                <a:latin typeface="Calibri"/>
              </a:rPr>
              <a:t>Observations become more reliable as the rocket approaches the beacon.</a:t>
            </a:r>
          </a:p>
        </p:txBody>
      </p:sp>
      <p:sp>
        <p:nvSpPr>
          <p:cNvPr id="5" name="card"/>
          <p:cNvSpPr/>
          <p:nvPr/>
        </p:nvSpPr>
        <p:spPr>
          <a:xfrm>
            <a:off x="4338218" y="1325880"/>
            <a:ext cx="3515258" cy="2194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800" b="1">
                <a:solidFill>
                  <a:srgbClr val="005F94"/>
                </a:solidFill>
                <a:latin typeface="Calibri"/>
              </a:rPr>
              <a:t>The blackout</a:t>
            </a:r>
          </a:p>
          <a:p>
            <a:pPr algn="l">
              <a:lnSpc>
                <a:spcPct val="100000"/>
              </a:lnSpc>
            </a:pPr>
            <a:r>
              <a:rPr sz="1800" b="0">
                <a:solidFill>
                  <a:srgbClr val="16241F"/>
                </a:solidFill>
                <a:latin typeface="Calibri"/>
              </a:rPr>
              <a:t>Observations become increasingly noisy towards the centre of the blackout.</a:t>
            </a:r>
          </a:p>
        </p:txBody>
      </p:sp>
      <p:sp>
        <p:nvSpPr>
          <p:cNvPr id="6" name="card"/>
          <p:cNvSpPr/>
          <p:nvPr/>
        </p:nvSpPr>
        <p:spPr>
          <a:xfrm>
            <a:off x="8127796" y="1325880"/>
            <a:ext cx="3515258" cy="2194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800" b="1">
                <a:solidFill>
                  <a:srgbClr val="16241F"/>
                </a:solidFill>
                <a:latin typeface="Calibri"/>
              </a:rPr>
              <a:t>A rock</a:t>
            </a:r>
          </a:p>
          <a:p>
            <a:pPr algn="l">
              <a:lnSpc>
                <a:spcPct val="100000"/>
              </a:lnSpc>
            </a:pPr>
            <a:r>
              <a:rPr sz="1800" b="0">
                <a:solidFill>
                  <a:srgbClr val="16241F"/>
                </a:solidFill>
                <a:latin typeface="Calibri"/>
              </a:rPr>
              <a:t>There's a rock inside the blackout, but none of the rockets has any representation of it in its model.</a:t>
            </a:r>
          </a:p>
        </p:txBody>
      </p:sp>
      <p:sp>
        <p:nvSpPr>
          <p:cNvPr id="7" name="text"/>
          <p:cNvSpPr txBox="1"/>
          <p:nvPr/>
        </p:nvSpPr>
        <p:spPr>
          <a:xfrm>
            <a:off x="548640" y="3840480"/>
            <a:ext cx="11094415" cy="868680"/>
          </a:xfrm>
          <a:prstGeom prst="rect">
            <a:avLst/>
          </a:prstGeom>
          <a:noFill/>
        </p:spPr>
        <p:txBody>
          <a:bodyPr wrap="square" lIns="0" rIns="0" tIns="0" bIns="0" anchor="t">
            <a:spAutoFit/>
          </a:bodyPr>
          <a:lstStyle/>
          <a:p>
            <a:pPr algn="l">
              <a:lnSpc>
                <a:spcPct val="100000"/>
              </a:lnSpc>
            </a:pPr>
            <a:r>
              <a:rPr sz="2200" b="1">
                <a:solidFill>
                  <a:srgbClr val="8A6000"/>
                </a:solidFill>
                <a:latin typeface="Calibri"/>
              </a:rPr>
              <a:t>How might the rockets respond, and what can their routes tell us about their behaviour?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Task 3 · Two lines to write</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3</a:t>
            </a:r>
          </a:p>
        </p:txBody>
      </p:sp>
      <p:sp>
        <p:nvSpPr>
          <p:cNvPr id="4" name="code"/>
          <p:cNvSpPr/>
          <p:nvPr/>
        </p:nvSpPr>
        <p:spPr>
          <a:xfrm>
            <a:off x="548640" y="1325880"/>
            <a:ext cx="11094415" cy="2827324"/>
          </a:xfrm>
          <a:prstGeom prst="roundRect">
            <a:avLst>
              <a:gd name="adj" fmla="val 388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t" wrap="none" lIns="164592" rIns="164592" tIns="115214" bIns="115214"/>
          <a:lstStyle/>
          <a:p>
            <a:pPr algn="l">
              <a:lnSpc>
                <a:spcPct val="100000"/>
              </a:lnSpc>
              <a:spcAft>
                <a:spcPts val="0"/>
              </a:spcAft>
            </a:pPr>
            <a:r>
              <a:rPr sz="1400" b="0">
                <a:solidFill>
                  <a:srgbClr val="16241F"/>
                </a:solidFill>
                <a:latin typeface="Courier New"/>
              </a:rPr>
              <a:t>def my_world(x, params):</a:t>
            </a:r>
          </a:p>
          <a:p>
            <a:pPr algn="l">
              <a:lnSpc>
                <a:spcPct val="100000"/>
              </a:lnSpc>
              <a:spcAft>
                <a:spcPts val="0"/>
              </a:spcAft>
            </a:pPr>
            <a:r>
              <a:rPr sz="1400" b="0">
                <a:solidFill>
                  <a:srgbClr val="16241F"/>
                </a:solidFill>
                <a:latin typeface="Courier New"/>
              </a:rPr>
              <a:t>    height, width = params["blackout_gain"], params["blackout_width"]</a:t>
            </a:r>
          </a:p>
          <a:p>
            <a:pPr algn="l">
              <a:lnSpc>
                <a:spcPct val="100000"/>
              </a:lnSpc>
              <a:spcAft>
                <a:spcPts val="0"/>
              </a:spcAft>
            </a:pPr>
            <a:r>
              <a:rPr sz="1400" b="0">
                <a:solidFill>
                  <a:srgbClr val="16241F"/>
                </a:solidFill>
                <a:latin typeface="Courier New"/>
              </a:rPr>
              <a:t>    from_blackout = jnp.sum((x - params["blackout"]) ** 2)</a:t>
            </a:r>
          </a:p>
          <a:p>
            <a:pPr algn="l">
              <a:lnSpc>
                <a:spcPct val="100000"/>
              </a:lnSpc>
              <a:spcAft>
                <a:spcPts val="0"/>
              </a:spcAft>
            </a:pPr>
            <a:r>
              <a:rPr sz="1400" b="1">
                <a:solidFill>
                  <a:srgbClr val="8A6000"/>
                </a:solidFill>
                <a:latin typeface="Courier New"/>
              </a:rPr>
              <a:t>    blindness = ...  # height times jnp.exp of minus from_blackout over width</a:t>
            </a:r>
          </a:p>
          <a:p>
            <a:pPr algn="l">
              <a:lnSpc>
                <a:spcPct val="100000"/>
              </a:lnSpc>
              <a:spcAft>
                <a:spcPts val="0"/>
              </a:spcAft>
            </a:pPr>
            <a:r>
              <a:rPr sz="1400" b="0">
                <a:solidFill>
                  <a:srgbClr val="16241F"/>
                </a:solidFill>
                <a:latin typeface="Courier New"/>
              </a:rPr>
              <a:t>    return my_sensor(x, params) + jnp.eye(2) * blindness</a:t>
            </a:r>
          </a:p>
          <a:p>
            <a:pPr algn="l">
              <a:lnSpc>
                <a:spcPct val="100000"/>
              </a:lnSpc>
              <a:spcAft>
                <a:spcPts val="0"/>
              </a:spcAft>
            </a:pPr>
            <a:r>
              <a:rPr sz="1400" b="0">
                <a:solidFill>
                  <a:srgbClr val="16241F"/>
                </a:solidFill>
                <a:latin typeface="Courier New"/>
              </a:rPr>
              <a:t> </a:t>
            </a:r>
          </a:p>
          <a:p>
            <a:pPr algn="l">
              <a:lnSpc>
                <a:spcPct val="100000"/>
              </a:lnSpc>
              <a:spcAft>
                <a:spcPts val="0"/>
              </a:spcAft>
            </a:pPr>
            <a:r>
              <a:rPr sz="1400" b="0">
                <a:solidFill>
                  <a:srgbClr val="16241F"/>
                </a:solidFill>
                <a:latin typeface="Courier New"/>
              </a:rPr>
              <a:t> </a:t>
            </a:r>
          </a:p>
          <a:p>
            <a:pPr algn="l">
              <a:lnSpc>
                <a:spcPct val="100000"/>
              </a:lnSpc>
              <a:spcAft>
                <a:spcPts val="0"/>
              </a:spcAft>
            </a:pPr>
            <a:r>
              <a:rPr sz="1400" b="0">
                <a:solidFill>
                  <a:srgbClr val="16241F"/>
                </a:solidFill>
                <a:latin typeface="Courier New"/>
              </a:rPr>
              <a:t>beacon_gain = 0.08</a:t>
            </a:r>
            <a:r>
              <a:rPr sz="1400" b="0">
                <a:solidFill>
                  <a:srgbClr val="5B6F68"/>
                </a:solidFill>
                <a:latin typeface="Courier New"/>
              </a:rPr>
              <a:t>  # @param {type:"slider", min:0.02, max:0.4, step:0.02}</a:t>
            </a:r>
          </a:p>
          <a:p>
            <a:pPr algn="l">
              <a:lnSpc>
                <a:spcPct val="100000"/>
              </a:lnSpc>
              <a:spcAft>
                <a:spcPts val="0"/>
              </a:spcAft>
            </a:pPr>
            <a:r>
              <a:rPr sz="1400" b="0">
                <a:solidFill>
                  <a:srgbClr val="16241F"/>
                </a:solidFill>
                <a:latin typeface="Courier New"/>
              </a:rPr>
              <a:t> </a:t>
            </a:r>
          </a:p>
          <a:p>
            <a:pPr algn="l">
              <a:lnSpc>
                <a:spcPct val="100000"/>
              </a:lnSpc>
              <a:spcAft>
                <a:spcPts val="0"/>
              </a:spcAft>
            </a:pPr>
            <a:r>
              <a:rPr sz="1400" b="1">
                <a:solidFill>
                  <a:srgbClr val="8A6000"/>
                </a:solidFill>
                <a:latin typeface="Courier New"/>
              </a:rPr>
              <a:t>backend = ...  # task 1's model as a graph of one node</a:t>
            </a:r>
          </a:p>
          <a:p>
            <a:pPr algn="l">
              <a:lnSpc>
                <a:spcPct val="100000"/>
              </a:lnSpc>
              <a:spcAft>
                <a:spcPts val="0"/>
              </a:spcAft>
            </a:pPr>
            <a:r>
              <a:rPr sz="1400" b="0">
                <a:solidFill>
                  <a:srgbClr val="16241F"/>
                </a:solidFill>
                <a:latin typeface="Courier New"/>
              </a:rPr>
              <a:t>check_backends(KalmanBackend(model), backend)</a:t>
            </a:r>
            <a:r>
              <a:rPr sz="1400" b="0">
                <a:solidFill>
                  <a:srgbClr val="5B6F68"/>
                </a:solidFill>
                <a:latin typeface="Courier New"/>
              </a:rPr>
              <a:t>  # paste max |difference| in chat</a:t>
            </a:r>
          </a:p>
          <a:p>
            <a:pPr algn="l">
              <a:lnSpc>
                <a:spcPct val="100000"/>
              </a:lnSpc>
            </a:pPr>
            <a:r>
              <a:rPr sz="1400" b="0">
                <a:solidFill>
                  <a:srgbClr val="16241F"/>
                </a:solidFill>
                <a:latin typeface="Courier New"/>
              </a:rPr>
              <a:t>plot_world(my_world, (0.0, beacon_gain, 0.20))</a:t>
            </a:r>
          </a:p>
        </p:txBody>
      </p:sp>
      <p:sp>
        <p:nvSpPr>
          <p:cNvPr id="5" name="text"/>
          <p:cNvSpPr txBox="1"/>
          <p:nvPr/>
        </p:nvSpPr>
        <p:spPr>
          <a:xfrm>
            <a:off x="548640" y="4290364"/>
            <a:ext cx="11094415" cy="1333195"/>
          </a:xfrm>
          <a:prstGeom prst="rect">
            <a:avLst/>
          </a:prstGeom>
          <a:noFill/>
        </p:spPr>
        <p:txBody>
          <a:bodyPr wrap="square" lIns="0" rIns="0" tIns="0" bIns="0" anchor="t">
            <a:spAutoFit/>
          </a:bodyPr>
          <a:lstStyle/>
          <a:p>
            <a:pPr algn="l">
              <a:lnSpc>
                <a:spcPct val="100000"/>
              </a:lnSpc>
            </a:pPr>
            <a:r>
              <a:rPr sz="1800" b="0">
                <a:solidFill>
                  <a:srgbClr val="5B6F68"/>
                </a:solidFill>
                <a:latin typeface="Calibri"/>
              </a:rPr>
              <a:t>There's a rock in the blackout. None of the rockets knows.</a:t>
            </a:r>
          </a:p>
        </p:txBody>
      </p:sp>
      <p:sp>
        <p:nvSpPr>
          <p:cNvPr id="6" name="card"/>
          <p:cNvSpPr/>
          <p:nvPr/>
        </p:nvSpPr>
        <p:spPr>
          <a:xfrm>
            <a:off x="548640" y="5669280"/>
            <a:ext cx="3200400"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pPr>
            <a:r>
              <a:rPr sz="1700" b="1">
                <a:solidFill>
                  <a:srgbClr val="8A6000"/>
                </a:solidFill>
                <a:latin typeface="Calibri"/>
              </a:rPr>
              <a:t>Write the two amber lines</a:t>
            </a:r>
          </a:p>
        </p:txBody>
      </p:sp>
      <p:sp>
        <p:nvSpPr>
          <p:cNvPr id="7" name="card"/>
          <p:cNvSpPr/>
          <p:nvPr/>
        </p:nvSpPr>
        <p:spPr>
          <a:xfrm>
            <a:off x="4023359" y="5669280"/>
            <a:ext cx="3383280"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pPr>
            <a:r>
              <a:rPr sz="1700" b="0">
                <a:solidFill>
                  <a:srgbClr val="16241F"/>
                </a:solidFill>
                <a:latin typeface="Calibri"/>
              </a:rPr>
              <a:t>Hints are below the cell</a:t>
            </a:r>
          </a:p>
        </p:txBody>
      </p:sp>
      <p:sp>
        <p:nvSpPr>
          <p:cNvPr id="8" name="card"/>
          <p:cNvSpPr/>
          <p:nvPr/>
        </p:nvSpPr>
        <p:spPr>
          <a:xfrm>
            <a:off x="7680959" y="5669280"/>
            <a:ext cx="3962095" cy="685800"/>
          </a:xfrm>
          <a:prstGeom prst="roundRect">
            <a:avLst>
              <a:gd name="adj" fmla="val 8000"/>
            </a:avLst>
          </a:prstGeom>
          <a:solidFill>
            <a:srgbClr val="FFFFFF"/>
          </a:solidFill>
          <a:ln w="12700">
            <a:solidFill>
              <a:srgbClr val="E69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pPr>
            <a:r>
              <a:rPr sz="1700" b="0">
                <a:solidFill>
                  <a:srgbClr val="5B6F68"/>
                </a:solidFill>
                <a:latin typeface="Calibri"/>
              </a:rPr>
              <a:t>Paste in chat  </a:t>
            </a:r>
            <a:r>
              <a:rPr sz="1700" b="0">
                <a:solidFill>
                  <a:srgbClr val="16241F"/>
                </a:solidFill>
                <a:latin typeface="Courier New"/>
              </a:rPr>
              <a:t>max |difference|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Task 3 · Over to you</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3</a:t>
            </a:r>
          </a:p>
        </p:txBody>
      </p:sp>
      <p:sp>
        <p:nvSpPr>
          <p:cNvPr id="4" name="text"/>
          <p:cNvSpPr txBox="1"/>
          <p:nvPr/>
        </p:nvSpPr>
        <p:spPr>
          <a:xfrm>
            <a:off x="548640" y="1417320"/>
            <a:ext cx="11094415" cy="2286000"/>
          </a:xfrm>
          <a:prstGeom prst="rect">
            <a:avLst/>
          </a:prstGeom>
          <a:noFill/>
        </p:spPr>
        <p:txBody>
          <a:bodyPr wrap="square" lIns="0" rIns="0" tIns="0" bIns="0" anchor="t">
            <a:spAutoFit/>
          </a:bodyPr>
          <a:lstStyle/>
          <a:p>
            <a:pPr algn="l">
              <a:lnSpc>
                <a:spcPct val="100000"/>
              </a:lnSpc>
              <a:spcAft>
                <a:spcPts val="1400"/>
              </a:spcAft>
            </a:pPr>
            <a:r>
              <a:rPr sz="2400" b="1">
                <a:solidFill>
                  <a:srgbClr val="8A6000"/>
                </a:solidFill>
                <a:latin typeface="Calibri"/>
              </a:rPr>
              <a:t>1   </a:t>
            </a:r>
            <a:r>
              <a:rPr sz="2400" b="0">
                <a:solidFill>
                  <a:srgbClr val="16241F"/>
                </a:solidFill>
                <a:latin typeface="Calibri"/>
              </a:rPr>
              <a:t>Write the two amber lines and run the cell.</a:t>
            </a:r>
          </a:p>
          <a:p>
            <a:pPr algn="l">
              <a:lnSpc>
                <a:spcPct val="100000"/>
              </a:lnSpc>
              <a:spcAft>
                <a:spcPts val="1400"/>
              </a:spcAft>
            </a:pPr>
            <a:r>
              <a:rPr sz="2400" b="1">
                <a:solidFill>
                  <a:srgbClr val="8A6000"/>
                </a:solidFill>
                <a:latin typeface="Calibri"/>
              </a:rPr>
              <a:t>2   </a:t>
            </a:r>
            <a:r>
              <a:rPr sz="2400" b="0">
                <a:solidFill>
                  <a:srgbClr val="16241F"/>
                </a:solidFill>
                <a:latin typeface="Calibri"/>
              </a:rPr>
              <a:t>Move the k slider and watch the routes. Paste max |difference| in the chat.</a:t>
            </a:r>
          </a:p>
          <a:p>
            <a:pPr algn="l">
              <a:lnSpc>
                <a:spcPct val="100000"/>
              </a:lnSpc>
            </a:pPr>
            <a:r>
              <a:rPr sz="2400" b="1">
                <a:solidFill>
                  <a:srgbClr val="8A6000"/>
                </a:solidFill>
                <a:latin typeface="Calibri"/>
              </a:rPr>
              <a:t>3   </a:t>
            </a:r>
            <a:r>
              <a:rPr sz="2400" b="0">
                <a:solidFill>
                  <a:srgbClr val="16241F"/>
                </a:solidFill>
                <a:latin typeface="Calibri"/>
              </a:rPr>
              <a:t>Finished early? Try the two bonuses.</a:t>
            </a:r>
          </a:p>
        </p:txBody>
      </p:sp>
      <p:sp>
        <p:nvSpPr>
          <p:cNvPr id="5" name="track"/>
          <p:cNvSpPr/>
          <p:nvPr/>
        </p:nvSpPr>
        <p:spPr>
          <a:xfrm>
            <a:off x="548640" y="3931920"/>
            <a:ext cx="11094415" cy="640080"/>
          </a:xfrm>
          <a:prstGeom prst="roundRect">
            <a:avLst>
              <a:gd name="adj" fmla="val 50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ctr"/>
          </a:p>
        </p:txBody>
      </p:sp>
      <p:sp>
        <p:nvSpPr>
          <p:cNvPr id="6" name="bar"/>
          <p:cNvSpPr/>
          <p:nvPr/>
        </p:nvSpPr>
        <p:spPr>
          <a:xfrm>
            <a:off x="603503" y="3986783"/>
            <a:ext cx="10984687" cy="530352"/>
          </a:xfrm>
          <a:prstGeom prst="roundRect">
            <a:avLst>
              <a:gd name="adj" fmla="val 50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548640" y="4709159"/>
            <a:ext cx="1097280" cy="411480"/>
          </a:xfrm>
          <a:prstGeom prst="rect">
            <a:avLst/>
          </a:prstGeom>
          <a:noFill/>
        </p:spPr>
        <p:txBody>
          <a:bodyPr wrap="square" lIns="0" rIns="0" tIns="0" bIns="0" anchor="t">
            <a:spAutoFit/>
          </a:bodyPr>
          <a:lstStyle/>
          <a:p>
            <a:pPr algn="l">
              <a:lnSpc>
                <a:spcPct val="100000"/>
              </a:lnSpc>
            </a:pPr>
            <a:r>
              <a:rPr sz="1600" b="0">
                <a:solidFill>
                  <a:srgbClr val="5B6F68"/>
                </a:solidFill>
                <a:latin typeface="Calibri"/>
              </a:rPr>
              <a:t>0</a:t>
            </a:r>
          </a:p>
        </p:txBody>
      </p:sp>
      <p:sp>
        <p:nvSpPr>
          <p:cNvPr id="8" name="text"/>
          <p:cNvSpPr txBox="1"/>
          <p:nvPr/>
        </p:nvSpPr>
        <p:spPr>
          <a:xfrm>
            <a:off x="3698138" y="4709159"/>
            <a:ext cx="1097280" cy="411480"/>
          </a:xfrm>
          <a:prstGeom prst="rect">
            <a:avLst/>
          </a:prstGeom>
          <a:noFill/>
        </p:spPr>
        <p:txBody>
          <a:bodyPr wrap="square" lIns="0" rIns="0" tIns="0" bIns="0" anchor="t">
            <a:spAutoFit/>
          </a:bodyPr>
          <a:lstStyle/>
          <a:p>
            <a:pPr algn="ctr">
              <a:lnSpc>
                <a:spcPct val="100000"/>
              </a:lnSpc>
            </a:pPr>
            <a:r>
              <a:rPr sz="1600" b="0">
                <a:solidFill>
                  <a:srgbClr val="5B6F68"/>
                </a:solidFill>
                <a:latin typeface="Calibri"/>
              </a:rPr>
              <a:t>5</a:t>
            </a:r>
          </a:p>
        </p:txBody>
      </p:sp>
      <p:sp>
        <p:nvSpPr>
          <p:cNvPr id="9" name="text"/>
          <p:cNvSpPr txBox="1"/>
          <p:nvPr/>
        </p:nvSpPr>
        <p:spPr>
          <a:xfrm>
            <a:off x="7396276" y="4709159"/>
            <a:ext cx="1097280" cy="411480"/>
          </a:xfrm>
          <a:prstGeom prst="rect">
            <a:avLst/>
          </a:prstGeom>
          <a:noFill/>
        </p:spPr>
        <p:txBody>
          <a:bodyPr wrap="square" lIns="0" rIns="0" tIns="0" bIns="0" anchor="t">
            <a:spAutoFit/>
          </a:bodyPr>
          <a:lstStyle/>
          <a:p>
            <a:pPr algn="ctr">
              <a:lnSpc>
                <a:spcPct val="100000"/>
              </a:lnSpc>
            </a:pPr>
            <a:r>
              <a:rPr sz="1600" b="0">
                <a:solidFill>
                  <a:srgbClr val="5B6F68"/>
                </a:solidFill>
                <a:latin typeface="Calibri"/>
              </a:rPr>
              <a:t>10</a:t>
            </a:r>
          </a:p>
        </p:txBody>
      </p:sp>
      <p:sp>
        <p:nvSpPr>
          <p:cNvPr id="10" name="text"/>
          <p:cNvSpPr txBox="1"/>
          <p:nvPr/>
        </p:nvSpPr>
        <p:spPr>
          <a:xfrm>
            <a:off x="10545775" y="4709159"/>
            <a:ext cx="1097280" cy="411480"/>
          </a:xfrm>
          <a:prstGeom prst="rect">
            <a:avLst/>
          </a:prstGeom>
          <a:noFill/>
        </p:spPr>
        <p:txBody>
          <a:bodyPr wrap="square" lIns="0" rIns="0" tIns="0" bIns="0" anchor="t">
            <a:spAutoFit/>
          </a:bodyPr>
          <a:lstStyle/>
          <a:p>
            <a:pPr algn="r">
              <a:lnSpc>
                <a:spcPct val="100000"/>
              </a:lnSpc>
            </a:pPr>
            <a:r>
              <a:rPr sz="1600" b="0">
                <a:solidFill>
                  <a:srgbClr val="5B6F68"/>
                </a:solidFill>
                <a:latin typeface="Calibri"/>
              </a:rPr>
              <a:t>15 min</a:t>
            </a:r>
          </a:p>
        </p:txBody>
      </p:sp>
      <p:sp>
        <p:nvSpPr>
          <p:cNvPr id="11" name="text"/>
          <p:cNvSpPr txBox="1"/>
          <p:nvPr/>
        </p:nvSpPr>
        <p:spPr>
          <a:xfrm>
            <a:off x="548640" y="5303520"/>
            <a:ext cx="11094415" cy="548640"/>
          </a:xfrm>
          <a:prstGeom prst="rect">
            <a:avLst/>
          </a:prstGeom>
          <a:noFill/>
        </p:spPr>
        <p:txBody>
          <a:bodyPr wrap="square" lIns="0" rIns="0" tIns="0" bIns="0" anchor="t">
            <a:spAutoFit/>
          </a:bodyPr>
          <a:lstStyle/>
          <a:p>
            <a:pPr algn="l">
              <a:lnSpc>
                <a:spcPct val="100000"/>
              </a:lnSpc>
            </a:pPr>
            <a:r>
              <a:rPr sz="2200" b="1">
                <a:solidFill>
                  <a:srgbClr val="8A6000"/>
                </a:solidFill>
                <a:latin typeface="Calibri"/>
              </a:rPr>
              <a:t>Time's up. </a:t>
            </a:r>
            <a:r>
              <a:rPr sz="2200" b="1">
                <a:solidFill>
                  <a:srgbClr val="16241F"/>
                </a:solidFill>
                <a:latin typeface="Calibri"/>
              </a:rPr>
              <a:t>Run checkpoint 3, even if everything worked.</a:t>
            </a:r>
          </a:p>
        </p:txBody>
      </p:sp>
      <p:sp>
        <p:nvSpPr>
          <p:cNvPr id="12" name="text"/>
          <p:cNvSpPr txBox="1"/>
          <p:nvPr/>
        </p:nvSpPr>
        <p:spPr>
          <a:xfrm>
            <a:off x="548640" y="5989320"/>
            <a:ext cx="11094415" cy="411480"/>
          </a:xfrm>
          <a:prstGeom prst="rect">
            <a:avLst/>
          </a:prstGeom>
          <a:noFill/>
        </p:spPr>
        <p:txBody>
          <a:bodyPr wrap="square" lIns="0" rIns="0" tIns="0" bIns="0" anchor="t">
            <a:spAutoFit/>
          </a:bodyPr>
          <a:lstStyle/>
          <a:p>
            <a:pPr algn="l">
              <a:lnSpc>
                <a:spcPct val="100000"/>
              </a:lnSpc>
            </a:pPr>
            <a:r>
              <a:rPr sz="1600" b="0">
                <a:solidFill>
                  <a:srgbClr val="5B6F68"/>
                </a:solidFill>
                <a:latin typeface="Calibri"/>
              </a:rPr>
              <a:t>Stuck on an error?  </a:t>
            </a:r>
            <a:r>
              <a:rPr sz="1600" b="0">
                <a:solidFill>
                  <a:srgbClr val="5B6F68"/>
                </a:solidFill>
                <a:latin typeface="Courier New"/>
              </a:rPr>
              <a:t>workshop.symptoms()</a:t>
            </a:r>
            <a:r>
              <a:rPr sz="1600" b="0">
                <a:solidFill>
                  <a:srgbClr val="5B6F68"/>
                </a:solidFill>
                <a:latin typeface="Calibri"/>
              </a:rPr>
              <a:t>  lists the five most common, with their fixes.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 fill="hold">
                            <p:stCondLst>
                              <p:cond delay="0"/>
                            </p:stCondLst>
                            <p:childTnLst>
                              <p:par>
                                <p:cTn id="6" presetID="22" presetClass="entr" presetSubtype="8" fill="hold" grpId="0" nodeType="after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wipe(left)">
                                      <p:cBhvr>
                                        <p:cTn id="4" dur="900000"/>
                                        <p:tgtEl>
                                          <p:spTgt spid="6"/>
                                        </p:tgtEl>
                                      </p:cBhvr>
                                    </p:animEffect>
                                  </p:childTnLst>
                                </p:cTn>
                              </p:par>
                            </p:childTnLst>
                          </p:cTn>
                        </p:par>
                        <p:par>
                          <p:cTn id="8" fill="hold">
                            <p:stCondLst>
                              <p:cond delay="900000"/>
                            </p:stCondLst>
                            <p:childTnLst>
                              <p:par>
                                <p:cTn id="9" presetID="1"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The blackout, before the rock</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3</a:t>
            </a:r>
          </a:p>
        </p:txBody>
      </p:sp>
      <p:pic>
        <p:nvPicPr>
          <p:cNvPr id="4" name="picture route_3_blackout.png" descr="route_3_blackout.png"/>
          <p:cNvPicPr>
            <a:picLocks noChangeAspect="1"/>
          </p:cNvPicPr>
          <p:nvPr/>
        </p:nvPicPr>
        <p:blipFill>
          <a:blip r:embed="rId2"/>
          <a:stretch>
            <a:fillRect/>
          </a:stretch>
        </p:blipFill>
        <p:spPr>
          <a:xfrm>
            <a:off x="548640" y="1280160"/>
            <a:ext cx="7680960" cy="4071706"/>
          </a:xfrm>
          <a:prstGeom prst="rect">
            <a:avLst/>
          </a:prstGeom>
        </p:spPr>
      </p:pic>
      <p:sp>
        <p:nvSpPr>
          <p:cNvPr id="5" name="text"/>
          <p:cNvSpPr txBox="1"/>
          <p:nvPr/>
        </p:nvSpPr>
        <p:spPr>
          <a:xfrm>
            <a:off x="548640" y="5532120"/>
            <a:ext cx="7680960" cy="777240"/>
          </a:xfrm>
          <a:prstGeom prst="rect">
            <a:avLst/>
          </a:prstGeom>
          <a:noFill/>
        </p:spPr>
        <p:txBody>
          <a:bodyPr wrap="square" lIns="0" rIns="0" tIns="0" bIns="0" anchor="t">
            <a:spAutoFit/>
          </a:bodyPr>
          <a:lstStyle/>
          <a:p>
            <a:pPr algn="l">
              <a:lnSpc>
                <a:spcPct val="100000"/>
              </a:lnSpc>
            </a:pPr>
            <a:r>
              <a:rPr sz="1500" b="0">
                <a:solidFill>
                  <a:srgbClr val="5B6F68"/>
                </a:solidFill>
                <a:latin typeface="Calibri"/>
              </a:rPr>
              <a:t>Seed 3. No rock yet.</a:t>
            </a:r>
          </a:p>
        </p:txBody>
      </p:sp>
      <p:sp>
        <p:nvSpPr>
          <p:cNvPr id="6" name="text"/>
          <p:cNvSpPr txBox="1"/>
          <p:nvPr/>
        </p:nvSpPr>
        <p:spPr>
          <a:xfrm>
            <a:off x="8503920" y="1325880"/>
            <a:ext cx="3139135" cy="4572000"/>
          </a:xfrm>
          <a:prstGeom prst="rect">
            <a:avLst/>
          </a:prstGeom>
          <a:noFill/>
        </p:spPr>
        <p:txBody>
          <a:bodyPr wrap="square" lIns="0" rIns="0" tIns="0" bIns="0" anchor="t">
            <a:spAutoFit/>
          </a:bodyPr>
          <a:lstStyle/>
          <a:p>
            <a:pPr algn="l">
              <a:lnSpc>
                <a:spcPct val="100000"/>
              </a:lnSpc>
              <a:spcAft>
                <a:spcPts val="1800"/>
              </a:spcAft>
            </a:pPr>
            <a:r>
              <a:rPr sz="2000" b="0">
                <a:solidFill>
                  <a:srgbClr val="16241F"/>
                </a:solidFill>
                <a:latin typeface="Calibri"/>
              </a:rPr>
              <a:t>Near the blackout's centre the sensor noise is very large.</a:t>
            </a:r>
          </a:p>
          <a:p>
            <a:pPr algn="l">
              <a:lnSpc>
                <a:spcPct val="100000"/>
              </a:lnSpc>
              <a:spcAft>
                <a:spcPts val="1800"/>
              </a:spcAft>
            </a:pPr>
            <a:r>
              <a:rPr sz="2000" b="0">
                <a:solidFill>
                  <a:srgbClr val="16241F"/>
                </a:solidFill>
                <a:latin typeface="Calibri"/>
              </a:rPr>
              <a:t>The 1960 rocket flies straight through. Its model has one noise level.</a:t>
            </a:r>
          </a:p>
          <a:p>
            <a:pPr algn="l">
              <a:lnSpc>
                <a:spcPct val="100000"/>
              </a:lnSpc>
            </a:pPr>
            <a:r>
              <a:rPr sz="2000" b="0">
                <a:solidFill>
                  <a:srgbClr val="16241F"/>
                </a:solidFill>
                <a:latin typeface="Calibri"/>
              </a:rPr>
              <a:t>The curious rockets swing wide.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The 1960 rocket hits the rock</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3</a:t>
            </a:r>
          </a:p>
        </p:txBody>
      </p:sp>
      <p:pic>
        <p:nvPicPr>
          <p:cNvPr id="4" name="picture route_4_rock.png" descr="route_4_rock.png"/>
          <p:cNvPicPr>
            <a:picLocks noChangeAspect="1"/>
          </p:cNvPicPr>
          <p:nvPr/>
        </p:nvPicPr>
        <p:blipFill>
          <a:blip r:embed="rId2"/>
          <a:stretch>
            <a:fillRect/>
          </a:stretch>
        </p:blipFill>
        <p:spPr>
          <a:xfrm>
            <a:off x="548640" y="1280160"/>
            <a:ext cx="7680960" cy="4071706"/>
          </a:xfrm>
          <a:prstGeom prst="rect">
            <a:avLst/>
          </a:prstGeom>
        </p:spPr>
      </p:pic>
      <p:sp>
        <p:nvSpPr>
          <p:cNvPr id="5" name="text"/>
          <p:cNvSpPr txBox="1"/>
          <p:nvPr/>
        </p:nvSpPr>
        <p:spPr>
          <a:xfrm>
            <a:off x="548640" y="5532120"/>
            <a:ext cx="7680960" cy="777240"/>
          </a:xfrm>
          <a:prstGeom prst="rect">
            <a:avLst/>
          </a:prstGeom>
          <a:noFill/>
        </p:spPr>
        <p:txBody>
          <a:bodyPr wrap="square" lIns="0" rIns="0" tIns="0" bIns="0" anchor="t">
            <a:spAutoFit/>
          </a:bodyPr>
          <a:lstStyle/>
          <a:p>
            <a:pPr algn="l">
              <a:lnSpc>
                <a:spcPct val="100000"/>
              </a:lnSpc>
            </a:pPr>
            <a:r>
              <a:rPr sz="1500" b="0">
                <a:solidFill>
                  <a:srgbClr val="5B6F68"/>
                </a:solidFill>
                <a:latin typeface="Calibri"/>
              </a:rPr>
              <a:t>Seed 3. Both curious rockets clear the rock. The 1960 rocket hits it on every seed from 0 to 9.</a:t>
            </a:r>
          </a:p>
        </p:txBody>
      </p:sp>
      <p:sp>
        <p:nvSpPr>
          <p:cNvPr id="6" name="card"/>
          <p:cNvSpPr/>
          <p:nvPr/>
        </p:nvSpPr>
        <p:spPr>
          <a:xfrm>
            <a:off x="8503920" y="1325880"/>
            <a:ext cx="3139135" cy="2697480"/>
          </a:xfrm>
          <a:prstGeom prst="roundRect">
            <a:avLst>
              <a:gd name="adj" fmla="val 406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spcAft>
                <a:spcPts val="600"/>
              </a:spcAft>
            </a:pPr>
            <a:r>
              <a:rPr sz="1700" b="0">
                <a:solidFill>
                  <a:srgbClr val="5B6F68"/>
                </a:solidFill>
                <a:latin typeface="Calibri"/>
              </a:rPr>
              <a:t>1960 rocket</a:t>
            </a:r>
          </a:p>
          <a:p>
            <a:pPr algn="l">
              <a:lnSpc>
                <a:spcPct val="100000"/>
              </a:lnSpc>
              <a:spcAft>
                <a:spcPts val="600"/>
              </a:spcAft>
            </a:pPr>
            <a:r>
              <a:rPr sz="5400" b="1">
                <a:solidFill>
                  <a:srgbClr val="16241F"/>
                </a:solidFill>
                <a:latin typeface="Calibri"/>
              </a:rPr>
              <a:t>step 6</a:t>
            </a:r>
          </a:p>
          <a:p>
            <a:pPr algn="l">
              <a:lnSpc>
                <a:spcPct val="100000"/>
              </a:lnSpc>
            </a:pPr>
            <a:r>
              <a:rPr sz="1700" b="0">
                <a:solidFill>
                  <a:srgbClr val="16241F"/>
                </a:solidFill>
                <a:latin typeface="Calibri"/>
              </a:rPr>
              <a:t>None of the rockets models the rock.</a:t>
            </a:r>
          </a:p>
        </p:txBody>
      </p:sp>
      <p:sp>
        <p:nvSpPr>
          <p:cNvPr id="7" name="card"/>
          <p:cNvSpPr/>
          <p:nvPr/>
        </p:nvSpPr>
        <p:spPr>
          <a:xfrm>
            <a:off x="8503920" y="4251960"/>
            <a:ext cx="3139135" cy="960120"/>
          </a:xfrm>
          <a:prstGeom prst="roundRect">
            <a:avLst>
              <a:gd name="adj" fmla="val 8000"/>
            </a:avLst>
          </a:prstGeom>
          <a:solidFill>
            <a:srgbClr val="FFFFFF"/>
          </a:solidFill>
          <a:ln w="12700">
            <a:solidFill>
              <a:srgbClr val="E69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spcAft>
                <a:spcPts val="200"/>
              </a:spcAft>
            </a:pPr>
            <a:r>
              <a:rPr sz="1700" b="0">
                <a:solidFill>
                  <a:srgbClr val="5B6F68"/>
                </a:solidFill>
                <a:latin typeface="Calibri"/>
              </a:rPr>
              <a:t>Paste in chat</a:t>
            </a:r>
          </a:p>
          <a:p>
            <a:pPr algn="l">
              <a:lnSpc>
                <a:spcPct val="100000"/>
              </a:lnSpc>
            </a:pPr>
            <a:r>
              <a:rPr sz="1700" b="0">
                <a:solidFill>
                  <a:srgbClr val="16241F"/>
                </a:solidFill>
                <a:latin typeface="Courier New"/>
              </a:rPr>
              <a:t>max |difference|</a:t>
            </a:r>
          </a:p>
        </p:txBody>
      </p:sp>
      <p:sp>
        <p:nvSpPr>
          <p:cNvPr id="8" name="pill"/>
          <p:cNvSpPr/>
          <p:nvPr/>
        </p:nvSpPr>
        <p:spPr>
          <a:xfrm>
            <a:off x="8503920" y="5468112"/>
            <a:ext cx="3139135" cy="502920"/>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600" b="0">
                <a:solidFill>
                  <a:srgbClr val="8A6000"/>
                </a:solidFill>
                <a:latin typeface="Calibri"/>
              </a:rPr>
              <a:t>Poll 3 · 60 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A rock never changes a route</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3</a:t>
            </a:r>
          </a:p>
        </p:txBody>
      </p:sp>
      <p:sp>
        <p:nvSpPr>
          <p:cNvPr id="4" name="card"/>
          <p:cNvSpPr/>
          <p:nvPr/>
        </p:nvSpPr>
        <p:spPr>
          <a:xfrm>
            <a:off x="548640" y="1325880"/>
            <a:ext cx="5410047" cy="2331720"/>
          </a:xfrm>
          <a:prstGeom prst="roundRect">
            <a:avLst>
              <a:gd name="adj" fmla="val 47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900" b="1">
                <a:solidFill>
                  <a:srgbClr val="16241F"/>
                </a:solidFill>
                <a:latin typeface="Calibri"/>
              </a:rPr>
              <a:t>Rock in the blackout</a:t>
            </a:r>
          </a:p>
          <a:p>
            <a:pPr algn="l">
              <a:lnSpc>
                <a:spcPct val="100000"/>
              </a:lnSpc>
              <a:spcAft>
                <a:spcPts val="800"/>
              </a:spcAft>
            </a:pPr>
            <a:r>
              <a:rPr sz="1600" b="0">
                <a:solidFill>
                  <a:srgbClr val="5B6F68"/>
                </a:solidFill>
                <a:latin typeface="Calibri"/>
              </a:rPr>
              <a:t>seeds where it hits the rock</a:t>
            </a:r>
          </a:p>
          <a:p>
            <a:pPr algn="l">
              <a:lnSpc>
                <a:spcPct val="100000"/>
              </a:lnSpc>
              <a:spcAft>
                <a:spcPts val="800"/>
              </a:spcAft>
            </a:pPr>
            <a:r>
              <a:rPr sz="1900" b="0">
                <a:solidFill>
                  <a:srgbClr val="16241F"/>
                </a:solidFill>
                <a:latin typeface="Calibri"/>
              </a:rPr>
              <a:t>1960 rocket    </a:t>
            </a:r>
            <a:r>
              <a:rPr sz="1900" b="0">
                <a:solidFill>
                  <a:srgbClr val="16241F"/>
                </a:solidFill>
                <a:latin typeface="Courier New"/>
              </a:rPr>
              <a:t>10 of 10</a:t>
            </a:r>
          </a:p>
          <a:p>
            <a:pPr algn="l">
              <a:lnSpc>
                <a:spcPct val="100000"/>
              </a:lnSpc>
              <a:spcAft>
                <a:spcPts val="800"/>
              </a:spcAft>
            </a:pPr>
            <a:r>
              <a:rPr sz="1900" b="0">
                <a:solidFill>
                  <a:srgbClr val="16241F"/>
                </a:solidFill>
                <a:latin typeface="Calibri"/>
              </a:rPr>
              <a:t>k = 0.08    </a:t>
            </a:r>
            <a:r>
              <a:rPr sz="1900" b="0">
                <a:solidFill>
                  <a:srgbClr val="16241F"/>
                </a:solidFill>
                <a:latin typeface="Courier New"/>
              </a:rPr>
              <a:t>2 of 10</a:t>
            </a:r>
          </a:p>
          <a:p>
            <a:pPr algn="l">
              <a:lnSpc>
                <a:spcPct val="100000"/>
              </a:lnSpc>
            </a:pPr>
            <a:r>
              <a:rPr sz="1900" b="0">
                <a:solidFill>
                  <a:srgbClr val="16241F"/>
                </a:solidFill>
                <a:latin typeface="Calibri"/>
              </a:rPr>
              <a:t>k = 0.20    </a:t>
            </a:r>
            <a:r>
              <a:rPr sz="1900" b="0">
                <a:solidFill>
                  <a:srgbClr val="16241F"/>
                </a:solidFill>
                <a:latin typeface="Courier New"/>
              </a:rPr>
              <a:t>3 of 10</a:t>
            </a:r>
          </a:p>
        </p:txBody>
      </p:sp>
      <p:sp>
        <p:nvSpPr>
          <p:cNvPr id="5" name="card"/>
          <p:cNvSpPr/>
          <p:nvPr/>
        </p:nvSpPr>
        <p:spPr>
          <a:xfrm>
            <a:off x="6233007" y="1325880"/>
            <a:ext cx="5410047" cy="2331720"/>
          </a:xfrm>
          <a:prstGeom prst="roundRect">
            <a:avLst>
              <a:gd name="adj" fmla="val 47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900" b="1">
                <a:solidFill>
                  <a:srgbClr val="16241F"/>
                </a:solidFill>
                <a:latin typeface="Calibri"/>
              </a:rPr>
              <a:t>Rock in clear sky, at (4.2, −0.7)</a:t>
            </a:r>
          </a:p>
          <a:p>
            <a:pPr algn="l">
              <a:lnSpc>
                <a:spcPct val="100000"/>
              </a:lnSpc>
              <a:spcAft>
                <a:spcPts val="800"/>
              </a:spcAft>
            </a:pPr>
            <a:r>
              <a:rPr sz="1600" b="0">
                <a:solidFill>
                  <a:srgbClr val="5B6F68"/>
                </a:solidFill>
                <a:latin typeface="Calibri"/>
              </a:rPr>
              <a:t>seeds where it hits the rock</a:t>
            </a:r>
          </a:p>
          <a:p>
            <a:pPr algn="l">
              <a:lnSpc>
                <a:spcPct val="100000"/>
              </a:lnSpc>
              <a:spcAft>
                <a:spcPts val="800"/>
              </a:spcAft>
            </a:pPr>
            <a:r>
              <a:rPr sz="1900" b="0">
                <a:solidFill>
                  <a:srgbClr val="16241F"/>
                </a:solidFill>
                <a:latin typeface="Calibri"/>
              </a:rPr>
              <a:t>1960 rocket    </a:t>
            </a:r>
            <a:r>
              <a:rPr sz="1900" b="0">
                <a:solidFill>
                  <a:srgbClr val="16241F"/>
                </a:solidFill>
                <a:latin typeface="Courier New"/>
              </a:rPr>
              <a:t>0 of 10</a:t>
            </a:r>
          </a:p>
          <a:p>
            <a:pPr algn="l">
              <a:lnSpc>
                <a:spcPct val="100000"/>
              </a:lnSpc>
              <a:spcAft>
                <a:spcPts val="800"/>
              </a:spcAft>
            </a:pPr>
            <a:r>
              <a:rPr sz="1900" b="0">
                <a:solidFill>
                  <a:srgbClr val="16241F"/>
                </a:solidFill>
                <a:latin typeface="Calibri"/>
              </a:rPr>
              <a:t>k = 0.08    </a:t>
            </a:r>
            <a:r>
              <a:rPr sz="1900" b="0">
                <a:solidFill>
                  <a:srgbClr val="16241F"/>
                </a:solidFill>
                <a:latin typeface="Courier New"/>
              </a:rPr>
              <a:t>6 of 10</a:t>
            </a:r>
          </a:p>
          <a:p>
            <a:pPr algn="l">
              <a:lnSpc>
                <a:spcPct val="100000"/>
              </a:lnSpc>
            </a:pPr>
            <a:r>
              <a:rPr sz="1900" b="0">
                <a:solidFill>
                  <a:srgbClr val="16241F"/>
                </a:solidFill>
                <a:latin typeface="Calibri"/>
              </a:rPr>
              <a:t>k = 0.20    </a:t>
            </a:r>
            <a:r>
              <a:rPr sz="1900" b="0">
                <a:solidFill>
                  <a:srgbClr val="16241F"/>
                </a:solidFill>
                <a:latin typeface="Courier New"/>
              </a:rPr>
              <a:t>5 of 10</a:t>
            </a:r>
          </a:p>
        </p:txBody>
      </p:sp>
      <p:sp>
        <p:nvSpPr>
          <p:cNvPr id="6" name="text"/>
          <p:cNvSpPr txBox="1"/>
          <p:nvPr/>
        </p:nvSpPr>
        <p:spPr>
          <a:xfrm>
            <a:off x="548640" y="3977639"/>
            <a:ext cx="11094415" cy="2194560"/>
          </a:xfrm>
          <a:prstGeom prst="rect">
            <a:avLst/>
          </a:prstGeom>
          <a:noFill/>
        </p:spPr>
        <p:txBody>
          <a:bodyPr wrap="square" lIns="0" rIns="0" tIns="0" bIns="0" anchor="t">
            <a:spAutoFit/>
          </a:bodyPr>
          <a:lstStyle/>
          <a:p>
            <a:pPr algn="l">
              <a:lnSpc>
                <a:spcPct val="100000"/>
              </a:lnSpc>
              <a:spcAft>
                <a:spcPts val="1200"/>
              </a:spcAft>
            </a:pPr>
            <a:r>
              <a:rPr sz="1900" b="0">
                <a:solidFill>
                  <a:srgbClr val="16241F"/>
                </a:solidFill>
                <a:latin typeface="Calibri"/>
              </a:rPr>
              <a:t>With or without the rock, a rocket flies exactly the same path until the moment it collides.</a:t>
            </a:r>
          </a:p>
          <a:p>
            <a:pPr algn="l">
              <a:lnSpc>
                <a:spcPct val="100000"/>
              </a:lnSpc>
              <a:spcAft>
                <a:spcPts val="1200"/>
              </a:spcAft>
            </a:pPr>
            <a:r>
              <a:rPr sz="1900" b="0">
                <a:solidFill>
                  <a:srgbClr val="16241F"/>
                </a:solidFill>
                <a:latin typeface="Calibri"/>
              </a:rPr>
              <a:t>The curious rockets steer away from noisy readings, and the rock sits where the readings are noisiest.</a:t>
            </a:r>
          </a:p>
          <a:p>
            <a:pPr algn="l">
              <a:lnSpc>
                <a:spcPct val="100000"/>
              </a:lnSpc>
            </a:pPr>
            <a:r>
              <a:rPr sz="1900" b="0">
                <a:solidFill>
                  <a:srgbClr val="16241F"/>
                </a:solidFill>
                <a:latin typeface="Calibri"/>
              </a:rPr>
              <a:t>Missing the rock isn't evidence that a rocket represented it or meant to avoid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One rocket, two engines</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task 3</a:t>
            </a:r>
          </a:p>
        </p:txBody>
      </p:sp>
      <p:sp>
        <p:nvSpPr>
          <p:cNvPr id="4" name="code"/>
          <p:cNvSpPr/>
          <p:nvPr/>
        </p:nvSpPr>
        <p:spPr>
          <a:xfrm>
            <a:off x="548640" y="1325880"/>
            <a:ext cx="8138160" cy="2050084"/>
          </a:xfrm>
          <a:prstGeom prst="roundRect">
            <a:avLst>
              <a:gd name="adj" fmla="val 5352"/>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t" wrap="none" lIns="164592" rIns="164592" tIns="115214" bIns="115214"/>
          <a:lstStyle/>
          <a:p>
            <a:pPr algn="l">
              <a:lnSpc>
                <a:spcPct val="100000"/>
              </a:lnSpc>
              <a:spcAft>
                <a:spcPts val="0"/>
              </a:spcAft>
            </a:pPr>
            <a:r>
              <a:rPr sz="1300" b="0">
                <a:solidFill>
                  <a:srgbClr val="16241F"/>
                </a:solidFill>
                <a:latin typeface="Courier New"/>
              </a:rPr>
              <a:t>sensor = FixedSensor(jnp.eye(2), observation_noise=0.05 * jnp.eye(2))</a:t>
            </a:r>
          </a:p>
          <a:p>
            <a:pPr algn="l">
              <a:lnSpc>
                <a:spcPct val="100000"/>
              </a:lnSpc>
              <a:spcAft>
                <a:spcPts val="0"/>
              </a:spcAft>
            </a:pPr>
            <a:r>
              <a:rPr sz="1300" b="0">
                <a:solidFill>
                  <a:srgbClr val="16241F"/>
                </a:solidFill>
                <a:latin typeface="Courier New"/>
              </a:rPr>
              <a:t>graph = CouplingGraph(dims=[2], couplings=[], observation_models={0: sensor})</a:t>
            </a:r>
          </a:p>
          <a:p>
            <a:pPr algn="l">
              <a:lnSpc>
                <a:spcPct val="100000"/>
              </a:lnSpc>
              <a:spcAft>
                <a:spcPts val="0"/>
              </a:spcAft>
            </a:pPr>
            <a:r>
              <a:rPr sz="1300" b="0">
                <a:solidFill>
                  <a:srgbClr val="16241F"/>
                </a:solidFill>
                <a:latin typeface="Courier New"/>
              </a:rPr>
              <a:t>backend = CouplingGraphBackend(</a:t>
            </a:r>
          </a:p>
          <a:p>
            <a:pPr algn="l">
              <a:lnSpc>
                <a:spcPct val="100000"/>
              </a:lnSpc>
              <a:spcAft>
                <a:spcPts val="0"/>
              </a:spcAft>
            </a:pPr>
            <a:r>
              <a:rPr sz="1300" b="0">
                <a:solidFill>
                  <a:srgbClr val="16241F"/>
                </a:solidFill>
                <a:latin typeface="Courier New"/>
              </a:rPr>
              <a:t>    graph,</a:t>
            </a:r>
          </a:p>
          <a:p>
            <a:pPr algn="l">
              <a:lnSpc>
                <a:spcPct val="100000"/>
              </a:lnSpc>
              <a:spcAft>
                <a:spcPts val="0"/>
              </a:spcAft>
            </a:pPr>
            <a:r>
              <a:rPr sz="1300" b="0">
                <a:solidFill>
                  <a:srgbClr val="16241F"/>
                </a:solidFill>
                <a:latin typeface="Courier New"/>
              </a:rPr>
              <a:t>    [GaussianTransition(jnp.eye(2), dynamics_noise=1e-3 * jnp.eye(2))],</a:t>
            </a:r>
          </a:p>
          <a:p>
            <a:pPr algn="l">
              <a:lnSpc>
                <a:spcPct val="100000"/>
              </a:lnSpc>
              <a:spcAft>
                <a:spcPts val="0"/>
              </a:spcAft>
            </a:pPr>
            <a:r>
              <a:rPr sz="1300" b="0">
                <a:solidFill>
                  <a:srgbClr val="16241F"/>
                </a:solidFill>
                <a:latin typeface="Courier New"/>
              </a:rPr>
              <a:t>    prior=Belief(mean=LAUNCH, cov=4 * jnp.eye(2)),</a:t>
            </a:r>
          </a:p>
          <a:p>
            <a:pPr algn="l">
              <a:lnSpc>
                <a:spcPct val="100000"/>
              </a:lnSpc>
              <a:spcAft>
                <a:spcPts val="0"/>
              </a:spcAft>
            </a:pPr>
            <a:r>
              <a:rPr sz="1300" b="0">
                <a:solidFill>
                  <a:srgbClr val="16241F"/>
                </a:solidFill>
                <a:latin typeface="Courier New"/>
              </a:rPr>
              <a:t>    control_matrix=jnp.eye(2),</a:t>
            </a:r>
          </a:p>
          <a:p>
            <a:pPr algn="l">
              <a:lnSpc>
                <a:spcPct val="100000"/>
              </a:lnSpc>
              <a:spcAft>
                <a:spcPts val="0"/>
              </a:spcAft>
            </a:pPr>
            <a:r>
              <a:rPr sz="1300" b="0">
                <a:solidFill>
                  <a:srgbClr val="16241F"/>
                </a:solidFill>
                <a:latin typeface="Courier New"/>
              </a:rPr>
              <a:t>)</a:t>
            </a:r>
          </a:p>
          <a:p>
            <a:pPr algn="l">
              <a:lnSpc>
                <a:spcPct val="100000"/>
              </a:lnSpc>
            </a:pPr>
            <a:r>
              <a:rPr sz="1300" b="0">
                <a:solidFill>
                  <a:srgbClr val="16241F"/>
                </a:solidFill>
                <a:latin typeface="Courier New"/>
              </a:rPr>
              <a:t>rocket = Agent.from_backend(backend, goal)</a:t>
            </a:r>
          </a:p>
        </p:txBody>
      </p:sp>
      <p:sp>
        <p:nvSpPr>
          <p:cNvPr id="5" name="text"/>
          <p:cNvSpPr txBox="1"/>
          <p:nvPr/>
        </p:nvSpPr>
        <p:spPr>
          <a:xfrm>
            <a:off x="8961120" y="1325880"/>
            <a:ext cx="2681935" cy="2050084"/>
          </a:xfrm>
          <a:prstGeom prst="rect">
            <a:avLst/>
          </a:prstGeom>
          <a:noFill/>
        </p:spPr>
        <p:txBody>
          <a:bodyPr wrap="square" lIns="0" rIns="0" tIns="0" bIns="0" anchor="t">
            <a:spAutoFit/>
          </a:bodyPr>
          <a:lstStyle/>
          <a:p>
            <a:pPr algn="l">
              <a:lnSpc>
                <a:spcPct val="100000"/>
              </a:lnSpc>
              <a:spcAft>
                <a:spcPts val="600"/>
              </a:spcAft>
            </a:pPr>
            <a:r>
              <a:rPr sz="1600" b="0">
                <a:solidFill>
                  <a:srgbClr val="16241F"/>
                </a:solidFill>
                <a:latin typeface="Courier New"/>
              </a:rPr>
              <a:t>KalmanBackend</a:t>
            </a:r>
          </a:p>
          <a:p>
            <a:pPr algn="l">
              <a:lnSpc>
                <a:spcPct val="100000"/>
              </a:lnSpc>
              <a:spcAft>
                <a:spcPts val="600"/>
              </a:spcAft>
            </a:pPr>
            <a:r>
              <a:rPr sz="1600" b="0">
                <a:solidFill>
                  <a:srgbClr val="5B6F68"/>
                </a:solidFill>
                <a:latin typeface="Calibri"/>
              </a:rPr>
              <a:t>the Kalman filter</a:t>
            </a:r>
          </a:p>
          <a:p>
            <a:pPr algn="l">
              <a:lnSpc>
                <a:spcPct val="100000"/>
              </a:lnSpc>
              <a:spcAft>
                <a:spcPts val="600"/>
              </a:spcAft>
            </a:pPr>
            <a:r>
              <a:rPr sz="1600" b="0">
                <a:solidFill>
                  <a:srgbClr val="16241F"/>
                </a:solidFill>
                <a:latin typeface="Courier New"/>
              </a:rPr>
              <a:t>CouplingGraphBackend</a:t>
            </a:r>
          </a:p>
          <a:p>
            <a:pPr algn="l">
              <a:lnSpc>
                <a:spcPct val="100000"/>
              </a:lnSpc>
            </a:pPr>
            <a:r>
              <a:rPr sz="1600" b="0">
                <a:solidFill>
                  <a:srgbClr val="5B6F68"/>
                </a:solidFill>
                <a:latin typeface="Calibri"/>
              </a:rPr>
              <a:t>the same model as a graph of one node</a:t>
            </a:r>
          </a:p>
        </p:txBody>
      </p:sp>
      <p:sp>
        <p:nvSpPr>
          <p:cNvPr id="6" name="printed"/>
          <p:cNvSpPr/>
          <p:nvPr/>
        </p:nvSpPr>
        <p:spPr>
          <a:xfrm>
            <a:off x="548640" y="3650284"/>
            <a:ext cx="11094415" cy="685800"/>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none" lIns="164592" rIns="164592" tIns="115214" bIns="115214"/>
          <a:lstStyle/>
          <a:p>
            <a:pPr algn="l">
              <a:lnSpc>
                <a:spcPct val="100000"/>
              </a:lnSpc>
              <a:spcAft>
                <a:spcPts val="0"/>
              </a:spcAft>
            </a:pPr>
            <a:r>
              <a:rPr sz="1200" b="0">
                <a:solidFill>
                  <a:srgbClr val="16241F"/>
                </a:solidFill>
                <a:latin typeface="Courier New"/>
              </a:rPr>
              <a:t>KalmanBackend          mean (4.844446, 0.098086)   cov diagonal (0.006589, 0.006589)</a:t>
            </a:r>
          </a:p>
          <a:p>
            <a:pPr algn="l">
              <a:lnSpc>
                <a:spcPct val="100000"/>
              </a:lnSpc>
            </a:pPr>
            <a:r>
              <a:rPr sz="1200" b="0">
                <a:solidFill>
                  <a:srgbClr val="16241F"/>
                </a:solidFill>
                <a:latin typeface="Courier New"/>
              </a:rPr>
              <a:t>CouplingGraphBackend   mean (4.844446, 0.098086)   cov diagonal (0.006589, 0.006589)</a:t>
            </a:r>
          </a:p>
        </p:txBody>
      </p:sp>
      <p:sp>
        <p:nvSpPr>
          <p:cNvPr id="7" name="text"/>
          <p:cNvSpPr txBox="1"/>
          <p:nvPr/>
        </p:nvSpPr>
        <p:spPr>
          <a:xfrm>
            <a:off x="548640" y="4564684"/>
            <a:ext cx="11094415" cy="685800"/>
          </a:xfrm>
          <a:prstGeom prst="rect">
            <a:avLst/>
          </a:prstGeom>
          <a:noFill/>
        </p:spPr>
        <p:txBody>
          <a:bodyPr wrap="square" lIns="0" rIns="0" tIns="0" bIns="0" anchor="t">
            <a:spAutoFit/>
          </a:bodyPr>
          <a:lstStyle/>
          <a:p>
            <a:pPr algn="l">
              <a:lnSpc>
                <a:spcPct val="100000"/>
              </a:lnSpc>
            </a:pPr>
            <a:r>
              <a:rPr sz="1700" b="0">
                <a:solidFill>
                  <a:srgbClr val="5B6F68"/>
                </a:solidFill>
                <a:latin typeface="Calibri"/>
              </a:rPr>
              <a:t>The two agree below 1e-9. The graph engine also runs models one Kalman filter can't hold.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What a printed number entitles us to say</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why it matters</a:t>
            </a:r>
          </a:p>
        </p:txBody>
      </p:sp>
      <p:sp>
        <p:nvSpPr>
          <p:cNvPr id="4" name="code"/>
          <p:cNvSpPr/>
          <p:nvPr/>
        </p:nvSpPr>
        <p:spPr>
          <a:xfrm>
            <a:off x="548640" y="1325880"/>
            <a:ext cx="11094415" cy="1242364"/>
          </a:xfrm>
          <a:prstGeom prst="roundRect">
            <a:avLst>
              <a:gd name="adj" fmla="val 8000"/>
            </a:avLst>
          </a:prstGeom>
          <a:solidFill>
            <a:srgbClr val="FFFFFF"/>
          </a:solid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t" wrap="none" lIns="164592" rIns="164592" tIns="115214" bIns="115214"/>
          <a:lstStyle/>
          <a:p>
            <a:pPr algn="l">
              <a:lnSpc>
                <a:spcPct val="100000"/>
              </a:lnSpc>
              <a:spcAft>
                <a:spcPts val="0"/>
              </a:spcAft>
            </a:pPr>
            <a:r>
              <a:rPr sz="1600" b="0">
                <a:solidFill>
                  <a:srgbClr val="16241F"/>
                </a:solidFill>
                <a:latin typeface="Courier New"/>
              </a:rPr>
              <a:t>import cpomdp_workshop as workshop</a:t>
            </a:r>
          </a:p>
          <a:p>
            <a:pPr algn="l">
              <a:lnSpc>
                <a:spcPct val="100000"/>
              </a:lnSpc>
              <a:spcAft>
                <a:spcPts val="0"/>
              </a:spcAft>
            </a:pPr>
            <a:r>
              <a:rPr sz="1600" b="0">
                <a:solidFill>
                  <a:srgbClr val="16241F"/>
                </a:solidFill>
                <a:latin typeface="Courier New"/>
              </a:rPr>
              <a:t> </a:t>
            </a:r>
          </a:p>
          <a:p>
            <a:pPr algn="l">
              <a:lnSpc>
                <a:spcPct val="100000"/>
              </a:lnSpc>
              <a:spcAft>
                <a:spcPts val="0"/>
              </a:spcAft>
            </a:pPr>
            <a:r>
              <a:rPr sz="1600" b="0">
                <a:solidFill>
                  <a:srgbClr val="16241F"/>
                </a:solidFill>
                <a:latin typeface="Courier New"/>
              </a:rPr>
              <a:t>print(curious.selector.certificate)</a:t>
            </a:r>
          </a:p>
          <a:p>
            <a:pPr algn="l">
              <a:lnSpc>
                <a:spcPct val="100000"/>
              </a:lnSpc>
            </a:pPr>
            <a:r>
              <a:rPr sz="1600" b="0">
                <a:solidFill>
                  <a:srgbClr val="16241F"/>
                </a:solidFill>
                <a:latin typeface="Courier New"/>
              </a:rPr>
              <a:t>print(workshop.axis_certificate())</a:t>
            </a:r>
          </a:p>
        </p:txBody>
      </p:sp>
      <p:sp>
        <p:nvSpPr>
          <p:cNvPr id="5" name="printed"/>
          <p:cNvSpPr/>
          <p:nvPr/>
        </p:nvSpPr>
        <p:spPr>
          <a:xfrm>
            <a:off x="548640" y="2796844"/>
            <a:ext cx="11094415" cy="1005840"/>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lnSpc>
                <a:spcPct val="100000"/>
              </a:lnSpc>
              <a:spcAft>
                <a:spcPts val="0"/>
              </a:spcAft>
            </a:pPr>
            <a:r>
              <a:rPr sz="1500" b="0">
                <a:solidFill>
                  <a:srgbClr val="16241F"/>
                </a:solidFill>
                <a:latin typeface="Courier New"/>
              </a:rPr>
              <a:t>PROVED (set compass-9, |A|^H = 9^1 = 9, visited 9)</a:t>
            </a:r>
          </a:p>
          <a:p>
            <a:pPr algn="l">
              <a:lnSpc>
                <a:spcPct val="100000"/>
              </a:lnSpc>
            </a:pPr>
            <a:r>
              <a:rPr sz="1500" b="0">
                <a:solidFill>
                  <a:srgbClr val="16241F"/>
                </a:solidFill>
                <a:latin typeface="Courier New"/>
              </a:rPr>
              <a:t>PROVED (set axis-5, |A|^H = 5^7 = 78125, visited 78125)</a:t>
            </a:r>
          </a:p>
        </p:txBody>
      </p:sp>
      <p:sp>
        <p:nvSpPr>
          <p:cNvPr id="6" name="text"/>
          <p:cNvSpPr txBox="1"/>
          <p:nvPr/>
        </p:nvSpPr>
        <p:spPr>
          <a:xfrm>
            <a:off x="548640" y="4077004"/>
            <a:ext cx="11094415" cy="2232355"/>
          </a:xfrm>
          <a:prstGeom prst="rect">
            <a:avLst/>
          </a:prstGeom>
          <a:noFill/>
        </p:spPr>
        <p:txBody>
          <a:bodyPr wrap="square" lIns="0" rIns="0" tIns="0" bIns="0" anchor="t">
            <a:spAutoFit/>
          </a:bodyPr>
          <a:lstStyle/>
          <a:p>
            <a:pPr algn="l">
              <a:lnSpc>
                <a:spcPct val="100000"/>
              </a:lnSpc>
              <a:spcAft>
                <a:spcPts val="1400"/>
              </a:spcAft>
            </a:pPr>
            <a:r>
              <a:rPr sz="2000" b="0">
                <a:solidFill>
                  <a:srgbClr val="16241F"/>
                </a:solidFill>
                <a:latin typeface="Calibri"/>
              </a:rPr>
              <a:t>PROVED means the search scored every plan in a declared, versioned set. The certificate counts them.</a:t>
            </a:r>
          </a:p>
          <a:p>
            <a:pPr algn="l">
              <a:lnSpc>
                <a:spcPct val="100000"/>
              </a:lnSpc>
            </a:pPr>
            <a:r>
              <a:rPr sz="2000" b="0">
                <a:solidFill>
                  <a:srgbClr val="16241F"/>
                </a:solidFill>
                <a:latin typeface="Calibri"/>
              </a:rPr>
              <a:t>It says what the computation did. It doesn't say the model is right.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A working model is the beginning, not the end</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why it matters</a:t>
            </a:r>
          </a:p>
        </p:txBody>
      </p:sp>
      <p:sp>
        <p:nvSpPr>
          <p:cNvPr id="4" name="card"/>
          <p:cNvSpPr/>
          <p:nvPr/>
        </p:nvSpPr>
        <p:spPr>
          <a:xfrm>
            <a:off x="548640" y="1325880"/>
            <a:ext cx="5410047" cy="2286000"/>
          </a:xfrm>
          <a:prstGeom prst="roundRect">
            <a:avLst>
              <a:gd name="adj" fmla="val 48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2100" b="1">
                <a:solidFill>
                  <a:srgbClr val="007A5A"/>
                </a:solidFill>
                <a:latin typeface="Calibri"/>
              </a:rPr>
              <a:t>What have we demonstrated?</a:t>
            </a:r>
          </a:p>
          <a:p>
            <a:pPr algn="l">
              <a:lnSpc>
                <a:spcPct val="100000"/>
              </a:lnSpc>
            </a:pPr>
            <a:r>
              <a:rPr sz="2100" b="0">
                <a:solidFill>
                  <a:srgbClr val="16241F"/>
                </a:solidFill>
                <a:latin typeface="Calibri"/>
              </a:rPr>
              <a:t>How changing the observation model and the preferences can influence an agent's behaviour.</a:t>
            </a:r>
          </a:p>
        </p:txBody>
      </p:sp>
      <p:sp>
        <p:nvSpPr>
          <p:cNvPr id="5" name="card"/>
          <p:cNvSpPr/>
          <p:nvPr/>
        </p:nvSpPr>
        <p:spPr>
          <a:xfrm>
            <a:off x="6233007" y="1325880"/>
            <a:ext cx="5410047" cy="2286000"/>
          </a:xfrm>
          <a:prstGeom prst="roundRect">
            <a:avLst>
              <a:gd name="adj" fmla="val 48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2100" b="1">
                <a:solidFill>
                  <a:srgbClr val="8A6000"/>
                </a:solidFill>
                <a:latin typeface="Calibri"/>
              </a:rPr>
              <a:t>What remains to be established?</a:t>
            </a:r>
          </a:p>
          <a:p>
            <a:pPr algn="l">
              <a:lnSpc>
                <a:spcPct val="100000"/>
              </a:lnSpc>
            </a:pPr>
            <a:r>
              <a:rPr sz="2100" b="0">
                <a:solidFill>
                  <a:srgbClr val="16241F"/>
                </a:solidFill>
                <a:latin typeface="Calibri"/>
              </a:rPr>
              <a:t>Whether those behaviours generalise, how robust they are, and which parts of the computational model have been independently validated.</a:t>
            </a:r>
          </a:p>
        </p:txBody>
      </p:sp>
      <p:sp>
        <p:nvSpPr>
          <p:cNvPr id="6" name="text"/>
          <p:cNvSpPr txBox="1"/>
          <p:nvPr/>
        </p:nvSpPr>
        <p:spPr>
          <a:xfrm>
            <a:off x="548640" y="3931920"/>
            <a:ext cx="11094415" cy="1463040"/>
          </a:xfrm>
          <a:prstGeom prst="rect">
            <a:avLst/>
          </a:prstGeom>
          <a:noFill/>
        </p:spPr>
        <p:txBody>
          <a:bodyPr wrap="square" lIns="0" rIns="0" tIns="0" bIns="0" anchor="t">
            <a:spAutoFit/>
          </a:bodyPr>
          <a:lstStyle/>
          <a:p>
            <a:pPr algn="l">
              <a:lnSpc>
                <a:spcPct val="100000"/>
              </a:lnSpc>
            </a:pPr>
            <a:r>
              <a:rPr sz="2000" b="0">
                <a:solidFill>
                  <a:srgbClr val="5B6F68"/>
                </a:solidFill>
                <a:latin typeface="Calibri"/>
              </a:rPr>
              <a:t>The rest of this section is about cpomdp itself: what it adds, and what has been built on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What makes cpomdp different</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why it matters</a:t>
            </a:r>
          </a:p>
        </p:txBody>
      </p:sp>
      <p:sp>
        <p:nvSpPr>
          <p:cNvPr id="4" name="card"/>
          <p:cNvSpPr/>
          <p:nvPr/>
        </p:nvSpPr>
        <p:spPr>
          <a:xfrm>
            <a:off x="548640" y="1325880"/>
            <a:ext cx="3515258" cy="1417320"/>
          </a:xfrm>
          <a:prstGeom prst="roundRect">
            <a:avLst>
              <a:gd name="adj" fmla="val 77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700" b="1">
                <a:solidFill>
                  <a:srgbClr val="5B6F68"/>
                </a:solidFill>
                <a:latin typeface="Calibri"/>
              </a:rPr>
              <a:t>pymdp</a:t>
            </a:r>
          </a:p>
          <a:p>
            <a:pPr algn="l">
              <a:lnSpc>
                <a:spcPct val="100000"/>
              </a:lnSpc>
            </a:pPr>
            <a:r>
              <a:rPr sz="1700" b="0">
                <a:solidFill>
                  <a:srgbClr val="16241F"/>
                </a:solidFill>
                <a:latin typeface="Calibri"/>
              </a:rPr>
              <a:t>Discrete states, in Python.</a:t>
            </a:r>
          </a:p>
        </p:txBody>
      </p:sp>
      <p:sp>
        <p:nvSpPr>
          <p:cNvPr id="5" name="card"/>
          <p:cNvSpPr/>
          <p:nvPr/>
        </p:nvSpPr>
        <p:spPr>
          <a:xfrm>
            <a:off x="4338218" y="1325880"/>
            <a:ext cx="3515258" cy="1417320"/>
          </a:xfrm>
          <a:prstGeom prst="roundRect">
            <a:avLst>
              <a:gd name="adj" fmla="val 77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700" b="1">
                <a:solidFill>
                  <a:srgbClr val="8A6000"/>
                </a:solidFill>
                <a:latin typeface="Calibri"/>
              </a:rPr>
              <a:t>cpomdp</a:t>
            </a:r>
          </a:p>
          <a:p>
            <a:pPr algn="l">
              <a:lnSpc>
                <a:spcPct val="100000"/>
              </a:lnSpc>
            </a:pPr>
            <a:r>
              <a:rPr sz="1700" b="0">
                <a:solidFill>
                  <a:srgbClr val="16241F"/>
                </a:solidFill>
                <a:latin typeface="Calibri"/>
              </a:rPr>
              <a:t>Continuous states, in Python on JAX. pymdp's continuous-state sibling.</a:t>
            </a:r>
          </a:p>
        </p:txBody>
      </p:sp>
      <p:sp>
        <p:nvSpPr>
          <p:cNvPr id="6" name="card"/>
          <p:cNvSpPr/>
          <p:nvPr/>
        </p:nvSpPr>
        <p:spPr>
          <a:xfrm>
            <a:off x="8127796" y="1325880"/>
            <a:ext cx="3515258" cy="1417320"/>
          </a:xfrm>
          <a:prstGeom prst="roundRect">
            <a:avLst>
              <a:gd name="adj" fmla="val 77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700" b="1">
                <a:solidFill>
                  <a:srgbClr val="5B6F68"/>
                </a:solidFill>
                <a:latin typeface="Calibri"/>
              </a:rPr>
              <a:t>RxInfer</a:t>
            </a:r>
          </a:p>
          <a:p>
            <a:pPr algn="l">
              <a:lnSpc>
                <a:spcPct val="100000"/>
              </a:lnSpc>
            </a:pPr>
            <a:r>
              <a:rPr sz="1700" b="0">
                <a:solidFill>
                  <a:srgbClr val="16241F"/>
                </a:solidFill>
                <a:latin typeface="Calibri"/>
              </a:rPr>
              <a:t>Message passing on factor graphs, in Julia.</a:t>
            </a:r>
          </a:p>
        </p:txBody>
      </p:sp>
      <p:sp>
        <p:nvSpPr>
          <p:cNvPr id="7" name="card"/>
          <p:cNvSpPr/>
          <p:nvPr/>
        </p:nvSpPr>
        <p:spPr>
          <a:xfrm>
            <a:off x="548640" y="3017520"/>
            <a:ext cx="2567863" cy="2514600"/>
          </a:xfrm>
          <a:prstGeom prst="roundRect">
            <a:avLst>
              <a:gd name="adj" fmla="val 43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600" b="1">
                <a:solidFill>
                  <a:srgbClr val="8A6000"/>
                </a:solidFill>
                <a:latin typeface="Calibri"/>
              </a:rPr>
              <a:t>R(x)</a:t>
            </a:r>
          </a:p>
          <a:p>
            <a:pPr algn="l">
              <a:lnSpc>
                <a:spcPct val="100000"/>
              </a:lnSpc>
            </a:pPr>
            <a:r>
              <a:rPr sz="1600" b="0">
                <a:solidFill>
                  <a:srgbClr val="16241F"/>
                </a:solidFill>
                <a:latin typeface="Calibri"/>
              </a:rPr>
              <a:t>Noise that depends on the state makes the expected information gain differ between actions, where fixed noise makes it the same for all of them.</a:t>
            </a:r>
          </a:p>
        </p:txBody>
      </p:sp>
      <p:sp>
        <p:nvSpPr>
          <p:cNvPr id="8" name="card"/>
          <p:cNvSpPr/>
          <p:nvPr/>
        </p:nvSpPr>
        <p:spPr>
          <a:xfrm>
            <a:off x="3390823" y="3017520"/>
            <a:ext cx="2567863" cy="2514600"/>
          </a:xfrm>
          <a:prstGeom prst="roundRect">
            <a:avLst>
              <a:gd name="adj" fmla="val 43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600" b="1">
                <a:solidFill>
                  <a:srgbClr val="16241F"/>
                </a:solidFill>
                <a:latin typeface="Calibri"/>
              </a:rPr>
              <a:t>Factor graphs</a:t>
            </a:r>
          </a:p>
          <a:p>
            <a:pPr algn="l">
              <a:lnSpc>
                <a:spcPct val="100000"/>
              </a:lnSpc>
            </a:pPr>
            <a:r>
              <a:rPr sz="1600" b="0">
                <a:solidFill>
                  <a:srgbClr val="16241F"/>
                </a:solidFill>
                <a:latin typeface="Calibri"/>
              </a:rPr>
              <a:t>CouplingGraph runs models one Kalman filter can't hold, and refuses to flatten them into one.</a:t>
            </a:r>
          </a:p>
        </p:txBody>
      </p:sp>
      <p:sp>
        <p:nvSpPr>
          <p:cNvPr id="9" name="card"/>
          <p:cNvSpPr/>
          <p:nvPr/>
        </p:nvSpPr>
        <p:spPr>
          <a:xfrm>
            <a:off x="6233007" y="3017520"/>
            <a:ext cx="2567863" cy="2514600"/>
          </a:xfrm>
          <a:prstGeom prst="roundRect">
            <a:avLst>
              <a:gd name="adj" fmla="val 43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600" b="1">
                <a:solidFill>
                  <a:srgbClr val="16241F"/>
                </a:solidFill>
                <a:latin typeface="Calibri"/>
              </a:rPr>
              <a:t>Certificates</a:t>
            </a:r>
          </a:p>
          <a:p>
            <a:pPr algn="l">
              <a:lnSpc>
                <a:spcPct val="100000"/>
              </a:lnSpc>
            </a:pPr>
            <a:r>
              <a:rPr sz="1600" b="0">
                <a:solidFill>
                  <a:srgbClr val="16241F"/>
                </a:solidFill>
                <a:latin typeface="Calibri"/>
              </a:rPr>
              <a:t>An exhaustive search over a declared set of plans returns a certificate that counts every plan it scored.</a:t>
            </a:r>
          </a:p>
        </p:txBody>
      </p:sp>
      <p:sp>
        <p:nvSpPr>
          <p:cNvPr id="10" name="card"/>
          <p:cNvSpPr/>
          <p:nvPr/>
        </p:nvSpPr>
        <p:spPr>
          <a:xfrm>
            <a:off x="9075191" y="3017520"/>
            <a:ext cx="2567863" cy="2514600"/>
          </a:xfrm>
          <a:prstGeom prst="roundRect">
            <a:avLst>
              <a:gd name="adj" fmla="val 43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600" b="1">
                <a:solidFill>
                  <a:srgbClr val="16241F"/>
                </a:solidFill>
                <a:latin typeface="Calibri"/>
              </a:rPr>
              <a:t>Warrants</a:t>
            </a:r>
          </a:p>
          <a:p>
            <a:pPr algn="l">
              <a:lnSpc>
                <a:spcPct val="100000"/>
              </a:lnSpc>
            </a:pPr>
            <a:r>
              <a:rPr sz="1600" b="0">
                <a:solidFill>
                  <a:srgbClr val="16241F"/>
                </a:solidFill>
                <a:latin typeface="Calibri"/>
              </a:rPr>
              <a:t>warrantlib labels each check by how well it's warranted, apart from whether it held.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Already built on cpomdp</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why it matters</a:t>
            </a:r>
          </a:p>
        </p:txBody>
      </p:sp>
      <p:sp>
        <p:nvSpPr>
          <p:cNvPr id="4" name="card"/>
          <p:cNvSpPr/>
          <p:nvPr/>
        </p:nvSpPr>
        <p:spPr>
          <a:xfrm>
            <a:off x="548640" y="1325880"/>
            <a:ext cx="5410047" cy="2240280"/>
          </a:xfrm>
          <a:prstGeom prst="roundRect">
            <a:avLst>
              <a:gd name="adj" fmla="val 489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600"/>
              </a:spcAft>
            </a:pPr>
            <a:r>
              <a:rPr sz="1600" b="1">
                <a:solidFill>
                  <a:srgbClr val="007A5A"/>
                </a:solidFill>
                <a:latin typeface="Calibri"/>
              </a:rPr>
              <a:t>Biology</a:t>
            </a:r>
          </a:p>
          <a:p>
            <a:pPr algn="l">
              <a:lnSpc>
                <a:spcPct val="100000"/>
              </a:lnSpc>
              <a:spcAft>
                <a:spcPts val="600"/>
              </a:spcAft>
            </a:pPr>
            <a:r>
              <a:rPr sz="1600" b="0">
                <a:solidFill>
                  <a:srgbClr val="16241F"/>
                </a:solidFill>
                <a:latin typeface="Calibri"/>
              </a:rPr>
              <a:t>A bacillus hunts for food it can't see, and a beacon gives the food's position away. E. coli chemotaxis runs as a factor graph, its hidden CheA hub inferred from the cell's readouts.</a:t>
            </a:r>
          </a:p>
          <a:p>
            <a:pPr algn="l">
              <a:lnSpc>
                <a:spcPct val="100000"/>
              </a:lnSpc>
            </a:pPr>
            <a:r>
              <a:rPr sz="1050" b="0">
                <a:solidFill>
                  <a:srgbClr val="16241F"/>
                </a:solidFill>
                <a:latin typeface="Courier New"/>
                <a:hlinkClick r:id="rId2"/>
              </a:rPr>
              <a:t>cpomdp.inferogenesis.com/examples/</a:t>
            </a:r>
          </a:p>
        </p:txBody>
      </p:sp>
      <p:sp>
        <p:nvSpPr>
          <p:cNvPr id="5" name="card"/>
          <p:cNvSpPr/>
          <p:nvPr/>
        </p:nvSpPr>
        <p:spPr>
          <a:xfrm>
            <a:off x="6233007" y="1325880"/>
            <a:ext cx="5410047" cy="2240280"/>
          </a:xfrm>
          <a:prstGeom prst="roundRect">
            <a:avLst>
              <a:gd name="adj" fmla="val 489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600"/>
              </a:spcAft>
            </a:pPr>
            <a:r>
              <a:rPr sz="1600" b="1">
                <a:solidFill>
                  <a:srgbClr val="16241F"/>
                </a:solidFill>
                <a:latin typeface="Calibri"/>
              </a:rPr>
              <a:t>Factor graphs</a:t>
            </a:r>
          </a:p>
          <a:p>
            <a:pPr algn="l">
              <a:lnSpc>
                <a:spcPct val="100000"/>
              </a:lnSpc>
              <a:spcAft>
                <a:spcPts val="600"/>
              </a:spcAft>
            </a:pPr>
            <a:r>
              <a:rPr sz="1600" b="0">
                <a:solidFill>
                  <a:srgbClr val="16241F"/>
                </a:solidFill>
                <a:latin typeface="Calibri"/>
              </a:rPr>
              <a:t>With R(x) on a branch, a model can't be flattened into one Kalman filter, and cpomdp refuses to try before it sees any data. With R(x), an agent reads a cue and crosses to the reward. With fixed noise, it stays put.</a:t>
            </a:r>
          </a:p>
          <a:p>
            <a:pPr algn="l">
              <a:lnSpc>
                <a:spcPct val="100000"/>
              </a:lnSpc>
            </a:pPr>
            <a:r>
              <a:rPr sz="1050" b="0">
                <a:solidFill>
                  <a:srgbClr val="16241F"/>
                </a:solidFill>
                <a:latin typeface="Courier New"/>
                <a:hlinkClick r:id="rId3"/>
              </a:rPr>
              <a:t>cpomdp.inferogenesis.com/examples-ffg/</a:t>
            </a:r>
          </a:p>
        </p:txBody>
      </p:sp>
      <p:sp>
        <p:nvSpPr>
          <p:cNvPr id="6" name="card"/>
          <p:cNvSpPr/>
          <p:nvPr/>
        </p:nvSpPr>
        <p:spPr>
          <a:xfrm>
            <a:off x="548640" y="3840480"/>
            <a:ext cx="5410047" cy="2240280"/>
          </a:xfrm>
          <a:prstGeom prst="roundRect">
            <a:avLst>
              <a:gd name="adj" fmla="val 489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600"/>
              </a:spcAft>
            </a:pPr>
            <a:r>
              <a:rPr sz="1600" b="1">
                <a:solidFill>
                  <a:srgbClr val="8A6000"/>
                </a:solidFill>
                <a:latin typeface="Calibri"/>
              </a:rPr>
              <a:t>State-dependent observation noise</a:t>
            </a:r>
          </a:p>
          <a:p>
            <a:pPr algn="l">
              <a:lnSpc>
                <a:spcPct val="100000"/>
              </a:lnSpc>
              <a:spcAft>
                <a:spcPts val="600"/>
              </a:spcAft>
            </a:pPr>
            <a:r>
              <a:rPr sz="1600" b="0">
                <a:solidFill>
                  <a:srgbClr val="16241F"/>
                </a:solidFill>
                <a:latin typeface="Calibri"/>
              </a:rPr>
              <a:t>Coupling R(x) to a mean the agent controls makes the posterior covariance, and so the Kalman gain, depend on the action. A preprint.</a:t>
            </a:r>
          </a:p>
          <a:p>
            <a:pPr algn="l">
              <a:lnSpc>
                <a:spcPct val="100000"/>
              </a:lnSpc>
            </a:pPr>
            <a:r>
              <a:rPr sz="1050" b="0">
                <a:solidFill>
                  <a:srgbClr val="16241F"/>
                </a:solidFill>
                <a:latin typeface="Courier New"/>
                <a:hlinkClick r:id="rId4"/>
              </a:rPr>
              <a:t>inferogenesis.com/research/state-dependent-observation-noise/</a:t>
            </a:r>
          </a:p>
        </p:txBody>
      </p:sp>
      <p:sp>
        <p:nvSpPr>
          <p:cNvPr id="7" name="card"/>
          <p:cNvSpPr/>
          <p:nvPr/>
        </p:nvSpPr>
        <p:spPr>
          <a:xfrm>
            <a:off x="6233007" y="3840480"/>
            <a:ext cx="5410047" cy="2240280"/>
          </a:xfrm>
          <a:prstGeom prst="roundRect">
            <a:avLst>
              <a:gd name="adj" fmla="val 489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600"/>
              </a:spcAft>
            </a:pPr>
            <a:r>
              <a:rPr sz="1600" b="1">
                <a:solidFill>
                  <a:srgbClr val="005F94"/>
                </a:solidFill>
                <a:latin typeface="Calibri"/>
              </a:rPr>
              <a:t>Industry: a compressor's surge margin</a:t>
            </a:r>
          </a:p>
          <a:p>
            <a:pPr algn="l">
              <a:lnSpc>
                <a:spcPct val="100000"/>
              </a:lnSpc>
              <a:spcAft>
                <a:spcPts val="600"/>
              </a:spcAft>
            </a:pPr>
            <a:r>
              <a:rPr sz="1600" b="0">
                <a:solidFill>
                  <a:srgbClr val="16241F"/>
                </a:solidFill>
                <a:latin typeface="Calibri"/>
              </a:rPr>
              <a:t>Two flow meters of equal accuracy, with noise that moves opposite ways with flow, settle the same agent on opposite sides of the surge line.</a:t>
            </a:r>
          </a:p>
          <a:p>
            <a:pPr algn="l">
              <a:lnSpc>
                <a:spcPct val="100000"/>
              </a:lnSpc>
            </a:pPr>
            <a:r>
              <a:rPr sz="1050" b="0">
                <a:solidFill>
                  <a:srgbClr val="16241F"/>
                </a:solidFill>
                <a:latin typeface="Courier New"/>
                <a:hlinkClick r:id="rId5"/>
              </a:rPr>
              <a:t>inferogenesis.com/projects/cpomdp/applied/anti-surge/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Where the research goes next</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why it matters</a:t>
            </a:r>
          </a:p>
        </p:txBody>
      </p:sp>
      <p:sp>
        <p:nvSpPr>
          <p:cNvPr id="4" name="card"/>
          <p:cNvSpPr/>
          <p:nvPr/>
        </p:nvSpPr>
        <p:spPr>
          <a:xfrm>
            <a:off x="548640" y="1325880"/>
            <a:ext cx="3515258" cy="3749039"/>
          </a:xfrm>
          <a:prstGeom prst="roundRect">
            <a:avLst>
              <a:gd name="adj" fmla="val 31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700" b="1">
                <a:solidFill>
                  <a:srgbClr val="8A6000"/>
                </a:solidFill>
                <a:latin typeface="Calibri"/>
              </a:rPr>
              <a:t>p*</a:t>
            </a:r>
          </a:p>
          <a:p>
            <a:pPr algn="l">
              <a:lnSpc>
                <a:spcPct val="100000"/>
              </a:lnSpc>
              <a:spcAft>
                <a:spcPts val="800"/>
              </a:spcAft>
            </a:pPr>
            <a:r>
              <a:rPr sz="1700" b="0">
                <a:solidFill>
                  <a:srgbClr val="5B6F68"/>
                </a:solidFill>
                <a:latin typeface="Calibri"/>
              </a:rPr>
              <a:t>certifiable active inference</a:t>
            </a:r>
          </a:p>
          <a:p>
            <a:pPr algn="l">
              <a:lnSpc>
                <a:spcPct val="100000"/>
              </a:lnSpc>
              <a:spcAft>
                <a:spcPts val="800"/>
              </a:spcAft>
            </a:pPr>
            <a:r>
              <a:rPr sz="1700" b="0">
                <a:solidFill>
                  <a:srgbClr val="16241F"/>
                </a:solidFill>
                <a:latin typeface="Calibri"/>
              </a:rPr>
              <a:t>Hold the agent's model and the world apart. How much free energy does an agent pay for being wrong about the world, and how much for being wrong about what its own model implies?</a:t>
            </a:r>
          </a:p>
          <a:p>
            <a:pPr algn="l">
              <a:lnSpc>
                <a:spcPct val="100000"/>
              </a:lnSpc>
            </a:pPr>
            <a:r>
              <a:rPr sz="1700" b="1">
                <a:solidFill>
                  <a:srgbClr val="007A5A"/>
                </a:solidFill>
                <a:latin typeface="Calibri"/>
              </a:rPr>
              <a:t>Active</a:t>
            </a:r>
          </a:p>
        </p:txBody>
      </p:sp>
      <p:sp>
        <p:nvSpPr>
          <p:cNvPr id="5" name="card"/>
          <p:cNvSpPr/>
          <p:nvPr/>
        </p:nvSpPr>
        <p:spPr>
          <a:xfrm>
            <a:off x="4338218" y="1325880"/>
            <a:ext cx="3515258" cy="3749039"/>
          </a:xfrm>
          <a:prstGeom prst="roundRect">
            <a:avLst>
              <a:gd name="adj" fmla="val 31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700" b="1">
                <a:solidFill>
                  <a:srgbClr val="16241F"/>
                </a:solidFill>
                <a:latin typeface="Calibri"/>
              </a:rPr>
              <a:t>Seam Networks</a:t>
            </a:r>
          </a:p>
          <a:p>
            <a:pPr algn="l">
              <a:lnSpc>
                <a:spcPct val="100000"/>
              </a:lnSpc>
              <a:spcAft>
                <a:spcPts val="800"/>
              </a:spcAft>
            </a:pPr>
            <a:r>
              <a:rPr sz="1700" b="0">
                <a:solidFill>
                  <a:srgbClr val="5B6F68"/>
                </a:solidFill>
                <a:latin typeface="Calibri"/>
              </a:rPr>
              <a:t>agents that meet through a world</a:t>
            </a:r>
          </a:p>
          <a:p>
            <a:pPr algn="l">
              <a:lnSpc>
                <a:spcPct val="100000"/>
              </a:lnSpc>
              <a:spcAft>
                <a:spcPts val="800"/>
              </a:spcAft>
            </a:pPr>
            <a:r>
              <a:rPr sz="1700" b="0">
                <a:solidFill>
                  <a:srgbClr val="16241F"/>
                </a:solidFill>
                <a:latin typeface="Calibri"/>
              </a:rPr>
              <a:t>Active inference agents that meet only through a shared world. Does that structure make sense to explore, and can cpomdp tell?</a:t>
            </a:r>
          </a:p>
          <a:p>
            <a:pPr algn="l">
              <a:lnSpc>
                <a:spcPct val="100000"/>
              </a:lnSpc>
            </a:pPr>
            <a:r>
              <a:rPr sz="1700" b="1">
                <a:solidFill>
                  <a:srgbClr val="8A6000"/>
                </a:solidFill>
                <a:latin typeface="Calibri"/>
              </a:rPr>
              <a:t>Planned. Nothing has run yet.</a:t>
            </a:r>
          </a:p>
        </p:txBody>
      </p:sp>
      <p:sp>
        <p:nvSpPr>
          <p:cNvPr id="6" name="card"/>
          <p:cNvSpPr/>
          <p:nvPr/>
        </p:nvSpPr>
        <p:spPr>
          <a:xfrm>
            <a:off x="8127796" y="1325880"/>
            <a:ext cx="3515258" cy="3749039"/>
          </a:xfrm>
          <a:prstGeom prst="roundRect">
            <a:avLst>
              <a:gd name="adj" fmla="val 31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pPr>
            <a:r>
              <a:rPr sz="1700" b="1">
                <a:solidFill>
                  <a:srgbClr val="16241F"/>
                </a:solidFill>
                <a:latin typeface="Calibri"/>
              </a:rPr>
              <a:t>The Individuating Membrane</a:t>
            </a:r>
          </a:p>
        </p:txBody>
      </p:sp>
      <p:sp>
        <p:nvSpPr>
          <p:cNvPr id="7" name="placeholder"/>
          <p:cNvSpPr/>
          <p:nvPr/>
        </p:nvSpPr>
        <p:spPr>
          <a:xfrm>
            <a:off x="8356396" y="2011680"/>
            <a:ext cx="3058058" cy="1463040"/>
          </a:xfrm>
          <a:prstGeom prst="roundRect">
            <a:avLst>
              <a:gd name="adj" fmla="val 7500"/>
            </a:avLst>
          </a:prstGeom>
          <a:noFill/>
          <a:ln w="15875">
            <a:solidFill>
              <a:srgbClr val="E69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ctr">
              <a:lnSpc>
                <a:spcPct val="100000"/>
              </a:lnSpc>
            </a:pPr>
            <a:r>
              <a:rPr sz="1500" b="0">
                <a:solidFill>
                  <a:srgbClr val="8A6000"/>
                </a:solidFill>
                <a:latin typeface="Calibri"/>
              </a:rPr>
              <a:t>[owner: one line on The Individuating Membrane, and its status]</a:t>
            </a:r>
          </a:p>
        </p:txBody>
      </p:sp>
      <p:sp>
        <p:nvSpPr>
          <p:cNvPr id="8" name="text"/>
          <p:cNvSpPr txBox="1"/>
          <p:nvPr/>
        </p:nvSpPr>
        <p:spPr>
          <a:xfrm>
            <a:off x="548640" y="5532120"/>
            <a:ext cx="11094415" cy="640080"/>
          </a:xfrm>
          <a:prstGeom prst="rect">
            <a:avLst/>
          </a:prstGeom>
          <a:noFill/>
        </p:spPr>
        <p:txBody>
          <a:bodyPr wrap="square" lIns="0" rIns="0" tIns="0" bIns="0" anchor="t">
            <a:spAutoFit/>
          </a:bodyPr>
          <a:lstStyle/>
          <a:p>
            <a:pPr algn="l">
              <a:lnSpc>
                <a:spcPct val="100000"/>
              </a:lnSpc>
            </a:pPr>
            <a:r>
              <a:rPr sz="1700" b="0">
                <a:solidFill>
                  <a:srgbClr val="5B6F68"/>
                </a:solidFill>
                <a:latin typeface="Calibri"/>
              </a:rPr>
              <a:t>p* and its gates  </a:t>
            </a:r>
            <a:r>
              <a:rPr sz="1500" b="0">
                <a:solidFill>
                  <a:srgbClr val="5B6F68"/>
                </a:solidFill>
                <a:latin typeface="Courier New"/>
                <a:hlinkClick r:id="rId2"/>
              </a:rPr>
              <a:t>inferogenesis.com/programmes/p-star/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sp>
        <p:nvSpPr>
          <p:cNvPr id="2" name="title"/>
          <p:cNvSpPr txBox="1"/>
          <p:nvPr/>
        </p:nvSpPr>
        <p:spPr>
          <a:xfrm>
            <a:off x="548640" y="384048"/>
            <a:ext cx="9326880" cy="731520"/>
          </a:xfrm>
          <a:prstGeom prst="rect">
            <a:avLst/>
          </a:prstGeom>
          <a:noFill/>
        </p:spPr>
        <p:txBody>
          <a:bodyPr wrap="square" lIns="0" rIns="0" tIns="0" bIns="0" anchor="ctr">
            <a:spAutoFit/>
          </a:bodyPr>
          <a:lstStyle/>
          <a:p>
            <a:pPr algn="l">
              <a:lnSpc>
                <a:spcPct val="100000"/>
              </a:lnSpc>
            </a:pPr>
            <a:r>
              <a:rPr sz="3200" b="1">
                <a:solidFill>
                  <a:srgbClr val="16241F"/>
                </a:solidFill>
                <a:latin typeface="Calibri"/>
              </a:rPr>
              <a:t>Keep going</a:t>
            </a:r>
          </a:p>
        </p:txBody>
      </p:sp>
      <p:sp>
        <p:nvSpPr>
          <p:cNvPr id="3" name="pill"/>
          <p:cNvSpPr/>
          <p:nvPr/>
        </p:nvSpPr>
        <p:spPr>
          <a:xfrm>
            <a:off x="10085832" y="530352"/>
            <a:ext cx="1554480" cy="384048"/>
          </a:xfrm>
          <a:prstGeom prst="roundRect">
            <a:avLst>
              <a:gd name="adj" fmla="val 8000"/>
            </a:avLst>
          </a:prstGeom>
          <a:noFill/>
          <a:ln w="12700">
            <a:solidFill>
              <a:srgbClr val="D3CE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100000"/>
              </a:lnSpc>
            </a:pPr>
            <a:r>
              <a:rPr sz="1300" b="0">
                <a:solidFill>
                  <a:srgbClr val="5B6F68"/>
                </a:solidFill>
                <a:latin typeface="Calibri"/>
              </a:rPr>
              <a:t>questions</a:t>
            </a:r>
          </a:p>
        </p:txBody>
      </p:sp>
      <p:sp>
        <p:nvSpPr>
          <p:cNvPr id="4" name="card"/>
          <p:cNvSpPr/>
          <p:nvPr/>
        </p:nvSpPr>
        <p:spPr>
          <a:xfrm>
            <a:off x="548640" y="1325880"/>
            <a:ext cx="5410047" cy="1600200"/>
          </a:xfrm>
          <a:prstGeom prst="roundRect">
            <a:avLst>
              <a:gd name="adj" fmla="val 6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700" b="1">
                <a:solidFill>
                  <a:srgbClr val="16241F"/>
                </a:solidFill>
                <a:latin typeface="Calibri"/>
              </a:rPr>
              <a:t>Two moves ahead</a:t>
            </a:r>
          </a:p>
          <a:p>
            <a:pPr algn="l">
              <a:lnSpc>
                <a:spcPct val="100000"/>
              </a:lnSpc>
            </a:pPr>
            <a:r>
              <a:rPr sz="1700" b="0">
                <a:solidFill>
                  <a:srgbClr val="16241F"/>
                </a:solidFill>
                <a:latin typeface="Calibri"/>
              </a:rPr>
              <a:t>The world again, two moves ahead. Each step scores 81 plans in place of 9.</a:t>
            </a:r>
          </a:p>
        </p:txBody>
      </p:sp>
      <p:sp>
        <p:nvSpPr>
          <p:cNvPr id="5" name="card"/>
          <p:cNvSpPr/>
          <p:nvPr/>
        </p:nvSpPr>
        <p:spPr>
          <a:xfrm>
            <a:off x="6233007" y="1325880"/>
            <a:ext cx="5410047" cy="1600200"/>
          </a:xfrm>
          <a:prstGeom prst="roundRect">
            <a:avLst>
              <a:gd name="adj" fmla="val 6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0000"/>
              </a:lnSpc>
              <a:spcAft>
                <a:spcPts val="800"/>
              </a:spcAft>
            </a:pPr>
            <a:r>
              <a:rPr sz="1700" b="1">
                <a:solidFill>
                  <a:srgbClr val="16241F"/>
                </a:solidFill>
                <a:latin typeface="Calibri"/>
              </a:rPr>
              <a:t>A model one filter cannot hold</a:t>
            </a:r>
          </a:p>
          <a:p>
            <a:pPr algn="l">
              <a:lnSpc>
                <a:spcPct val="100000"/>
              </a:lnSpc>
            </a:pPr>
            <a:r>
              <a:rPr sz="1700" b="0">
                <a:solidFill>
                  <a:srgbClr val="16241F"/>
                </a:solidFill>
                <a:latin typeface="Calibri"/>
              </a:rPr>
              <a:t>Two nodes that cpomdp refuses to flatten into one Kalman filter, with its reason.</a:t>
            </a:r>
          </a:p>
        </p:txBody>
      </p:sp>
      <p:sp>
        <p:nvSpPr>
          <p:cNvPr id="6" name="text"/>
          <p:cNvSpPr txBox="1"/>
          <p:nvPr/>
        </p:nvSpPr>
        <p:spPr>
          <a:xfrm>
            <a:off x="548640" y="3154680"/>
            <a:ext cx="3657600" cy="320040"/>
          </a:xfrm>
          <a:prstGeom prst="rect">
            <a:avLst/>
          </a:prstGeom>
          <a:noFill/>
        </p:spPr>
        <p:txBody>
          <a:bodyPr wrap="square" lIns="0" rIns="0" tIns="0" bIns="0" anchor="t">
            <a:spAutoFit/>
          </a:bodyPr>
          <a:lstStyle/>
          <a:p>
            <a:pPr algn="l">
              <a:lnSpc>
                <a:spcPct val="100000"/>
              </a:lnSpc>
            </a:pPr>
            <a:r>
              <a:rPr sz="1500" b="0">
                <a:solidFill>
                  <a:srgbClr val="5B6F68"/>
                </a:solidFill>
                <a:latin typeface="Calibri"/>
              </a:rPr>
              <a:t>repository</a:t>
            </a:r>
          </a:p>
        </p:txBody>
      </p:sp>
      <p:sp>
        <p:nvSpPr>
          <p:cNvPr id="7" name="link"/>
          <p:cNvSpPr txBox="1"/>
          <p:nvPr/>
        </p:nvSpPr>
        <p:spPr>
          <a:xfrm>
            <a:off x="548640" y="3483864"/>
            <a:ext cx="11094415" cy="320040"/>
          </a:xfrm>
          <a:prstGeom prst="rect">
            <a:avLst/>
          </a:prstGeom>
          <a:noFill/>
        </p:spPr>
        <p:txBody>
          <a:bodyPr wrap="none" lIns="0" rIns="0" tIns="0" bIns="0">
            <a:spAutoFit/>
          </a:bodyPr>
          <a:lstStyle/>
          <a:p>
            <a:r>
              <a:rPr sz="1200">
                <a:solidFill>
                  <a:srgbClr val="16241F"/>
                </a:solidFill>
                <a:latin typeface="Courier New"/>
                <a:hlinkClick r:id="rId2"/>
              </a:rPr>
              <a:t>github.com/inferogenesis/cpomdp-workshop</a:t>
            </a:r>
          </a:p>
        </p:txBody>
      </p:sp>
      <p:sp>
        <p:nvSpPr>
          <p:cNvPr id="8" name="text"/>
          <p:cNvSpPr txBox="1"/>
          <p:nvPr/>
        </p:nvSpPr>
        <p:spPr>
          <a:xfrm>
            <a:off x="548640" y="3867912"/>
            <a:ext cx="3657600" cy="320040"/>
          </a:xfrm>
          <a:prstGeom prst="rect">
            <a:avLst/>
          </a:prstGeom>
          <a:noFill/>
        </p:spPr>
        <p:txBody>
          <a:bodyPr wrap="square" lIns="0" rIns="0" tIns="0" bIns="0" anchor="t">
            <a:spAutoFit/>
          </a:bodyPr>
          <a:lstStyle/>
          <a:p>
            <a:pPr algn="l">
              <a:lnSpc>
                <a:spcPct val="100000"/>
              </a:lnSpc>
            </a:pPr>
            <a:r>
              <a:rPr sz="1500" b="0">
                <a:solidFill>
                  <a:srgbClr val="5B6F68"/>
                </a:solidFill>
                <a:latin typeface="Calibri"/>
              </a:rPr>
              <a:t>cpomdp on PyPI</a:t>
            </a:r>
          </a:p>
        </p:txBody>
      </p:sp>
      <p:sp>
        <p:nvSpPr>
          <p:cNvPr id="9" name="link"/>
          <p:cNvSpPr txBox="1"/>
          <p:nvPr/>
        </p:nvSpPr>
        <p:spPr>
          <a:xfrm>
            <a:off x="548640" y="4197096"/>
            <a:ext cx="11094415" cy="320040"/>
          </a:xfrm>
          <a:prstGeom prst="rect">
            <a:avLst/>
          </a:prstGeom>
          <a:noFill/>
        </p:spPr>
        <p:txBody>
          <a:bodyPr wrap="none" lIns="0" rIns="0" tIns="0" bIns="0">
            <a:spAutoFit/>
          </a:bodyPr>
          <a:lstStyle/>
          <a:p>
            <a:r>
              <a:rPr sz="1200">
                <a:solidFill>
                  <a:srgbClr val="16241F"/>
                </a:solidFill>
                <a:latin typeface="Courier New"/>
                <a:hlinkClick r:id="rId3"/>
              </a:rPr>
              <a:t>pypi.org/project/cpomdp/</a:t>
            </a:r>
          </a:p>
        </p:txBody>
      </p:sp>
      <p:sp>
        <p:nvSpPr>
          <p:cNvPr id="10" name="text"/>
          <p:cNvSpPr txBox="1"/>
          <p:nvPr/>
        </p:nvSpPr>
        <p:spPr>
          <a:xfrm>
            <a:off x="548640" y="4581144"/>
            <a:ext cx="3657600" cy="320040"/>
          </a:xfrm>
          <a:prstGeom prst="rect">
            <a:avLst/>
          </a:prstGeom>
          <a:noFill/>
        </p:spPr>
        <p:txBody>
          <a:bodyPr wrap="square" lIns="0" rIns="0" tIns="0" bIns="0" anchor="t">
            <a:spAutoFit/>
          </a:bodyPr>
          <a:lstStyle/>
          <a:p>
            <a:pPr algn="l">
              <a:lnSpc>
                <a:spcPct val="100000"/>
              </a:lnSpc>
            </a:pPr>
            <a:r>
              <a:rPr sz="1500" b="0">
                <a:solidFill>
                  <a:srgbClr val="5B6F68"/>
                </a:solidFill>
                <a:latin typeface="Calibri"/>
              </a:rPr>
              <a:t>Inferogenesis</a:t>
            </a:r>
          </a:p>
        </p:txBody>
      </p:sp>
      <p:sp>
        <p:nvSpPr>
          <p:cNvPr id="11" name="link"/>
          <p:cNvSpPr txBox="1"/>
          <p:nvPr/>
        </p:nvSpPr>
        <p:spPr>
          <a:xfrm>
            <a:off x="548640" y="4910328"/>
            <a:ext cx="11094415" cy="320040"/>
          </a:xfrm>
          <a:prstGeom prst="rect">
            <a:avLst/>
          </a:prstGeom>
          <a:noFill/>
        </p:spPr>
        <p:txBody>
          <a:bodyPr wrap="none" lIns="0" rIns="0" tIns="0" bIns="0">
            <a:spAutoFit/>
          </a:bodyPr>
          <a:lstStyle/>
          <a:p>
            <a:r>
              <a:rPr sz="1200">
                <a:solidFill>
                  <a:srgbClr val="16241F"/>
                </a:solidFill>
                <a:latin typeface="Courier New"/>
                <a:hlinkClick r:id="rId4"/>
              </a:rPr>
              <a:t>inferogenesis.com/</a:t>
            </a:r>
          </a:p>
        </p:txBody>
      </p:sp>
      <p:sp>
        <p:nvSpPr>
          <p:cNvPr id="12" name="text"/>
          <p:cNvSpPr txBox="1"/>
          <p:nvPr/>
        </p:nvSpPr>
        <p:spPr>
          <a:xfrm>
            <a:off x="548640" y="5294376"/>
            <a:ext cx="3657600" cy="320040"/>
          </a:xfrm>
          <a:prstGeom prst="rect">
            <a:avLst/>
          </a:prstGeom>
          <a:noFill/>
        </p:spPr>
        <p:txBody>
          <a:bodyPr wrap="square" lIns="0" rIns="0" tIns="0" bIns="0" anchor="t">
            <a:spAutoFit/>
          </a:bodyPr>
          <a:lstStyle/>
          <a:p>
            <a:pPr algn="l">
              <a:lnSpc>
                <a:spcPct val="100000"/>
              </a:lnSpc>
            </a:pPr>
            <a:r>
              <a:rPr sz="1500" b="0">
                <a:solidFill>
                  <a:srgbClr val="5B6F68"/>
                </a:solidFill>
                <a:latin typeface="Calibri"/>
              </a:rPr>
              <a:t>Discord</a:t>
            </a:r>
          </a:p>
        </p:txBody>
      </p:sp>
      <p:sp>
        <p:nvSpPr>
          <p:cNvPr id="13" name="text"/>
          <p:cNvSpPr txBox="1"/>
          <p:nvPr/>
        </p:nvSpPr>
        <p:spPr>
          <a:xfrm>
            <a:off x="548640" y="5623560"/>
            <a:ext cx="6400800" cy="411480"/>
          </a:xfrm>
          <a:prstGeom prst="rect">
            <a:avLst/>
          </a:prstGeom>
          <a:noFill/>
        </p:spPr>
        <p:txBody>
          <a:bodyPr wrap="square" lIns="0" rIns="0" tIns="0" bIns="0" anchor="t">
            <a:spAutoFit/>
          </a:bodyPr>
          <a:lstStyle/>
          <a:p>
            <a:pPr algn="l">
              <a:lnSpc>
                <a:spcPct val="100000"/>
              </a:lnSpc>
            </a:pPr>
            <a:r>
              <a:rPr sz="1700" b="0">
                <a:solidFill>
                  <a:srgbClr val="16241F"/>
                </a:solidFill>
                <a:latin typeface="Calibri"/>
              </a:rPr>
              <a:t>the cpomdp channel on the AII Discord</a:t>
            </a:r>
          </a:p>
        </p:txBody>
      </p:sp>
      <p:sp>
        <p:nvSpPr>
          <p:cNvPr id="14" name="placeholder"/>
          <p:cNvSpPr/>
          <p:nvPr/>
        </p:nvSpPr>
        <p:spPr>
          <a:xfrm>
            <a:off x="7315200" y="5294376"/>
            <a:ext cx="4327855" cy="731520"/>
          </a:xfrm>
          <a:prstGeom prst="roundRect">
            <a:avLst>
              <a:gd name="adj" fmla="val 8000"/>
            </a:avLst>
          </a:prstGeom>
          <a:noFill/>
          <a:ln w="15875">
            <a:solidFill>
              <a:srgbClr val="E69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ctr">
              <a:lnSpc>
                <a:spcPct val="100000"/>
              </a:lnSpc>
            </a:pPr>
            <a:r>
              <a:rPr sz="1600" b="0">
                <a:solidFill>
                  <a:srgbClr val="8A6000"/>
                </a:solidFill>
                <a:latin typeface="Calibri"/>
              </a:rPr>
              <a:t>[Zenodo DOI of cpomdp 0.5.1]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0E6"/>
        </a:solidFill>
        <a:effectLst/>
      </p:bgPr>
    </p:bg>
    <p:spTree>
      <p:nvGrpSpPr>
        <p:cNvPr id="1" name=""/>
        <p:cNvGrpSpPr/>
        <p:nvPr/>
      </p:nvGrpSpPr>
      <p:grpSpPr/>
      <p:grpSp>
        <p:nvGrpSpPr>
          <p:cNvPr id="2" name="mark"/>
          <p:cNvGrpSpPr/>
          <p:nvPr/>
        </p:nvGrpSpPr>
        <p:grpSpPr>
          <a:xfrm>
            <a:off x="577786" y="532066"/>
            <a:ext cx="291465" cy="748094"/>
            <a:chOff x="577786" y="532066"/>
            <a:chExt cx="291465" cy="748094"/>
          </a:xfrm>
        </p:grpSpPr>
        <p:sp>
          <p:nvSpPr>
            <p:cNvPr id="3" name="Oval 2"/>
            <p:cNvSpPr/>
            <p:nvPr/>
          </p:nvSpPr>
          <p:spPr>
            <a:xfrm>
              <a:off x="577786" y="532066"/>
              <a:ext cx="291465" cy="291465"/>
            </a:xfrm>
            <a:prstGeom prst="ellipse">
              <a:avLst/>
            </a:prstGeom>
            <a:noFill/>
            <a:ln w="63150">
              <a:solidFill>
                <a:srgbClr val="E69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79799" y="634079"/>
              <a:ext cx="87439" cy="87439"/>
            </a:xfrm>
            <a:prstGeom prst="ellipse">
              <a:avLst/>
            </a:prstGeom>
            <a:solidFill>
              <a:srgbClr val="162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0368" y="852678"/>
              <a:ext cx="126301" cy="427482"/>
            </a:xfrm>
            <a:prstGeom prst="roundRect">
              <a:avLst>
                <a:gd name="adj" fmla="val 50000"/>
              </a:avLst>
            </a:prstGeom>
            <a:solidFill>
              <a:srgbClr val="162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6" name="text"/>
          <p:cNvSpPr txBox="1"/>
          <p:nvPr/>
        </p:nvSpPr>
        <p:spPr>
          <a:xfrm>
            <a:off x="548640" y="1463040"/>
            <a:ext cx="6888175" cy="1097280"/>
          </a:xfrm>
          <a:prstGeom prst="rect">
            <a:avLst/>
          </a:prstGeom>
          <a:noFill/>
        </p:spPr>
        <p:txBody>
          <a:bodyPr wrap="square" lIns="0" rIns="0" tIns="0" bIns="0" anchor="t">
            <a:spAutoFit/>
          </a:bodyPr>
          <a:lstStyle/>
          <a:p>
            <a:pPr algn="l">
              <a:lnSpc>
                <a:spcPct val="100000"/>
              </a:lnSpc>
            </a:pPr>
            <a:r>
              <a:rPr sz="6000" b="1">
                <a:solidFill>
                  <a:srgbClr val="16241F"/>
                </a:solidFill>
                <a:latin typeface="Calibri"/>
              </a:rPr>
              <a:t>Thank you</a:t>
            </a:r>
          </a:p>
        </p:txBody>
      </p:sp>
      <p:sp>
        <p:nvSpPr>
          <p:cNvPr id="7" name="text"/>
          <p:cNvSpPr txBox="1"/>
          <p:nvPr/>
        </p:nvSpPr>
        <p:spPr>
          <a:xfrm>
            <a:off x="548640" y="2697480"/>
            <a:ext cx="6888175" cy="1097280"/>
          </a:xfrm>
          <a:prstGeom prst="rect">
            <a:avLst/>
          </a:prstGeom>
          <a:noFill/>
        </p:spPr>
        <p:txBody>
          <a:bodyPr wrap="square" lIns="0" rIns="0" tIns="0" bIns="0" anchor="t">
            <a:spAutoFit/>
          </a:bodyPr>
          <a:lstStyle/>
          <a:p>
            <a:pPr algn="l">
              <a:lnSpc>
                <a:spcPct val="100000"/>
              </a:lnSpc>
              <a:spcAft>
                <a:spcPts val="1000"/>
              </a:spcAft>
            </a:pPr>
            <a:r>
              <a:rPr sz="2400" b="0">
                <a:solidFill>
                  <a:srgbClr val="5B6F68"/>
                </a:solidFill>
                <a:latin typeface="Calibri"/>
              </a:rPr>
              <a:t>Questions now, or on the anonymous form.</a:t>
            </a:r>
          </a:p>
          <a:p>
            <a:pPr algn="l">
              <a:lnSpc>
                <a:spcPct val="100000"/>
              </a:lnSpc>
            </a:pPr>
            <a:r>
              <a:rPr sz="2400" b="0">
                <a:solidFill>
                  <a:srgbClr val="5B6F68"/>
                </a:solidFill>
                <a:latin typeface="Calibri"/>
              </a:rPr>
              <a:t>One up, one down before you go.</a:t>
            </a:r>
          </a:p>
        </p:txBody>
      </p:sp>
      <p:sp>
        <p:nvSpPr>
          <p:cNvPr id="8" name="placeholder"/>
          <p:cNvSpPr/>
          <p:nvPr/>
        </p:nvSpPr>
        <p:spPr>
          <a:xfrm>
            <a:off x="548640" y="4069080"/>
            <a:ext cx="3261207" cy="731520"/>
          </a:xfrm>
          <a:prstGeom prst="roundRect">
            <a:avLst>
              <a:gd name="adj" fmla="val 8000"/>
            </a:avLst>
          </a:prstGeom>
          <a:noFill/>
          <a:ln w="15875">
            <a:solidFill>
              <a:srgbClr val="E69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ctr">
              <a:lnSpc>
                <a:spcPct val="100000"/>
              </a:lnSpc>
            </a:pPr>
            <a:r>
              <a:rPr sz="1600" b="0">
                <a:solidFill>
                  <a:srgbClr val="8A6000"/>
                </a:solidFill>
                <a:latin typeface="Calibri"/>
              </a:rPr>
              <a:t>[survey link]</a:t>
            </a:r>
          </a:p>
        </p:txBody>
      </p:sp>
      <p:sp>
        <p:nvSpPr>
          <p:cNvPr id="9" name="placeholder"/>
          <p:cNvSpPr/>
          <p:nvPr/>
        </p:nvSpPr>
        <p:spPr>
          <a:xfrm>
            <a:off x="4175607" y="4069080"/>
            <a:ext cx="3261207" cy="731520"/>
          </a:xfrm>
          <a:prstGeom prst="roundRect">
            <a:avLst>
              <a:gd name="adj" fmla="val 8000"/>
            </a:avLst>
          </a:prstGeom>
          <a:noFill/>
          <a:ln w="15875">
            <a:solidFill>
              <a:srgbClr val="E69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ctr">
              <a:lnSpc>
                <a:spcPct val="100000"/>
              </a:lnSpc>
            </a:pPr>
            <a:r>
              <a:rPr sz="1600" b="0">
                <a:solidFill>
                  <a:srgbClr val="8A6000"/>
                </a:solidFill>
                <a:latin typeface="Calibri"/>
              </a:rPr>
              <a:t>[email]</a:t>
            </a:r>
          </a:p>
        </p:txBody>
      </p:sp>
      <p:sp>
        <p:nvSpPr>
          <p:cNvPr id="10" name="text"/>
          <p:cNvSpPr txBox="1"/>
          <p:nvPr/>
        </p:nvSpPr>
        <p:spPr>
          <a:xfrm>
            <a:off x="548640" y="5394960"/>
            <a:ext cx="6888175" cy="548640"/>
          </a:xfrm>
          <a:prstGeom prst="rect">
            <a:avLst/>
          </a:prstGeom>
          <a:noFill/>
        </p:spPr>
        <p:txBody>
          <a:bodyPr wrap="square" lIns="0" rIns="0" tIns="0" bIns="0" anchor="t">
            <a:spAutoFit/>
          </a:bodyPr>
          <a:lstStyle/>
          <a:p>
            <a:pPr algn="l">
              <a:lnSpc>
                <a:spcPct val="100000"/>
              </a:lnSpc>
            </a:pPr>
            <a:r>
              <a:rPr sz="1800" b="0">
                <a:solidFill>
                  <a:srgbClr val="5B6F68"/>
                </a:solidFill>
                <a:latin typeface="Calibri"/>
              </a:rPr>
              <a:t>Everything shown runs on cpomdp 0.5.1 from PyPI.</a:t>
            </a:r>
          </a:p>
        </p:txBody>
      </p:sp>
      <p:sp>
        <p:nvSpPr>
          <p:cNvPr id="11" name="qr https://www.linkedin.com/in/kevin-backhouse-112554253"/>
          <p:cNvSpPr/>
          <p:nvPr/>
        </p:nvSpPr>
        <p:spPr>
          <a:xfrm>
            <a:off x="7802575" y="1600200"/>
            <a:ext cx="1737360" cy="1737360"/>
          </a:xfrm>
          <a:custGeom>
            <a:avLst/>
            <a:gdLst/>
            <a:ahLst/>
            <a:cxnLst/>
            <a:rect l="l" t="t" r="r" b="b"/>
            <a:pathLst>
              <a:path w="29" h="29">
                <a:moveTo>
                  <a:pt x="0" y="0"/>
                </a:moveTo>
                <a:lnTo>
                  <a:pt x="7" y="0"/>
                </a:lnTo>
                <a:lnTo>
                  <a:pt x="7" y="1"/>
                </a:lnTo>
                <a:lnTo>
                  <a:pt x="0" y="1"/>
                </a:lnTo>
                <a:close/>
                <a:moveTo>
                  <a:pt x="8" y="0"/>
                </a:moveTo>
                <a:lnTo>
                  <a:pt x="10" y="0"/>
                </a:lnTo>
                <a:lnTo>
                  <a:pt x="10" y="1"/>
                </a:lnTo>
                <a:lnTo>
                  <a:pt x="8" y="1"/>
                </a:lnTo>
                <a:close/>
                <a:moveTo>
                  <a:pt x="12" y="0"/>
                </a:moveTo>
                <a:lnTo>
                  <a:pt x="15" y="0"/>
                </a:lnTo>
                <a:lnTo>
                  <a:pt x="15" y="1"/>
                </a:lnTo>
                <a:lnTo>
                  <a:pt x="12" y="1"/>
                </a:lnTo>
                <a:close/>
                <a:moveTo>
                  <a:pt x="18" y="0"/>
                </a:moveTo>
                <a:lnTo>
                  <a:pt x="19" y="0"/>
                </a:lnTo>
                <a:lnTo>
                  <a:pt x="19" y="1"/>
                </a:lnTo>
                <a:lnTo>
                  <a:pt x="18" y="1"/>
                </a:lnTo>
                <a:close/>
                <a:moveTo>
                  <a:pt x="22" y="0"/>
                </a:moveTo>
                <a:lnTo>
                  <a:pt x="29" y="0"/>
                </a:lnTo>
                <a:lnTo>
                  <a:pt x="29" y="1"/>
                </a:lnTo>
                <a:lnTo>
                  <a:pt x="22" y="1"/>
                </a:lnTo>
                <a:close/>
                <a:moveTo>
                  <a:pt x="0" y="1"/>
                </a:moveTo>
                <a:lnTo>
                  <a:pt x="1" y="1"/>
                </a:lnTo>
                <a:lnTo>
                  <a:pt x="1" y="2"/>
                </a:lnTo>
                <a:lnTo>
                  <a:pt x="0" y="2"/>
                </a:lnTo>
                <a:close/>
                <a:moveTo>
                  <a:pt x="6" y="1"/>
                </a:moveTo>
                <a:lnTo>
                  <a:pt x="7" y="1"/>
                </a:lnTo>
                <a:lnTo>
                  <a:pt x="7" y="2"/>
                </a:lnTo>
                <a:lnTo>
                  <a:pt x="6" y="2"/>
                </a:lnTo>
                <a:close/>
                <a:moveTo>
                  <a:pt x="9" y="1"/>
                </a:moveTo>
                <a:lnTo>
                  <a:pt x="10" y="1"/>
                </a:lnTo>
                <a:lnTo>
                  <a:pt x="10" y="2"/>
                </a:lnTo>
                <a:lnTo>
                  <a:pt x="9" y="2"/>
                </a:lnTo>
                <a:close/>
                <a:moveTo>
                  <a:pt x="12" y="1"/>
                </a:moveTo>
                <a:lnTo>
                  <a:pt x="13" y="1"/>
                </a:lnTo>
                <a:lnTo>
                  <a:pt x="13" y="2"/>
                </a:lnTo>
                <a:lnTo>
                  <a:pt x="12" y="2"/>
                </a:lnTo>
                <a:close/>
                <a:moveTo>
                  <a:pt x="14" y="1"/>
                </a:moveTo>
                <a:lnTo>
                  <a:pt x="15" y="1"/>
                </a:lnTo>
                <a:lnTo>
                  <a:pt x="15" y="2"/>
                </a:lnTo>
                <a:lnTo>
                  <a:pt x="14" y="2"/>
                </a:lnTo>
                <a:close/>
                <a:moveTo>
                  <a:pt x="16" y="1"/>
                </a:moveTo>
                <a:lnTo>
                  <a:pt x="18" y="1"/>
                </a:lnTo>
                <a:lnTo>
                  <a:pt x="18" y="2"/>
                </a:lnTo>
                <a:lnTo>
                  <a:pt x="16" y="2"/>
                </a:lnTo>
                <a:close/>
                <a:moveTo>
                  <a:pt x="19" y="1"/>
                </a:moveTo>
                <a:lnTo>
                  <a:pt x="20" y="1"/>
                </a:lnTo>
                <a:lnTo>
                  <a:pt x="20" y="2"/>
                </a:lnTo>
                <a:lnTo>
                  <a:pt x="19" y="2"/>
                </a:lnTo>
                <a:close/>
                <a:moveTo>
                  <a:pt x="22" y="1"/>
                </a:moveTo>
                <a:lnTo>
                  <a:pt x="23" y="1"/>
                </a:lnTo>
                <a:lnTo>
                  <a:pt x="23" y="2"/>
                </a:lnTo>
                <a:lnTo>
                  <a:pt x="22" y="2"/>
                </a:lnTo>
                <a:close/>
                <a:moveTo>
                  <a:pt x="28" y="1"/>
                </a:moveTo>
                <a:lnTo>
                  <a:pt x="29" y="1"/>
                </a:lnTo>
                <a:lnTo>
                  <a:pt x="29" y="2"/>
                </a:lnTo>
                <a:lnTo>
                  <a:pt x="28" y="2"/>
                </a:lnTo>
                <a:close/>
                <a:moveTo>
                  <a:pt x="0" y="2"/>
                </a:moveTo>
                <a:lnTo>
                  <a:pt x="1" y="2"/>
                </a:lnTo>
                <a:lnTo>
                  <a:pt x="1" y="3"/>
                </a:lnTo>
                <a:lnTo>
                  <a:pt x="0" y="3"/>
                </a:lnTo>
                <a:close/>
                <a:moveTo>
                  <a:pt x="2" y="2"/>
                </a:moveTo>
                <a:lnTo>
                  <a:pt x="5" y="2"/>
                </a:lnTo>
                <a:lnTo>
                  <a:pt x="5" y="3"/>
                </a:lnTo>
                <a:lnTo>
                  <a:pt x="2" y="3"/>
                </a:lnTo>
                <a:close/>
                <a:moveTo>
                  <a:pt x="6" y="2"/>
                </a:moveTo>
                <a:lnTo>
                  <a:pt x="7" y="2"/>
                </a:lnTo>
                <a:lnTo>
                  <a:pt x="7" y="3"/>
                </a:lnTo>
                <a:lnTo>
                  <a:pt x="6" y="3"/>
                </a:lnTo>
                <a:close/>
                <a:moveTo>
                  <a:pt x="9" y="2"/>
                </a:moveTo>
                <a:lnTo>
                  <a:pt x="11" y="2"/>
                </a:lnTo>
                <a:lnTo>
                  <a:pt x="11" y="3"/>
                </a:lnTo>
                <a:lnTo>
                  <a:pt x="9" y="3"/>
                </a:lnTo>
                <a:close/>
                <a:moveTo>
                  <a:pt x="13" y="2"/>
                </a:moveTo>
                <a:lnTo>
                  <a:pt x="17" y="2"/>
                </a:lnTo>
                <a:lnTo>
                  <a:pt x="17" y="3"/>
                </a:lnTo>
                <a:lnTo>
                  <a:pt x="13" y="3"/>
                </a:lnTo>
                <a:close/>
                <a:moveTo>
                  <a:pt x="22" y="2"/>
                </a:moveTo>
                <a:lnTo>
                  <a:pt x="23" y="2"/>
                </a:lnTo>
                <a:lnTo>
                  <a:pt x="23" y="3"/>
                </a:lnTo>
                <a:lnTo>
                  <a:pt x="22" y="3"/>
                </a:lnTo>
                <a:close/>
                <a:moveTo>
                  <a:pt x="24" y="2"/>
                </a:moveTo>
                <a:lnTo>
                  <a:pt x="27" y="2"/>
                </a:lnTo>
                <a:lnTo>
                  <a:pt x="27" y="3"/>
                </a:lnTo>
                <a:lnTo>
                  <a:pt x="24" y="3"/>
                </a:lnTo>
                <a:close/>
                <a:moveTo>
                  <a:pt x="28" y="2"/>
                </a:moveTo>
                <a:lnTo>
                  <a:pt x="29" y="2"/>
                </a:lnTo>
                <a:lnTo>
                  <a:pt x="29" y="3"/>
                </a:lnTo>
                <a:lnTo>
                  <a:pt x="28" y="3"/>
                </a:lnTo>
                <a:close/>
                <a:moveTo>
                  <a:pt x="0" y="3"/>
                </a:moveTo>
                <a:lnTo>
                  <a:pt x="1" y="3"/>
                </a:lnTo>
                <a:lnTo>
                  <a:pt x="1" y="4"/>
                </a:lnTo>
                <a:lnTo>
                  <a:pt x="0" y="4"/>
                </a:lnTo>
                <a:close/>
                <a:moveTo>
                  <a:pt x="2" y="3"/>
                </a:moveTo>
                <a:lnTo>
                  <a:pt x="5" y="3"/>
                </a:lnTo>
                <a:lnTo>
                  <a:pt x="5" y="4"/>
                </a:lnTo>
                <a:lnTo>
                  <a:pt x="2" y="4"/>
                </a:lnTo>
                <a:close/>
                <a:moveTo>
                  <a:pt x="6" y="3"/>
                </a:moveTo>
                <a:lnTo>
                  <a:pt x="7" y="3"/>
                </a:lnTo>
                <a:lnTo>
                  <a:pt x="7" y="4"/>
                </a:lnTo>
                <a:lnTo>
                  <a:pt x="6" y="4"/>
                </a:lnTo>
                <a:close/>
                <a:moveTo>
                  <a:pt x="9" y="3"/>
                </a:moveTo>
                <a:lnTo>
                  <a:pt x="11" y="3"/>
                </a:lnTo>
                <a:lnTo>
                  <a:pt x="11" y="4"/>
                </a:lnTo>
                <a:lnTo>
                  <a:pt x="9" y="4"/>
                </a:lnTo>
                <a:close/>
                <a:moveTo>
                  <a:pt x="13" y="3"/>
                </a:moveTo>
                <a:lnTo>
                  <a:pt x="14" y="3"/>
                </a:lnTo>
                <a:lnTo>
                  <a:pt x="14" y="4"/>
                </a:lnTo>
                <a:lnTo>
                  <a:pt x="13" y="4"/>
                </a:lnTo>
                <a:close/>
                <a:moveTo>
                  <a:pt x="16" y="3"/>
                </a:moveTo>
                <a:lnTo>
                  <a:pt x="18" y="3"/>
                </a:lnTo>
                <a:lnTo>
                  <a:pt x="18" y="4"/>
                </a:lnTo>
                <a:lnTo>
                  <a:pt x="16" y="4"/>
                </a:lnTo>
                <a:close/>
                <a:moveTo>
                  <a:pt x="20" y="3"/>
                </a:moveTo>
                <a:lnTo>
                  <a:pt x="21" y="3"/>
                </a:lnTo>
                <a:lnTo>
                  <a:pt x="21" y="4"/>
                </a:lnTo>
                <a:lnTo>
                  <a:pt x="20" y="4"/>
                </a:lnTo>
                <a:close/>
                <a:moveTo>
                  <a:pt x="22" y="3"/>
                </a:moveTo>
                <a:lnTo>
                  <a:pt x="23" y="3"/>
                </a:lnTo>
                <a:lnTo>
                  <a:pt x="23" y="4"/>
                </a:lnTo>
                <a:lnTo>
                  <a:pt x="22" y="4"/>
                </a:lnTo>
                <a:close/>
                <a:moveTo>
                  <a:pt x="24" y="3"/>
                </a:moveTo>
                <a:lnTo>
                  <a:pt x="27" y="3"/>
                </a:lnTo>
                <a:lnTo>
                  <a:pt x="27" y="4"/>
                </a:lnTo>
                <a:lnTo>
                  <a:pt x="24" y="4"/>
                </a:lnTo>
                <a:close/>
                <a:moveTo>
                  <a:pt x="28" y="3"/>
                </a:moveTo>
                <a:lnTo>
                  <a:pt x="29" y="3"/>
                </a:lnTo>
                <a:lnTo>
                  <a:pt x="29" y="4"/>
                </a:lnTo>
                <a:lnTo>
                  <a:pt x="28" y="4"/>
                </a:lnTo>
                <a:close/>
                <a:moveTo>
                  <a:pt x="0" y="4"/>
                </a:moveTo>
                <a:lnTo>
                  <a:pt x="1" y="4"/>
                </a:lnTo>
                <a:lnTo>
                  <a:pt x="1" y="5"/>
                </a:lnTo>
                <a:lnTo>
                  <a:pt x="0" y="5"/>
                </a:lnTo>
                <a:close/>
                <a:moveTo>
                  <a:pt x="2" y="4"/>
                </a:moveTo>
                <a:lnTo>
                  <a:pt x="5" y="4"/>
                </a:lnTo>
                <a:lnTo>
                  <a:pt x="5" y="5"/>
                </a:lnTo>
                <a:lnTo>
                  <a:pt x="2" y="5"/>
                </a:lnTo>
                <a:close/>
                <a:moveTo>
                  <a:pt x="6" y="4"/>
                </a:moveTo>
                <a:lnTo>
                  <a:pt x="7" y="4"/>
                </a:lnTo>
                <a:lnTo>
                  <a:pt x="7" y="5"/>
                </a:lnTo>
                <a:lnTo>
                  <a:pt x="6" y="5"/>
                </a:lnTo>
                <a:close/>
                <a:moveTo>
                  <a:pt x="9" y="4"/>
                </a:moveTo>
                <a:lnTo>
                  <a:pt x="11" y="4"/>
                </a:lnTo>
                <a:lnTo>
                  <a:pt x="11" y="5"/>
                </a:lnTo>
                <a:lnTo>
                  <a:pt x="9" y="5"/>
                </a:lnTo>
                <a:close/>
                <a:moveTo>
                  <a:pt x="12" y="4"/>
                </a:moveTo>
                <a:lnTo>
                  <a:pt x="15" y="4"/>
                </a:lnTo>
                <a:lnTo>
                  <a:pt x="15" y="5"/>
                </a:lnTo>
                <a:lnTo>
                  <a:pt x="12" y="5"/>
                </a:lnTo>
                <a:close/>
                <a:moveTo>
                  <a:pt x="16" y="4"/>
                </a:moveTo>
                <a:lnTo>
                  <a:pt x="17" y="4"/>
                </a:lnTo>
                <a:lnTo>
                  <a:pt x="17" y="5"/>
                </a:lnTo>
                <a:lnTo>
                  <a:pt x="16" y="5"/>
                </a:lnTo>
                <a:close/>
                <a:moveTo>
                  <a:pt x="18" y="4"/>
                </a:moveTo>
                <a:lnTo>
                  <a:pt x="20" y="4"/>
                </a:lnTo>
                <a:lnTo>
                  <a:pt x="20" y="5"/>
                </a:lnTo>
                <a:lnTo>
                  <a:pt x="18" y="5"/>
                </a:lnTo>
                <a:close/>
                <a:moveTo>
                  <a:pt x="22" y="4"/>
                </a:moveTo>
                <a:lnTo>
                  <a:pt x="23" y="4"/>
                </a:lnTo>
                <a:lnTo>
                  <a:pt x="23" y="5"/>
                </a:lnTo>
                <a:lnTo>
                  <a:pt x="22" y="5"/>
                </a:lnTo>
                <a:close/>
                <a:moveTo>
                  <a:pt x="24" y="4"/>
                </a:moveTo>
                <a:lnTo>
                  <a:pt x="27" y="4"/>
                </a:lnTo>
                <a:lnTo>
                  <a:pt x="27" y="5"/>
                </a:lnTo>
                <a:lnTo>
                  <a:pt x="24" y="5"/>
                </a:lnTo>
                <a:close/>
                <a:moveTo>
                  <a:pt x="28" y="4"/>
                </a:moveTo>
                <a:lnTo>
                  <a:pt x="29" y="4"/>
                </a:lnTo>
                <a:lnTo>
                  <a:pt x="29" y="5"/>
                </a:lnTo>
                <a:lnTo>
                  <a:pt x="28" y="5"/>
                </a:lnTo>
                <a:close/>
                <a:moveTo>
                  <a:pt x="0" y="5"/>
                </a:moveTo>
                <a:lnTo>
                  <a:pt x="1" y="5"/>
                </a:lnTo>
                <a:lnTo>
                  <a:pt x="1" y="6"/>
                </a:lnTo>
                <a:lnTo>
                  <a:pt x="0" y="6"/>
                </a:lnTo>
                <a:close/>
                <a:moveTo>
                  <a:pt x="6" y="5"/>
                </a:moveTo>
                <a:lnTo>
                  <a:pt x="7" y="5"/>
                </a:lnTo>
                <a:lnTo>
                  <a:pt x="7" y="6"/>
                </a:lnTo>
                <a:lnTo>
                  <a:pt x="6" y="6"/>
                </a:lnTo>
                <a:close/>
                <a:moveTo>
                  <a:pt x="11" y="5"/>
                </a:moveTo>
                <a:lnTo>
                  <a:pt x="12" y="5"/>
                </a:lnTo>
                <a:lnTo>
                  <a:pt x="12" y="6"/>
                </a:lnTo>
                <a:lnTo>
                  <a:pt x="11" y="6"/>
                </a:lnTo>
                <a:close/>
                <a:moveTo>
                  <a:pt x="13" y="5"/>
                </a:moveTo>
                <a:lnTo>
                  <a:pt x="14" y="5"/>
                </a:lnTo>
                <a:lnTo>
                  <a:pt x="14" y="6"/>
                </a:lnTo>
                <a:lnTo>
                  <a:pt x="13" y="6"/>
                </a:lnTo>
                <a:close/>
                <a:moveTo>
                  <a:pt x="16" y="5"/>
                </a:moveTo>
                <a:lnTo>
                  <a:pt x="18" y="5"/>
                </a:lnTo>
                <a:lnTo>
                  <a:pt x="18" y="6"/>
                </a:lnTo>
                <a:lnTo>
                  <a:pt x="16" y="6"/>
                </a:lnTo>
                <a:close/>
                <a:moveTo>
                  <a:pt x="22" y="5"/>
                </a:moveTo>
                <a:lnTo>
                  <a:pt x="23" y="5"/>
                </a:lnTo>
                <a:lnTo>
                  <a:pt x="23" y="6"/>
                </a:lnTo>
                <a:lnTo>
                  <a:pt x="22" y="6"/>
                </a:lnTo>
                <a:close/>
                <a:moveTo>
                  <a:pt x="28" y="5"/>
                </a:moveTo>
                <a:lnTo>
                  <a:pt x="29" y="5"/>
                </a:lnTo>
                <a:lnTo>
                  <a:pt x="29" y="6"/>
                </a:lnTo>
                <a:lnTo>
                  <a:pt x="28" y="6"/>
                </a:lnTo>
                <a:close/>
                <a:moveTo>
                  <a:pt x="0" y="6"/>
                </a:moveTo>
                <a:lnTo>
                  <a:pt x="7" y="6"/>
                </a:lnTo>
                <a:lnTo>
                  <a:pt x="7" y="7"/>
                </a:lnTo>
                <a:lnTo>
                  <a:pt x="0" y="7"/>
                </a:lnTo>
                <a:close/>
                <a:moveTo>
                  <a:pt x="8" y="6"/>
                </a:moveTo>
                <a:lnTo>
                  <a:pt x="9" y="6"/>
                </a:lnTo>
                <a:lnTo>
                  <a:pt x="9" y="7"/>
                </a:lnTo>
                <a:lnTo>
                  <a:pt x="8" y="7"/>
                </a:lnTo>
                <a:close/>
                <a:moveTo>
                  <a:pt x="10" y="6"/>
                </a:moveTo>
                <a:lnTo>
                  <a:pt x="11" y="6"/>
                </a:lnTo>
                <a:lnTo>
                  <a:pt x="11" y="7"/>
                </a:lnTo>
                <a:lnTo>
                  <a:pt x="10" y="7"/>
                </a:lnTo>
                <a:close/>
                <a:moveTo>
                  <a:pt x="12" y="6"/>
                </a:moveTo>
                <a:lnTo>
                  <a:pt x="13" y="6"/>
                </a:lnTo>
                <a:lnTo>
                  <a:pt x="13" y="7"/>
                </a:lnTo>
                <a:lnTo>
                  <a:pt x="12" y="7"/>
                </a:lnTo>
                <a:close/>
                <a:moveTo>
                  <a:pt x="14" y="6"/>
                </a:moveTo>
                <a:lnTo>
                  <a:pt x="15" y="6"/>
                </a:lnTo>
                <a:lnTo>
                  <a:pt x="15" y="7"/>
                </a:lnTo>
                <a:lnTo>
                  <a:pt x="14" y="7"/>
                </a:lnTo>
                <a:close/>
                <a:moveTo>
                  <a:pt x="16" y="6"/>
                </a:moveTo>
                <a:lnTo>
                  <a:pt x="17" y="6"/>
                </a:lnTo>
                <a:lnTo>
                  <a:pt x="17" y="7"/>
                </a:lnTo>
                <a:lnTo>
                  <a:pt x="16" y="7"/>
                </a:lnTo>
                <a:close/>
                <a:moveTo>
                  <a:pt x="18" y="6"/>
                </a:moveTo>
                <a:lnTo>
                  <a:pt x="19" y="6"/>
                </a:lnTo>
                <a:lnTo>
                  <a:pt x="19" y="7"/>
                </a:lnTo>
                <a:lnTo>
                  <a:pt x="18" y="7"/>
                </a:lnTo>
                <a:close/>
                <a:moveTo>
                  <a:pt x="20" y="6"/>
                </a:moveTo>
                <a:lnTo>
                  <a:pt x="21" y="6"/>
                </a:lnTo>
                <a:lnTo>
                  <a:pt x="21" y="7"/>
                </a:lnTo>
                <a:lnTo>
                  <a:pt x="20" y="7"/>
                </a:lnTo>
                <a:close/>
                <a:moveTo>
                  <a:pt x="22" y="6"/>
                </a:moveTo>
                <a:lnTo>
                  <a:pt x="29" y="6"/>
                </a:lnTo>
                <a:lnTo>
                  <a:pt x="29" y="7"/>
                </a:lnTo>
                <a:lnTo>
                  <a:pt x="22" y="7"/>
                </a:lnTo>
                <a:close/>
                <a:moveTo>
                  <a:pt x="8" y="7"/>
                </a:moveTo>
                <a:lnTo>
                  <a:pt x="9" y="7"/>
                </a:lnTo>
                <a:lnTo>
                  <a:pt x="9" y="8"/>
                </a:lnTo>
                <a:lnTo>
                  <a:pt x="8" y="8"/>
                </a:lnTo>
                <a:close/>
                <a:moveTo>
                  <a:pt x="10" y="7"/>
                </a:moveTo>
                <a:lnTo>
                  <a:pt x="11" y="7"/>
                </a:lnTo>
                <a:lnTo>
                  <a:pt x="11" y="8"/>
                </a:lnTo>
                <a:lnTo>
                  <a:pt x="10" y="8"/>
                </a:lnTo>
                <a:close/>
                <a:moveTo>
                  <a:pt x="13" y="7"/>
                </a:moveTo>
                <a:lnTo>
                  <a:pt x="14" y="7"/>
                </a:lnTo>
                <a:lnTo>
                  <a:pt x="14" y="8"/>
                </a:lnTo>
                <a:lnTo>
                  <a:pt x="13" y="8"/>
                </a:lnTo>
                <a:close/>
                <a:moveTo>
                  <a:pt x="15" y="7"/>
                </a:moveTo>
                <a:lnTo>
                  <a:pt x="16" y="7"/>
                </a:lnTo>
                <a:lnTo>
                  <a:pt x="16" y="8"/>
                </a:lnTo>
                <a:lnTo>
                  <a:pt x="15" y="8"/>
                </a:lnTo>
                <a:close/>
                <a:moveTo>
                  <a:pt x="0" y="8"/>
                </a:moveTo>
                <a:lnTo>
                  <a:pt x="2" y="8"/>
                </a:lnTo>
                <a:lnTo>
                  <a:pt x="2" y="9"/>
                </a:lnTo>
                <a:lnTo>
                  <a:pt x="0" y="9"/>
                </a:lnTo>
                <a:close/>
                <a:moveTo>
                  <a:pt x="3" y="8"/>
                </a:moveTo>
                <a:lnTo>
                  <a:pt x="5" y="8"/>
                </a:lnTo>
                <a:lnTo>
                  <a:pt x="5" y="9"/>
                </a:lnTo>
                <a:lnTo>
                  <a:pt x="3" y="9"/>
                </a:lnTo>
                <a:close/>
                <a:moveTo>
                  <a:pt x="6" y="8"/>
                </a:moveTo>
                <a:lnTo>
                  <a:pt x="7" y="8"/>
                </a:lnTo>
                <a:lnTo>
                  <a:pt x="7" y="9"/>
                </a:lnTo>
                <a:lnTo>
                  <a:pt x="6" y="9"/>
                </a:lnTo>
                <a:close/>
                <a:moveTo>
                  <a:pt x="10" y="8"/>
                </a:moveTo>
                <a:lnTo>
                  <a:pt x="11" y="8"/>
                </a:lnTo>
                <a:lnTo>
                  <a:pt x="11" y="9"/>
                </a:lnTo>
                <a:lnTo>
                  <a:pt x="10" y="9"/>
                </a:lnTo>
                <a:close/>
                <a:moveTo>
                  <a:pt x="14" y="8"/>
                </a:moveTo>
                <a:lnTo>
                  <a:pt x="19" y="8"/>
                </a:lnTo>
                <a:lnTo>
                  <a:pt x="19" y="9"/>
                </a:lnTo>
                <a:lnTo>
                  <a:pt x="14" y="9"/>
                </a:lnTo>
                <a:close/>
                <a:moveTo>
                  <a:pt x="22" y="8"/>
                </a:moveTo>
                <a:lnTo>
                  <a:pt x="23" y="8"/>
                </a:lnTo>
                <a:lnTo>
                  <a:pt x="23" y="9"/>
                </a:lnTo>
                <a:lnTo>
                  <a:pt x="22" y="9"/>
                </a:lnTo>
                <a:close/>
                <a:moveTo>
                  <a:pt x="28" y="8"/>
                </a:moveTo>
                <a:lnTo>
                  <a:pt x="29" y="8"/>
                </a:lnTo>
                <a:lnTo>
                  <a:pt x="29" y="9"/>
                </a:lnTo>
                <a:lnTo>
                  <a:pt x="28" y="9"/>
                </a:lnTo>
                <a:close/>
                <a:moveTo>
                  <a:pt x="0" y="9"/>
                </a:moveTo>
                <a:lnTo>
                  <a:pt x="1" y="9"/>
                </a:lnTo>
                <a:lnTo>
                  <a:pt x="1" y="10"/>
                </a:lnTo>
                <a:lnTo>
                  <a:pt x="0" y="10"/>
                </a:lnTo>
                <a:close/>
                <a:moveTo>
                  <a:pt x="2" y="9"/>
                </a:moveTo>
                <a:lnTo>
                  <a:pt x="4" y="9"/>
                </a:lnTo>
                <a:lnTo>
                  <a:pt x="4" y="10"/>
                </a:lnTo>
                <a:lnTo>
                  <a:pt x="2" y="10"/>
                </a:lnTo>
                <a:close/>
                <a:moveTo>
                  <a:pt x="5" y="9"/>
                </a:moveTo>
                <a:lnTo>
                  <a:pt x="6" y="9"/>
                </a:lnTo>
                <a:lnTo>
                  <a:pt x="6" y="10"/>
                </a:lnTo>
                <a:lnTo>
                  <a:pt x="5" y="10"/>
                </a:lnTo>
                <a:close/>
                <a:moveTo>
                  <a:pt x="8" y="9"/>
                </a:moveTo>
                <a:lnTo>
                  <a:pt x="9" y="9"/>
                </a:lnTo>
                <a:lnTo>
                  <a:pt x="9" y="10"/>
                </a:lnTo>
                <a:lnTo>
                  <a:pt x="8" y="10"/>
                </a:lnTo>
                <a:close/>
                <a:moveTo>
                  <a:pt x="11" y="9"/>
                </a:moveTo>
                <a:lnTo>
                  <a:pt x="16" y="9"/>
                </a:lnTo>
                <a:lnTo>
                  <a:pt x="16" y="10"/>
                </a:lnTo>
                <a:lnTo>
                  <a:pt x="11" y="10"/>
                </a:lnTo>
                <a:close/>
                <a:moveTo>
                  <a:pt x="17" y="9"/>
                </a:moveTo>
                <a:lnTo>
                  <a:pt x="21" y="9"/>
                </a:lnTo>
                <a:lnTo>
                  <a:pt x="21" y="10"/>
                </a:lnTo>
                <a:lnTo>
                  <a:pt x="17" y="10"/>
                </a:lnTo>
                <a:close/>
                <a:moveTo>
                  <a:pt x="23" y="9"/>
                </a:moveTo>
                <a:lnTo>
                  <a:pt x="25" y="9"/>
                </a:lnTo>
                <a:lnTo>
                  <a:pt x="25" y="10"/>
                </a:lnTo>
                <a:lnTo>
                  <a:pt x="23" y="10"/>
                </a:lnTo>
                <a:close/>
                <a:moveTo>
                  <a:pt x="26" y="9"/>
                </a:moveTo>
                <a:lnTo>
                  <a:pt x="28" y="9"/>
                </a:lnTo>
                <a:lnTo>
                  <a:pt x="28" y="10"/>
                </a:lnTo>
                <a:lnTo>
                  <a:pt x="26" y="10"/>
                </a:lnTo>
                <a:close/>
                <a:moveTo>
                  <a:pt x="0" y="10"/>
                </a:moveTo>
                <a:lnTo>
                  <a:pt x="2" y="10"/>
                </a:lnTo>
                <a:lnTo>
                  <a:pt x="2" y="11"/>
                </a:lnTo>
                <a:lnTo>
                  <a:pt x="0" y="11"/>
                </a:lnTo>
                <a:close/>
                <a:moveTo>
                  <a:pt x="6" y="10"/>
                </a:moveTo>
                <a:lnTo>
                  <a:pt x="7" y="10"/>
                </a:lnTo>
                <a:lnTo>
                  <a:pt x="7" y="11"/>
                </a:lnTo>
                <a:lnTo>
                  <a:pt x="6" y="11"/>
                </a:lnTo>
                <a:close/>
                <a:moveTo>
                  <a:pt x="8" y="10"/>
                </a:moveTo>
                <a:lnTo>
                  <a:pt x="9" y="10"/>
                </a:lnTo>
                <a:lnTo>
                  <a:pt x="9" y="11"/>
                </a:lnTo>
                <a:lnTo>
                  <a:pt x="8" y="11"/>
                </a:lnTo>
                <a:close/>
                <a:moveTo>
                  <a:pt x="11" y="10"/>
                </a:moveTo>
                <a:lnTo>
                  <a:pt x="12" y="10"/>
                </a:lnTo>
                <a:lnTo>
                  <a:pt x="12" y="11"/>
                </a:lnTo>
                <a:lnTo>
                  <a:pt x="11" y="11"/>
                </a:lnTo>
                <a:close/>
                <a:moveTo>
                  <a:pt x="14" y="10"/>
                </a:moveTo>
                <a:lnTo>
                  <a:pt x="17" y="10"/>
                </a:lnTo>
                <a:lnTo>
                  <a:pt x="17" y="11"/>
                </a:lnTo>
                <a:lnTo>
                  <a:pt x="14" y="11"/>
                </a:lnTo>
                <a:close/>
                <a:moveTo>
                  <a:pt x="20" y="10"/>
                </a:moveTo>
                <a:lnTo>
                  <a:pt x="21" y="10"/>
                </a:lnTo>
                <a:lnTo>
                  <a:pt x="21" y="11"/>
                </a:lnTo>
                <a:lnTo>
                  <a:pt x="20" y="11"/>
                </a:lnTo>
                <a:close/>
                <a:moveTo>
                  <a:pt x="22" y="10"/>
                </a:moveTo>
                <a:lnTo>
                  <a:pt x="24" y="10"/>
                </a:lnTo>
                <a:lnTo>
                  <a:pt x="24" y="11"/>
                </a:lnTo>
                <a:lnTo>
                  <a:pt x="22" y="11"/>
                </a:lnTo>
                <a:close/>
                <a:moveTo>
                  <a:pt x="26" y="10"/>
                </a:moveTo>
                <a:lnTo>
                  <a:pt x="27" y="10"/>
                </a:lnTo>
                <a:lnTo>
                  <a:pt x="27" y="11"/>
                </a:lnTo>
                <a:lnTo>
                  <a:pt x="26" y="11"/>
                </a:lnTo>
                <a:close/>
                <a:moveTo>
                  <a:pt x="2" y="11"/>
                </a:moveTo>
                <a:lnTo>
                  <a:pt x="6" y="11"/>
                </a:lnTo>
                <a:lnTo>
                  <a:pt x="6" y="12"/>
                </a:lnTo>
                <a:lnTo>
                  <a:pt x="2" y="12"/>
                </a:lnTo>
                <a:close/>
                <a:moveTo>
                  <a:pt x="8" y="11"/>
                </a:moveTo>
                <a:lnTo>
                  <a:pt x="9" y="11"/>
                </a:lnTo>
                <a:lnTo>
                  <a:pt x="9" y="12"/>
                </a:lnTo>
                <a:lnTo>
                  <a:pt x="8" y="12"/>
                </a:lnTo>
                <a:close/>
                <a:moveTo>
                  <a:pt x="11" y="11"/>
                </a:moveTo>
                <a:lnTo>
                  <a:pt x="12" y="11"/>
                </a:lnTo>
                <a:lnTo>
                  <a:pt x="12" y="12"/>
                </a:lnTo>
                <a:lnTo>
                  <a:pt x="11" y="12"/>
                </a:lnTo>
                <a:close/>
                <a:moveTo>
                  <a:pt x="17" y="11"/>
                </a:moveTo>
                <a:lnTo>
                  <a:pt x="18" y="11"/>
                </a:lnTo>
                <a:lnTo>
                  <a:pt x="18" y="12"/>
                </a:lnTo>
                <a:lnTo>
                  <a:pt x="17" y="12"/>
                </a:lnTo>
                <a:close/>
                <a:moveTo>
                  <a:pt x="19" y="11"/>
                </a:moveTo>
                <a:lnTo>
                  <a:pt x="21" y="11"/>
                </a:lnTo>
                <a:lnTo>
                  <a:pt x="21" y="12"/>
                </a:lnTo>
                <a:lnTo>
                  <a:pt x="19" y="12"/>
                </a:lnTo>
                <a:close/>
                <a:moveTo>
                  <a:pt x="22" y="11"/>
                </a:moveTo>
                <a:lnTo>
                  <a:pt x="23" y="11"/>
                </a:lnTo>
                <a:lnTo>
                  <a:pt x="23" y="12"/>
                </a:lnTo>
                <a:lnTo>
                  <a:pt x="22" y="12"/>
                </a:lnTo>
                <a:close/>
                <a:moveTo>
                  <a:pt x="25" y="11"/>
                </a:moveTo>
                <a:lnTo>
                  <a:pt x="26" y="11"/>
                </a:lnTo>
                <a:lnTo>
                  <a:pt x="26" y="12"/>
                </a:lnTo>
                <a:lnTo>
                  <a:pt x="25" y="12"/>
                </a:lnTo>
                <a:close/>
                <a:moveTo>
                  <a:pt x="28" y="11"/>
                </a:moveTo>
                <a:lnTo>
                  <a:pt x="29" y="11"/>
                </a:lnTo>
                <a:lnTo>
                  <a:pt x="29" y="12"/>
                </a:lnTo>
                <a:lnTo>
                  <a:pt x="28" y="12"/>
                </a:lnTo>
                <a:close/>
                <a:moveTo>
                  <a:pt x="0" y="12"/>
                </a:moveTo>
                <a:lnTo>
                  <a:pt x="2" y="12"/>
                </a:lnTo>
                <a:lnTo>
                  <a:pt x="2" y="13"/>
                </a:lnTo>
                <a:lnTo>
                  <a:pt x="0" y="13"/>
                </a:lnTo>
                <a:close/>
                <a:moveTo>
                  <a:pt x="3" y="12"/>
                </a:moveTo>
                <a:lnTo>
                  <a:pt x="7" y="12"/>
                </a:lnTo>
                <a:lnTo>
                  <a:pt x="7" y="13"/>
                </a:lnTo>
                <a:lnTo>
                  <a:pt x="3" y="13"/>
                </a:lnTo>
                <a:close/>
                <a:moveTo>
                  <a:pt x="9" y="12"/>
                </a:moveTo>
                <a:lnTo>
                  <a:pt x="12" y="12"/>
                </a:lnTo>
                <a:lnTo>
                  <a:pt x="12" y="13"/>
                </a:lnTo>
                <a:lnTo>
                  <a:pt x="9" y="13"/>
                </a:lnTo>
                <a:close/>
                <a:moveTo>
                  <a:pt x="16" y="12"/>
                </a:moveTo>
                <a:lnTo>
                  <a:pt x="17" y="12"/>
                </a:lnTo>
                <a:lnTo>
                  <a:pt x="17" y="13"/>
                </a:lnTo>
                <a:lnTo>
                  <a:pt x="16" y="13"/>
                </a:lnTo>
                <a:close/>
                <a:moveTo>
                  <a:pt x="20" y="12"/>
                </a:moveTo>
                <a:lnTo>
                  <a:pt x="21" y="12"/>
                </a:lnTo>
                <a:lnTo>
                  <a:pt x="21" y="13"/>
                </a:lnTo>
                <a:lnTo>
                  <a:pt x="20" y="13"/>
                </a:lnTo>
                <a:close/>
                <a:moveTo>
                  <a:pt x="22" y="12"/>
                </a:moveTo>
                <a:lnTo>
                  <a:pt x="24" y="12"/>
                </a:lnTo>
                <a:lnTo>
                  <a:pt x="24" y="13"/>
                </a:lnTo>
                <a:lnTo>
                  <a:pt x="22" y="13"/>
                </a:lnTo>
                <a:close/>
                <a:moveTo>
                  <a:pt x="28" y="12"/>
                </a:moveTo>
                <a:lnTo>
                  <a:pt x="29" y="12"/>
                </a:lnTo>
                <a:lnTo>
                  <a:pt x="29" y="13"/>
                </a:lnTo>
                <a:lnTo>
                  <a:pt x="28" y="13"/>
                </a:lnTo>
                <a:close/>
                <a:moveTo>
                  <a:pt x="0" y="13"/>
                </a:moveTo>
                <a:lnTo>
                  <a:pt x="1" y="13"/>
                </a:lnTo>
                <a:lnTo>
                  <a:pt x="1" y="14"/>
                </a:lnTo>
                <a:lnTo>
                  <a:pt x="0" y="14"/>
                </a:lnTo>
                <a:close/>
                <a:moveTo>
                  <a:pt x="3" y="13"/>
                </a:moveTo>
                <a:lnTo>
                  <a:pt x="4" y="13"/>
                </a:lnTo>
                <a:lnTo>
                  <a:pt x="4" y="14"/>
                </a:lnTo>
                <a:lnTo>
                  <a:pt x="3" y="14"/>
                </a:lnTo>
                <a:close/>
                <a:moveTo>
                  <a:pt x="7" y="13"/>
                </a:moveTo>
                <a:lnTo>
                  <a:pt x="10" y="13"/>
                </a:lnTo>
                <a:lnTo>
                  <a:pt x="10" y="14"/>
                </a:lnTo>
                <a:lnTo>
                  <a:pt x="7" y="14"/>
                </a:lnTo>
                <a:close/>
                <a:moveTo>
                  <a:pt x="11" y="13"/>
                </a:moveTo>
                <a:lnTo>
                  <a:pt x="13" y="13"/>
                </a:lnTo>
                <a:lnTo>
                  <a:pt x="13" y="14"/>
                </a:lnTo>
                <a:lnTo>
                  <a:pt x="11" y="14"/>
                </a:lnTo>
                <a:close/>
                <a:moveTo>
                  <a:pt x="14" y="13"/>
                </a:moveTo>
                <a:lnTo>
                  <a:pt x="16" y="13"/>
                </a:lnTo>
                <a:lnTo>
                  <a:pt x="16" y="14"/>
                </a:lnTo>
                <a:lnTo>
                  <a:pt x="14" y="14"/>
                </a:lnTo>
                <a:close/>
                <a:moveTo>
                  <a:pt x="17" y="13"/>
                </a:moveTo>
                <a:lnTo>
                  <a:pt x="19" y="13"/>
                </a:lnTo>
                <a:lnTo>
                  <a:pt x="19" y="14"/>
                </a:lnTo>
                <a:lnTo>
                  <a:pt x="17" y="14"/>
                </a:lnTo>
                <a:close/>
                <a:moveTo>
                  <a:pt x="22" y="13"/>
                </a:moveTo>
                <a:lnTo>
                  <a:pt x="23" y="13"/>
                </a:lnTo>
                <a:lnTo>
                  <a:pt x="23" y="14"/>
                </a:lnTo>
                <a:lnTo>
                  <a:pt x="22" y="14"/>
                </a:lnTo>
                <a:close/>
                <a:moveTo>
                  <a:pt x="24" y="13"/>
                </a:moveTo>
                <a:lnTo>
                  <a:pt x="29" y="13"/>
                </a:lnTo>
                <a:lnTo>
                  <a:pt x="29" y="14"/>
                </a:lnTo>
                <a:lnTo>
                  <a:pt x="24" y="14"/>
                </a:lnTo>
                <a:close/>
                <a:moveTo>
                  <a:pt x="2" y="14"/>
                </a:moveTo>
                <a:lnTo>
                  <a:pt x="3" y="14"/>
                </a:lnTo>
                <a:lnTo>
                  <a:pt x="3" y="15"/>
                </a:lnTo>
                <a:lnTo>
                  <a:pt x="2" y="15"/>
                </a:lnTo>
                <a:close/>
                <a:moveTo>
                  <a:pt x="4" y="14"/>
                </a:moveTo>
                <a:lnTo>
                  <a:pt x="5" y="14"/>
                </a:lnTo>
                <a:lnTo>
                  <a:pt x="5" y="15"/>
                </a:lnTo>
                <a:lnTo>
                  <a:pt x="4" y="15"/>
                </a:lnTo>
                <a:close/>
                <a:moveTo>
                  <a:pt x="6" y="14"/>
                </a:moveTo>
                <a:lnTo>
                  <a:pt x="11" y="14"/>
                </a:lnTo>
                <a:lnTo>
                  <a:pt x="11" y="15"/>
                </a:lnTo>
                <a:lnTo>
                  <a:pt x="6" y="15"/>
                </a:lnTo>
                <a:close/>
                <a:moveTo>
                  <a:pt x="12" y="14"/>
                </a:moveTo>
                <a:lnTo>
                  <a:pt x="13" y="14"/>
                </a:lnTo>
                <a:lnTo>
                  <a:pt x="13" y="15"/>
                </a:lnTo>
                <a:lnTo>
                  <a:pt x="12" y="15"/>
                </a:lnTo>
                <a:close/>
                <a:moveTo>
                  <a:pt x="14" y="14"/>
                </a:moveTo>
                <a:lnTo>
                  <a:pt x="17" y="14"/>
                </a:lnTo>
                <a:lnTo>
                  <a:pt x="17" y="15"/>
                </a:lnTo>
                <a:lnTo>
                  <a:pt x="14" y="15"/>
                </a:lnTo>
                <a:close/>
                <a:moveTo>
                  <a:pt x="18" y="14"/>
                </a:moveTo>
                <a:lnTo>
                  <a:pt x="22" y="14"/>
                </a:lnTo>
                <a:lnTo>
                  <a:pt x="22" y="15"/>
                </a:lnTo>
                <a:lnTo>
                  <a:pt x="18" y="15"/>
                </a:lnTo>
                <a:close/>
                <a:moveTo>
                  <a:pt x="23" y="14"/>
                </a:moveTo>
                <a:lnTo>
                  <a:pt x="24" y="14"/>
                </a:lnTo>
                <a:lnTo>
                  <a:pt x="24" y="15"/>
                </a:lnTo>
                <a:lnTo>
                  <a:pt x="23" y="15"/>
                </a:lnTo>
                <a:close/>
                <a:moveTo>
                  <a:pt x="26" y="14"/>
                </a:moveTo>
                <a:lnTo>
                  <a:pt x="27" y="14"/>
                </a:lnTo>
                <a:lnTo>
                  <a:pt x="27" y="15"/>
                </a:lnTo>
                <a:lnTo>
                  <a:pt x="26" y="15"/>
                </a:lnTo>
                <a:close/>
                <a:moveTo>
                  <a:pt x="28" y="14"/>
                </a:moveTo>
                <a:lnTo>
                  <a:pt x="29" y="14"/>
                </a:lnTo>
                <a:lnTo>
                  <a:pt x="29" y="15"/>
                </a:lnTo>
                <a:lnTo>
                  <a:pt x="28" y="15"/>
                </a:lnTo>
                <a:close/>
                <a:moveTo>
                  <a:pt x="0" y="15"/>
                </a:moveTo>
                <a:lnTo>
                  <a:pt x="1" y="15"/>
                </a:lnTo>
                <a:lnTo>
                  <a:pt x="1" y="16"/>
                </a:lnTo>
                <a:lnTo>
                  <a:pt x="0" y="16"/>
                </a:lnTo>
                <a:close/>
                <a:moveTo>
                  <a:pt x="2" y="15"/>
                </a:moveTo>
                <a:lnTo>
                  <a:pt x="3" y="15"/>
                </a:lnTo>
                <a:lnTo>
                  <a:pt x="3" y="16"/>
                </a:lnTo>
                <a:lnTo>
                  <a:pt x="2" y="16"/>
                </a:lnTo>
                <a:close/>
                <a:moveTo>
                  <a:pt x="8" y="15"/>
                </a:moveTo>
                <a:lnTo>
                  <a:pt x="9" y="15"/>
                </a:lnTo>
                <a:lnTo>
                  <a:pt x="9" y="16"/>
                </a:lnTo>
                <a:lnTo>
                  <a:pt x="8" y="16"/>
                </a:lnTo>
                <a:close/>
                <a:moveTo>
                  <a:pt x="10" y="15"/>
                </a:moveTo>
                <a:lnTo>
                  <a:pt x="13" y="15"/>
                </a:lnTo>
                <a:lnTo>
                  <a:pt x="13" y="16"/>
                </a:lnTo>
                <a:lnTo>
                  <a:pt x="10" y="16"/>
                </a:lnTo>
                <a:close/>
                <a:moveTo>
                  <a:pt x="15" y="15"/>
                </a:moveTo>
                <a:lnTo>
                  <a:pt x="16" y="15"/>
                </a:lnTo>
                <a:lnTo>
                  <a:pt x="16" y="16"/>
                </a:lnTo>
                <a:lnTo>
                  <a:pt x="15" y="16"/>
                </a:lnTo>
                <a:close/>
                <a:moveTo>
                  <a:pt x="20" y="15"/>
                </a:moveTo>
                <a:lnTo>
                  <a:pt x="25" y="15"/>
                </a:lnTo>
                <a:lnTo>
                  <a:pt x="25" y="16"/>
                </a:lnTo>
                <a:lnTo>
                  <a:pt x="20" y="16"/>
                </a:lnTo>
                <a:close/>
                <a:moveTo>
                  <a:pt x="26" y="15"/>
                </a:moveTo>
                <a:lnTo>
                  <a:pt x="27" y="15"/>
                </a:lnTo>
                <a:lnTo>
                  <a:pt x="27" y="16"/>
                </a:lnTo>
                <a:lnTo>
                  <a:pt x="26" y="16"/>
                </a:lnTo>
                <a:close/>
                <a:moveTo>
                  <a:pt x="28" y="15"/>
                </a:moveTo>
                <a:lnTo>
                  <a:pt x="29" y="15"/>
                </a:lnTo>
                <a:lnTo>
                  <a:pt x="29" y="16"/>
                </a:lnTo>
                <a:lnTo>
                  <a:pt x="28" y="16"/>
                </a:lnTo>
                <a:close/>
                <a:moveTo>
                  <a:pt x="2" y="16"/>
                </a:moveTo>
                <a:lnTo>
                  <a:pt x="4" y="16"/>
                </a:lnTo>
                <a:lnTo>
                  <a:pt x="4" y="17"/>
                </a:lnTo>
                <a:lnTo>
                  <a:pt x="2" y="17"/>
                </a:lnTo>
                <a:close/>
                <a:moveTo>
                  <a:pt x="6" y="16"/>
                </a:moveTo>
                <a:lnTo>
                  <a:pt x="12" y="16"/>
                </a:lnTo>
                <a:lnTo>
                  <a:pt x="12" y="17"/>
                </a:lnTo>
                <a:lnTo>
                  <a:pt x="6" y="17"/>
                </a:lnTo>
                <a:close/>
                <a:moveTo>
                  <a:pt x="13" y="16"/>
                </a:moveTo>
                <a:lnTo>
                  <a:pt x="14" y="16"/>
                </a:lnTo>
                <a:lnTo>
                  <a:pt x="14" y="17"/>
                </a:lnTo>
                <a:lnTo>
                  <a:pt x="13" y="17"/>
                </a:lnTo>
                <a:close/>
                <a:moveTo>
                  <a:pt x="19" y="16"/>
                </a:moveTo>
                <a:lnTo>
                  <a:pt x="21" y="16"/>
                </a:lnTo>
                <a:lnTo>
                  <a:pt x="21" y="17"/>
                </a:lnTo>
                <a:lnTo>
                  <a:pt x="19" y="17"/>
                </a:lnTo>
                <a:close/>
                <a:moveTo>
                  <a:pt x="25" y="16"/>
                </a:moveTo>
                <a:lnTo>
                  <a:pt x="26" y="16"/>
                </a:lnTo>
                <a:lnTo>
                  <a:pt x="26" y="17"/>
                </a:lnTo>
                <a:lnTo>
                  <a:pt x="25" y="17"/>
                </a:lnTo>
                <a:close/>
                <a:moveTo>
                  <a:pt x="0" y="17"/>
                </a:moveTo>
                <a:lnTo>
                  <a:pt x="2" y="17"/>
                </a:lnTo>
                <a:lnTo>
                  <a:pt x="2" y="18"/>
                </a:lnTo>
                <a:lnTo>
                  <a:pt x="0" y="18"/>
                </a:lnTo>
                <a:close/>
                <a:moveTo>
                  <a:pt x="4" y="17"/>
                </a:moveTo>
                <a:lnTo>
                  <a:pt x="6" y="17"/>
                </a:lnTo>
                <a:lnTo>
                  <a:pt x="6" y="18"/>
                </a:lnTo>
                <a:lnTo>
                  <a:pt x="4" y="18"/>
                </a:lnTo>
                <a:close/>
                <a:moveTo>
                  <a:pt x="10" y="17"/>
                </a:moveTo>
                <a:lnTo>
                  <a:pt x="11" y="17"/>
                </a:lnTo>
                <a:lnTo>
                  <a:pt x="11" y="18"/>
                </a:lnTo>
                <a:lnTo>
                  <a:pt x="10" y="18"/>
                </a:lnTo>
                <a:close/>
                <a:moveTo>
                  <a:pt x="12" y="17"/>
                </a:moveTo>
                <a:lnTo>
                  <a:pt x="13" y="17"/>
                </a:lnTo>
                <a:lnTo>
                  <a:pt x="13" y="18"/>
                </a:lnTo>
                <a:lnTo>
                  <a:pt x="12" y="18"/>
                </a:lnTo>
                <a:close/>
                <a:moveTo>
                  <a:pt x="14" y="17"/>
                </a:moveTo>
                <a:lnTo>
                  <a:pt x="16" y="17"/>
                </a:lnTo>
                <a:lnTo>
                  <a:pt x="16" y="18"/>
                </a:lnTo>
                <a:lnTo>
                  <a:pt x="14" y="18"/>
                </a:lnTo>
                <a:close/>
                <a:moveTo>
                  <a:pt x="18" y="17"/>
                </a:moveTo>
                <a:lnTo>
                  <a:pt x="21" y="17"/>
                </a:lnTo>
                <a:lnTo>
                  <a:pt x="21" y="18"/>
                </a:lnTo>
                <a:lnTo>
                  <a:pt x="18" y="18"/>
                </a:lnTo>
                <a:close/>
                <a:moveTo>
                  <a:pt x="24" y="17"/>
                </a:moveTo>
                <a:lnTo>
                  <a:pt x="25" y="17"/>
                </a:lnTo>
                <a:lnTo>
                  <a:pt x="25" y="18"/>
                </a:lnTo>
                <a:lnTo>
                  <a:pt x="24" y="18"/>
                </a:lnTo>
                <a:close/>
                <a:moveTo>
                  <a:pt x="26" y="17"/>
                </a:moveTo>
                <a:lnTo>
                  <a:pt x="28" y="17"/>
                </a:lnTo>
                <a:lnTo>
                  <a:pt x="28" y="18"/>
                </a:lnTo>
                <a:lnTo>
                  <a:pt x="26" y="18"/>
                </a:lnTo>
                <a:close/>
                <a:moveTo>
                  <a:pt x="0" y="18"/>
                </a:moveTo>
                <a:lnTo>
                  <a:pt x="3" y="18"/>
                </a:lnTo>
                <a:lnTo>
                  <a:pt x="3" y="19"/>
                </a:lnTo>
                <a:lnTo>
                  <a:pt x="0" y="19"/>
                </a:lnTo>
                <a:close/>
                <a:moveTo>
                  <a:pt x="6" y="18"/>
                </a:moveTo>
                <a:lnTo>
                  <a:pt x="7" y="18"/>
                </a:lnTo>
                <a:lnTo>
                  <a:pt x="7" y="19"/>
                </a:lnTo>
                <a:lnTo>
                  <a:pt x="6" y="19"/>
                </a:lnTo>
                <a:close/>
                <a:moveTo>
                  <a:pt x="8" y="18"/>
                </a:moveTo>
                <a:lnTo>
                  <a:pt x="12" y="18"/>
                </a:lnTo>
                <a:lnTo>
                  <a:pt x="12" y="19"/>
                </a:lnTo>
                <a:lnTo>
                  <a:pt x="8" y="19"/>
                </a:lnTo>
                <a:close/>
                <a:moveTo>
                  <a:pt x="13" y="18"/>
                </a:moveTo>
                <a:lnTo>
                  <a:pt x="14" y="18"/>
                </a:lnTo>
                <a:lnTo>
                  <a:pt x="14" y="19"/>
                </a:lnTo>
                <a:lnTo>
                  <a:pt x="13" y="19"/>
                </a:lnTo>
                <a:close/>
                <a:moveTo>
                  <a:pt x="15" y="18"/>
                </a:moveTo>
                <a:lnTo>
                  <a:pt x="16" y="18"/>
                </a:lnTo>
                <a:lnTo>
                  <a:pt x="16" y="19"/>
                </a:lnTo>
                <a:lnTo>
                  <a:pt x="15" y="19"/>
                </a:lnTo>
                <a:close/>
                <a:moveTo>
                  <a:pt x="19" y="18"/>
                </a:moveTo>
                <a:lnTo>
                  <a:pt x="21" y="18"/>
                </a:lnTo>
                <a:lnTo>
                  <a:pt x="21" y="19"/>
                </a:lnTo>
                <a:lnTo>
                  <a:pt x="19" y="19"/>
                </a:lnTo>
                <a:close/>
                <a:moveTo>
                  <a:pt x="25" y="18"/>
                </a:moveTo>
                <a:lnTo>
                  <a:pt x="26" y="18"/>
                </a:lnTo>
                <a:lnTo>
                  <a:pt x="26" y="19"/>
                </a:lnTo>
                <a:lnTo>
                  <a:pt x="25" y="19"/>
                </a:lnTo>
                <a:close/>
                <a:moveTo>
                  <a:pt x="28" y="18"/>
                </a:moveTo>
                <a:lnTo>
                  <a:pt x="29" y="18"/>
                </a:lnTo>
                <a:lnTo>
                  <a:pt x="29" y="19"/>
                </a:lnTo>
                <a:lnTo>
                  <a:pt x="28" y="19"/>
                </a:lnTo>
                <a:close/>
                <a:moveTo>
                  <a:pt x="0" y="19"/>
                </a:moveTo>
                <a:lnTo>
                  <a:pt x="2" y="19"/>
                </a:lnTo>
                <a:lnTo>
                  <a:pt x="2" y="20"/>
                </a:lnTo>
                <a:lnTo>
                  <a:pt x="0" y="20"/>
                </a:lnTo>
                <a:close/>
                <a:moveTo>
                  <a:pt x="5" y="19"/>
                </a:moveTo>
                <a:lnTo>
                  <a:pt x="6" y="19"/>
                </a:lnTo>
                <a:lnTo>
                  <a:pt x="6" y="20"/>
                </a:lnTo>
                <a:lnTo>
                  <a:pt x="5" y="20"/>
                </a:lnTo>
                <a:close/>
                <a:moveTo>
                  <a:pt x="7" y="19"/>
                </a:moveTo>
                <a:lnTo>
                  <a:pt x="11" y="19"/>
                </a:lnTo>
                <a:lnTo>
                  <a:pt x="11" y="20"/>
                </a:lnTo>
                <a:lnTo>
                  <a:pt x="7" y="20"/>
                </a:lnTo>
                <a:close/>
                <a:moveTo>
                  <a:pt x="12" y="19"/>
                </a:moveTo>
                <a:lnTo>
                  <a:pt x="14" y="19"/>
                </a:lnTo>
                <a:lnTo>
                  <a:pt x="14" y="20"/>
                </a:lnTo>
                <a:lnTo>
                  <a:pt x="12" y="20"/>
                </a:lnTo>
                <a:close/>
                <a:moveTo>
                  <a:pt x="18" y="19"/>
                </a:moveTo>
                <a:lnTo>
                  <a:pt x="20" y="19"/>
                </a:lnTo>
                <a:lnTo>
                  <a:pt x="20" y="20"/>
                </a:lnTo>
                <a:lnTo>
                  <a:pt x="18" y="20"/>
                </a:lnTo>
                <a:close/>
                <a:moveTo>
                  <a:pt x="22" y="19"/>
                </a:moveTo>
                <a:lnTo>
                  <a:pt x="27" y="19"/>
                </a:lnTo>
                <a:lnTo>
                  <a:pt x="27" y="20"/>
                </a:lnTo>
                <a:lnTo>
                  <a:pt x="22" y="20"/>
                </a:lnTo>
                <a:close/>
                <a:moveTo>
                  <a:pt x="0" y="20"/>
                </a:moveTo>
                <a:lnTo>
                  <a:pt x="2" y="20"/>
                </a:lnTo>
                <a:lnTo>
                  <a:pt x="2" y="21"/>
                </a:lnTo>
                <a:lnTo>
                  <a:pt x="0" y="21"/>
                </a:lnTo>
                <a:close/>
                <a:moveTo>
                  <a:pt x="4" y="20"/>
                </a:moveTo>
                <a:lnTo>
                  <a:pt x="5" y="20"/>
                </a:lnTo>
                <a:lnTo>
                  <a:pt x="5" y="21"/>
                </a:lnTo>
                <a:lnTo>
                  <a:pt x="4" y="21"/>
                </a:lnTo>
                <a:close/>
                <a:moveTo>
                  <a:pt x="6" y="20"/>
                </a:moveTo>
                <a:lnTo>
                  <a:pt x="8" y="20"/>
                </a:lnTo>
                <a:lnTo>
                  <a:pt x="8" y="21"/>
                </a:lnTo>
                <a:lnTo>
                  <a:pt x="6" y="21"/>
                </a:lnTo>
                <a:close/>
                <a:moveTo>
                  <a:pt x="10" y="20"/>
                </a:moveTo>
                <a:lnTo>
                  <a:pt x="11" y="20"/>
                </a:lnTo>
                <a:lnTo>
                  <a:pt x="11" y="21"/>
                </a:lnTo>
                <a:lnTo>
                  <a:pt x="10" y="21"/>
                </a:lnTo>
                <a:close/>
                <a:moveTo>
                  <a:pt x="14" y="20"/>
                </a:moveTo>
                <a:lnTo>
                  <a:pt x="15" y="20"/>
                </a:lnTo>
                <a:lnTo>
                  <a:pt x="15" y="21"/>
                </a:lnTo>
                <a:lnTo>
                  <a:pt x="14" y="21"/>
                </a:lnTo>
                <a:close/>
                <a:moveTo>
                  <a:pt x="16" y="20"/>
                </a:moveTo>
                <a:lnTo>
                  <a:pt x="28" y="20"/>
                </a:lnTo>
                <a:lnTo>
                  <a:pt x="28" y="21"/>
                </a:lnTo>
                <a:lnTo>
                  <a:pt x="16" y="21"/>
                </a:lnTo>
                <a:close/>
                <a:moveTo>
                  <a:pt x="8" y="21"/>
                </a:moveTo>
                <a:lnTo>
                  <a:pt x="9" y="21"/>
                </a:lnTo>
                <a:lnTo>
                  <a:pt x="9" y="22"/>
                </a:lnTo>
                <a:lnTo>
                  <a:pt x="8" y="22"/>
                </a:lnTo>
                <a:close/>
                <a:moveTo>
                  <a:pt x="10" y="21"/>
                </a:moveTo>
                <a:lnTo>
                  <a:pt x="13" y="21"/>
                </a:lnTo>
                <a:lnTo>
                  <a:pt x="13" y="22"/>
                </a:lnTo>
                <a:lnTo>
                  <a:pt x="10" y="22"/>
                </a:lnTo>
                <a:close/>
                <a:moveTo>
                  <a:pt x="15" y="21"/>
                </a:moveTo>
                <a:lnTo>
                  <a:pt x="16" y="21"/>
                </a:lnTo>
                <a:lnTo>
                  <a:pt x="16" y="22"/>
                </a:lnTo>
                <a:lnTo>
                  <a:pt x="15" y="22"/>
                </a:lnTo>
                <a:close/>
                <a:moveTo>
                  <a:pt x="17" y="21"/>
                </a:moveTo>
                <a:lnTo>
                  <a:pt x="19" y="21"/>
                </a:lnTo>
                <a:lnTo>
                  <a:pt x="19" y="22"/>
                </a:lnTo>
                <a:lnTo>
                  <a:pt x="17" y="22"/>
                </a:lnTo>
                <a:close/>
                <a:moveTo>
                  <a:pt x="20" y="21"/>
                </a:moveTo>
                <a:lnTo>
                  <a:pt x="21" y="21"/>
                </a:lnTo>
                <a:lnTo>
                  <a:pt x="21" y="22"/>
                </a:lnTo>
                <a:lnTo>
                  <a:pt x="20" y="22"/>
                </a:lnTo>
                <a:close/>
                <a:moveTo>
                  <a:pt x="24" y="21"/>
                </a:moveTo>
                <a:lnTo>
                  <a:pt x="26" y="21"/>
                </a:lnTo>
                <a:lnTo>
                  <a:pt x="26" y="22"/>
                </a:lnTo>
                <a:lnTo>
                  <a:pt x="24" y="22"/>
                </a:lnTo>
                <a:close/>
                <a:moveTo>
                  <a:pt x="0" y="22"/>
                </a:moveTo>
                <a:lnTo>
                  <a:pt x="7" y="22"/>
                </a:lnTo>
                <a:lnTo>
                  <a:pt x="7" y="23"/>
                </a:lnTo>
                <a:lnTo>
                  <a:pt x="0" y="23"/>
                </a:lnTo>
                <a:close/>
                <a:moveTo>
                  <a:pt x="10" y="22"/>
                </a:moveTo>
                <a:lnTo>
                  <a:pt x="12" y="22"/>
                </a:lnTo>
                <a:lnTo>
                  <a:pt x="12" y="23"/>
                </a:lnTo>
                <a:lnTo>
                  <a:pt x="10" y="23"/>
                </a:lnTo>
                <a:close/>
                <a:moveTo>
                  <a:pt x="13" y="22"/>
                </a:moveTo>
                <a:lnTo>
                  <a:pt x="16" y="22"/>
                </a:lnTo>
                <a:lnTo>
                  <a:pt x="16" y="23"/>
                </a:lnTo>
                <a:lnTo>
                  <a:pt x="13" y="23"/>
                </a:lnTo>
                <a:close/>
                <a:moveTo>
                  <a:pt x="19" y="22"/>
                </a:moveTo>
                <a:lnTo>
                  <a:pt x="21" y="22"/>
                </a:lnTo>
                <a:lnTo>
                  <a:pt x="21" y="23"/>
                </a:lnTo>
                <a:lnTo>
                  <a:pt x="19" y="23"/>
                </a:lnTo>
                <a:close/>
                <a:moveTo>
                  <a:pt x="22" y="22"/>
                </a:moveTo>
                <a:lnTo>
                  <a:pt x="23" y="22"/>
                </a:lnTo>
                <a:lnTo>
                  <a:pt x="23" y="23"/>
                </a:lnTo>
                <a:lnTo>
                  <a:pt x="22" y="23"/>
                </a:lnTo>
                <a:close/>
                <a:moveTo>
                  <a:pt x="24" y="22"/>
                </a:moveTo>
                <a:lnTo>
                  <a:pt x="26" y="22"/>
                </a:lnTo>
                <a:lnTo>
                  <a:pt x="26" y="23"/>
                </a:lnTo>
                <a:lnTo>
                  <a:pt x="24" y="23"/>
                </a:lnTo>
                <a:close/>
                <a:moveTo>
                  <a:pt x="0" y="23"/>
                </a:moveTo>
                <a:lnTo>
                  <a:pt x="1" y="23"/>
                </a:lnTo>
                <a:lnTo>
                  <a:pt x="1" y="24"/>
                </a:lnTo>
                <a:lnTo>
                  <a:pt x="0" y="24"/>
                </a:lnTo>
                <a:close/>
                <a:moveTo>
                  <a:pt x="6" y="23"/>
                </a:moveTo>
                <a:lnTo>
                  <a:pt x="7" y="23"/>
                </a:lnTo>
                <a:lnTo>
                  <a:pt x="7" y="24"/>
                </a:lnTo>
                <a:lnTo>
                  <a:pt x="6" y="24"/>
                </a:lnTo>
                <a:close/>
                <a:moveTo>
                  <a:pt x="9" y="23"/>
                </a:moveTo>
                <a:lnTo>
                  <a:pt x="13" y="23"/>
                </a:lnTo>
                <a:lnTo>
                  <a:pt x="13" y="24"/>
                </a:lnTo>
                <a:lnTo>
                  <a:pt x="9" y="24"/>
                </a:lnTo>
                <a:close/>
                <a:moveTo>
                  <a:pt x="14" y="23"/>
                </a:moveTo>
                <a:lnTo>
                  <a:pt x="16" y="23"/>
                </a:lnTo>
                <a:lnTo>
                  <a:pt x="16" y="24"/>
                </a:lnTo>
                <a:lnTo>
                  <a:pt x="14" y="24"/>
                </a:lnTo>
                <a:close/>
                <a:moveTo>
                  <a:pt x="17" y="23"/>
                </a:moveTo>
                <a:lnTo>
                  <a:pt x="18" y="23"/>
                </a:lnTo>
                <a:lnTo>
                  <a:pt x="18" y="24"/>
                </a:lnTo>
                <a:lnTo>
                  <a:pt x="17" y="24"/>
                </a:lnTo>
                <a:close/>
                <a:moveTo>
                  <a:pt x="19" y="23"/>
                </a:moveTo>
                <a:lnTo>
                  <a:pt x="21" y="23"/>
                </a:lnTo>
                <a:lnTo>
                  <a:pt x="21" y="24"/>
                </a:lnTo>
                <a:lnTo>
                  <a:pt x="19" y="24"/>
                </a:lnTo>
                <a:close/>
                <a:moveTo>
                  <a:pt x="24" y="23"/>
                </a:moveTo>
                <a:lnTo>
                  <a:pt x="25" y="23"/>
                </a:lnTo>
                <a:lnTo>
                  <a:pt x="25" y="24"/>
                </a:lnTo>
                <a:lnTo>
                  <a:pt x="24" y="24"/>
                </a:lnTo>
                <a:close/>
                <a:moveTo>
                  <a:pt x="27" y="23"/>
                </a:moveTo>
                <a:lnTo>
                  <a:pt x="29" y="23"/>
                </a:lnTo>
                <a:lnTo>
                  <a:pt x="29" y="24"/>
                </a:lnTo>
                <a:lnTo>
                  <a:pt x="27" y="24"/>
                </a:lnTo>
                <a:close/>
                <a:moveTo>
                  <a:pt x="0" y="24"/>
                </a:moveTo>
                <a:lnTo>
                  <a:pt x="1" y="24"/>
                </a:lnTo>
                <a:lnTo>
                  <a:pt x="1" y="25"/>
                </a:lnTo>
                <a:lnTo>
                  <a:pt x="0" y="25"/>
                </a:lnTo>
                <a:close/>
                <a:moveTo>
                  <a:pt x="2" y="24"/>
                </a:moveTo>
                <a:lnTo>
                  <a:pt x="5" y="24"/>
                </a:lnTo>
                <a:lnTo>
                  <a:pt x="5" y="25"/>
                </a:lnTo>
                <a:lnTo>
                  <a:pt x="2" y="25"/>
                </a:lnTo>
                <a:close/>
                <a:moveTo>
                  <a:pt x="6" y="24"/>
                </a:moveTo>
                <a:lnTo>
                  <a:pt x="7" y="24"/>
                </a:lnTo>
                <a:lnTo>
                  <a:pt x="7" y="25"/>
                </a:lnTo>
                <a:lnTo>
                  <a:pt x="6" y="25"/>
                </a:lnTo>
                <a:close/>
                <a:moveTo>
                  <a:pt x="8" y="24"/>
                </a:moveTo>
                <a:lnTo>
                  <a:pt x="9" y="24"/>
                </a:lnTo>
                <a:lnTo>
                  <a:pt x="9" y="25"/>
                </a:lnTo>
                <a:lnTo>
                  <a:pt x="8" y="25"/>
                </a:lnTo>
                <a:close/>
                <a:moveTo>
                  <a:pt x="11" y="24"/>
                </a:moveTo>
                <a:lnTo>
                  <a:pt x="12" y="24"/>
                </a:lnTo>
                <a:lnTo>
                  <a:pt x="12" y="25"/>
                </a:lnTo>
                <a:lnTo>
                  <a:pt x="11" y="25"/>
                </a:lnTo>
                <a:close/>
                <a:moveTo>
                  <a:pt x="15" y="24"/>
                </a:moveTo>
                <a:lnTo>
                  <a:pt x="16" y="24"/>
                </a:lnTo>
                <a:lnTo>
                  <a:pt x="16" y="25"/>
                </a:lnTo>
                <a:lnTo>
                  <a:pt x="15" y="25"/>
                </a:lnTo>
                <a:close/>
                <a:moveTo>
                  <a:pt x="19" y="24"/>
                </a:moveTo>
                <a:lnTo>
                  <a:pt x="26" y="24"/>
                </a:lnTo>
                <a:lnTo>
                  <a:pt x="26" y="25"/>
                </a:lnTo>
                <a:lnTo>
                  <a:pt x="19" y="25"/>
                </a:lnTo>
                <a:close/>
                <a:moveTo>
                  <a:pt x="28" y="24"/>
                </a:moveTo>
                <a:lnTo>
                  <a:pt x="29" y="24"/>
                </a:lnTo>
                <a:lnTo>
                  <a:pt x="29" y="25"/>
                </a:lnTo>
                <a:lnTo>
                  <a:pt x="28" y="25"/>
                </a:lnTo>
                <a:close/>
                <a:moveTo>
                  <a:pt x="0" y="25"/>
                </a:moveTo>
                <a:lnTo>
                  <a:pt x="1" y="25"/>
                </a:lnTo>
                <a:lnTo>
                  <a:pt x="1" y="26"/>
                </a:lnTo>
                <a:lnTo>
                  <a:pt x="0" y="26"/>
                </a:lnTo>
                <a:close/>
                <a:moveTo>
                  <a:pt x="2" y="25"/>
                </a:moveTo>
                <a:lnTo>
                  <a:pt x="5" y="25"/>
                </a:lnTo>
                <a:lnTo>
                  <a:pt x="5" y="26"/>
                </a:lnTo>
                <a:lnTo>
                  <a:pt x="2" y="26"/>
                </a:lnTo>
                <a:close/>
                <a:moveTo>
                  <a:pt x="6" y="25"/>
                </a:moveTo>
                <a:lnTo>
                  <a:pt x="7" y="25"/>
                </a:lnTo>
                <a:lnTo>
                  <a:pt x="7" y="26"/>
                </a:lnTo>
                <a:lnTo>
                  <a:pt x="6" y="26"/>
                </a:lnTo>
                <a:close/>
                <a:moveTo>
                  <a:pt x="8" y="25"/>
                </a:moveTo>
                <a:lnTo>
                  <a:pt x="10" y="25"/>
                </a:lnTo>
                <a:lnTo>
                  <a:pt x="10" y="26"/>
                </a:lnTo>
                <a:lnTo>
                  <a:pt x="8" y="26"/>
                </a:lnTo>
                <a:close/>
                <a:moveTo>
                  <a:pt x="11" y="25"/>
                </a:moveTo>
                <a:lnTo>
                  <a:pt x="19" y="25"/>
                </a:lnTo>
                <a:lnTo>
                  <a:pt x="19" y="26"/>
                </a:lnTo>
                <a:lnTo>
                  <a:pt x="11" y="26"/>
                </a:lnTo>
                <a:close/>
                <a:moveTo>
                  <a:pt x="20" y="25"/>
                </a:moveTo>
                <a:lnTo>
                  <a:pt x="22" y="25"/>
                </a:lnTo>
                <a:lnTo>
                  <a:pt x="22" y="26"/>
                </a:lnTo>
                <a:lnTo>
                  <a:pt x="20" y="26"/>
                </a:lnTo>
                <a:close/>
                <a:moveTo>
                  <a:pt x="23" y="25"/>
                </a:moveTo>
                <a:lnTo>
                  <a:pt x="24" y="25"/>
                </a:lnTo>
                <a:lnTo>
                  <a:pt x="24" y="26"/>
                </a:lnTo>
                <a:lnTo>
                  <a:pt x="23" y="26"/>
                </a:lnTo>
                <a:close/>
                <a:moveTo>
                  <a:pt x="27" y="25"/>
                </a:moveTo>
                <a:lnTo>
                  <a:pt x="29" y="25"/>
                </a:lnTo>
                <a:lnTo>
                  <a:pt x="29" y="26"/>
                </a:lnTo>
                <a:lnTo>
                  <a:pt x="27" y="26"/>
                </a:lnTo>
                <a:close/>
                <a:moveTo>
                  <a:pt x="0" y="26"/>
                </a:moveTo>
                <a:lnTo>
                  <a:pt x="1" y="26"/>
                </a:lnTo>
                <a:lnTo>
                  <a:pt x="1" y="27"/>
                </a:lnTo>
                <a:lnTo>
                  <a:pt x="0" y="27"/>
                </a:lnTo>
                <a:close/>
                <a:moveTo>
                  <a:pt x="2" y="26"/>
                </a:moveTo>
                <a:lnTo>
                  <a:pt x="5" y="26"/>
                </a:lnTo>
                <a:lnTo>
                  <a:pt x="5" y="27"/>
                </a:lnTo>
                <a:lnTo>
                  <a:pt x="2" y="27"/>
                </a:lnTo>
                <a:close/>
                <a:moveTo>
                  <a:pt x="6" y="26"/>
                </a:moveTo>
                <a:lnTo>
                  <a:pt x="7" y="26"/>
                </a:lnTo>
                <a:lnTo>
                  <a:pt x="7" y="27"/>
                </a:lnTo>
                <a:lnTo>
                  <a:pt x="6" y="27"/>
                </a:lnTo>
                <a:close/>
                <a:moveTo>
                  <a:pt x="10" y="26"/>
                </a:moveTo>
                <a:lnTo>
                  <a:pt x="11" y="26"/>
                </a:lnTo>
                <a:lnTo>
                  <a:pt x="11" y="27"/>
                </a:lnTo>
                <a:lnTo>
                  <a:pt x="10" y="27"/>
                </a:lnTo>
                <a:close/>
                <a:moveTo>
                  <a:pt x="13" y="26"/>
                </a:moveTo>
                <a:lnTo>
                  <a:pt x="16" y="26"/>
                </a:lnTo>
                <a:lnTo>
                  <a:pt x="16" y="27"/>
                </a:lnTo>
                <a:lnTo>
                  <a:pt x="13" y="27"/>
                </a:lnTo>
                <a:close/>
                <a:moveTo>
                  <a:pt x="17" y="26"/>
                </a:moveTo>
                <a:lnTo>
                  <a:pt x="19" y="26"/>
                </a:lnTo>
                <a:lnTo>
                  <a:pt x="19" y="27"/>
                </a:lnTo>
                <a:lnTo>
                  <a:pt x="17" y="27"/>
                </a:lnTo>
                <a:close/>
                <a:moveTo>
                  <a:pt x="21" y="26"/>
                </a:moveTo>
                <a:lnTo>
                  <a:pt x="22" y="26"/>
                </a:lnTo>
                <a:lnTo>
                  <a:pt x="22" y="27"/>
                </a:lnTo>
                <a:lnTo>
                  <a:pt x="21" y="27"/>
                </a:lnTo>
                <a:close/>
                <a:moveTo>
                  <a:pt x="23" y="26"/>
                </a:moveTo>
                <a:lnTo>
                  <a:pt x="25" y="26"/>
                </a:lnTo>
                <a:lnTo>
                  <a:pt x="25" y="27"/>
                </a:lnTo>
                <a:lnTo>
                  <a:pt x="23" y="27"/>
                </a:lnTo>
                <a:close/>
                <a:moveTo>
                  <a:pt x="26" y="26"/>
                </a:moveTo>
                <a:lnTo>
                  <a:pt x="29" y="26"/>
                </a:lnTo>
                <a:lnTo>
                  <a:pt x="29" y="27"/>
                </a:lnTo>
                <a:lnTo>
                  <a:pt x="26" y="27"/>
                </a:lnTo>
                <a:close/>
                <a:moveTo>
                  <a:pt x="0" y="27"/>
                </a:moveTo>
                <a:lnTo>
                  <a:pt x="1" y="27"/>
                </a:lnTo>
                <a:lnTo>
                  <a:pt x="1" y="28"/>
                </a:lnTo>
                <a:lnTo>
                  <a:pt x="0" y="28"/>
                </a:lnTo>
                <a:close/>
                <a:moveTo>
                  <a:pt x="6" y="27"/>
                </a:moveTo>
                <a:lnTo>
                  <a:pt x="7" y="27"/>
                </a:lnTo>
                <a:lnTo>
                  <a:pt x="7" y="28"/>
                </a:lnTo>
                <a:lnTo>
                  <a:pt x="6" y="28"/>
                </a:lnTo>
                <a:close/>
                <a:moveTo>
                  <a:pt x="8" y="27"/>
                </a:moveTo>
                <a:lnTo>
                  <a:pt x="10" y="27"/>
                </a:lnTo>
                <a:lnTo>
                  <a:pt x="10" y="28"/>
                </a:lnTo>
                <a:lnTo>
                  <a:pt x="8" y="28"/>
                </a:lnTo>
                <a:close/>
                <a:moveTo>
                  <a:pt x="23" y="27"/>
                </a:moveTo>
                <a:lnTo>
                  <a:pt x="24" y="27"/>
                </a:lnTo>
                <a:lnTo>
                  <a:pt x="24" y="28"/>
                </a:lnTo>
                <a:lnTo>
                  <a:pt x="23" y="28"/>
                </a:lnTo>
                <a:close/>
                <a:moveTo>
                  <a:pt x="25" y="27"/>
                </a:moveTo>
                <a:lnTo>
                  <a:pt x="27" y="27"/>
                </a:lnTo>
                <a:lnTo>
                  <a:pt x="27" y="28"/>
                </a:lnTo>
                <a:lnTo>
                  <a:pt x="25" y="28"/>
                </a:lnTo>
                <a:close/>
                <a:moveTo>
                  <a:pt x="28" y="27"/>
                </a:moveTo>
                <a:lnTo>
                  <a:pt x="29" y="27"/>
                </a:lnTo>
                <a:lnTo>
                  <a:pt x="29" y="28"/>
                </a:lnTo>
                <a:lnTo>
                  <a:pt x="28" y="28"/>
                </a:lnTo>
                <a:close/>
                <a:moveTo>
                  <a:pt x="0" y="28"/>
                </a:moveTo>
                <a:lnTo>
                  <a:pt x="7" y="28"/>
                </a:lnTo>
                <a:lnTo>
                  <a:pt x="7" y="29"/>
                </a:lnTo>
                <a:lnTo>
                  <a:pt x="0" y="29"/>
                </a:lnTo>
                <a:close/>
                <a:moveTo>
                  <a:pt x="8" y="28"/>
                </a:moveTo>
                <a:lnTo>
                  <a:pt x="10" y="28"/>
                </a:lnTo>
                <a:lnTo>
                  <a:pt x="10" y="29"/>
                </a:lnTo>
                <a:lnTo>
                  <a:pt x="8" y="29"/>
                </a:lnTo>
                <a:close/>
                <a:moveTo>
                  <a:pt x="12" y="28"/>
                </a:moveTo>
                <a:lnTo>
                  <a:pt x="16" y="28"/>
                </a:lnTo>
                <a:lnTo>
                  <a:pt x="16" y="29"/>
                </a:lnTo>
                <a:lnTo>
                  <a:pt x="12" y="29"/>
                </a:lnTo>
                <a:close/>
                <a:moveTo>
                  <a:pt x="19" y="28"/>
                </a:moveTo>
                <a:lnTo>
                  <a:pt x="21" y="28"/>
                </a:lnTo>
                <a:lnTo>
                  <a:pt x="21" y="29"/>
                </a:lnTo>
                <a:lnTo>
                  <a:pt x="19" y="29"/>
                </a:lnTo>
                <a:close/>
                <a:moveTo>
                  <a:pt x="22" y="28"/>
                </a:moveTo>
                <a:lnTo>
                  <a:pt x="23" y="28"/>
                </a:lnTo>
                <a:lnTo>
                  <a:pt x="23" y="29"/>
                </a:lnTo>
                <a:lnTo>
                  <a:pt x="22" y="29"/>
                </a:lnTo>
                <a:close/>
                <a:moveTo>
                  <a:pt x="24" y="28"/>
                </a:moveTo>
                <a:lnTo>
                  <a:pt x="26" y="28"/>
                </a:lnTo>
                <a:lnTo>
                  <a:pt x="26" y="29"/>
                </a:lnTo>
                <a:lnTo>
                  <a:pt x="24" y="29"/>
                </a:lnTo>
                <a:close/>
              </a:path>
            </a:pathLst>
          </a:custGeom>
          <a:solidFill>
            <a:srgbClr val="162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cNvSpPr txBox="1"/>
          <p:nvPr/>
        </p:nvSpPr>
        <p:spPr>
          <a:xfrm>
            <a:off x="7802575" y="3474720"/>
            <a:ext cx="1737360" cy="365760"/>
          </a:xfrm>
          <a:prstGeom prst="rect">
            <a:avLst/>
          </a:prstGeom>
          <a:noFill/>
        </p:spPr>
        <p:txBody>
          <a:bodyPr wrap="square" lIns="0" rIns="0" tIns="0" bIns="0" anchor="t">
            <a:spAutoFit/>
          </a:bodyPr>
          <a:lstStyle/>
          <a:p>
            <a:pPr algn="ctr">
              <a:lnSpc>
                <a:spcPct val="100000"/>
              </a:lnSpc>
            </a:pPr>
            <a:r>
              <a:rPr sz="1500" b="0">
                <a:solidFill>
                  <a:srgbClr val="5B6F68"/>
                </a:solidFill>
                <a:latin typeface="Calibri"/>
              </a:rPr>
              <a:t>Kevin on LinkedIn</a:t>
            </a:r>
          </a:p>
        </p:txBody>
      </p:sp>
      <p:sp>
        <p:nvSpPr>
          <p:cNvPr id="13" name="qr https://inferogenesis.com/"/>
          <p:cNvSpPr/>
          <p:nvPr/>
        </p:nvSpPr>
        <p:spPr>
          <a:xfrm>
            <a:off x="9905695" y="1600200"/>
            <a:ext cx="1737360" cy="1737360"/>
          </a:xfrm>
          <a:custGeom>
            <a:avLst/>
            <a:gdLst/>
            <a:ahLst/>
            <a:cxnLst/>
            <a:rect l="l" t="t" r="r" b="b"/>
            <a:pathLst>
              <a:path w="25" h="25">
                <a:moveTo>
                  <a:pt x="0" y="0"/>
                </a:moveTo>
                <a:lnTo>
                  <a:pt x="7" y="0"/>
                </a:lnTo>
                <a:lnTo>
                  <a:pt x="7" y="1"/>
                </a:lnTo>
                <a:lnTo>
                  <a:pt x="0" y="1"/>
                </a:lnTo>
                <a:close/>
                <a:moveTo>
                  <a:pt x="8" y="0"/>
                </a:moveTo>
                <a:lnTo>
                  <a:pt x="9" y="0"/>
                </a:lnTo>
                <a:lnTo>
                  <a:pt x="9" y="1"/>
                </a:lnTo>
                <a:lnTo>
                  <a:pt x="8" y="1"/>
                </a:lnTo>
                <a:close/>
                <a:moveTo>
                  <a:pt x="11" y="0"/>
                </a:moveTo>
                <a:lnTo>
                  <a:pt x="12" y="0"/>
                </a:lnTo>
                <a:lnTo>
                  <a:pt x="12" y="1"/>
                </a:lnTo>
                <a:lnTo>
                  <a:pt x="11" y="1"/>
                </a:lnTo>
                <a:close/>
                <a:moveTo>
                  <a:pt x="13" y="0"/>
                </a:moveTo>
                <a:lnTo>
                  <a:pt x="15" y="0"/>
                </a:lnTo>
                <a:lnTo>
                  <a:pt x="15" y="1"/>
                </a:lnTo>
                <a:lnTo>
                  <a:pt x="13" y="1"/>
                </a:lnTo>
                <a:close/>
                <a:moveTo>
                  <a:pt x="18" y="0"/>
                </a:moveTo>
                <a:lnTo>
                  <a:pt x="25" y="0"/>
                </a:lnTo>
                <a:lnTo>
                  <a:pt x="25" y="1"/>
                </a:lnTo>
                <a:lnTo>
                  <a:pt x="18" y="1"/>
                </a:lnTo>
                <a:close/>
                <a:moveTo>
                  <a:pt x="0" y="1"/>
                </a:moveTo>
                <a:lnTo>
                  <a:pt x="1" y="1"/>
                </a:lnTo>
                <a:lnTo>
                  <a:pt x="1" y="2"/>
                </a:lnTo>
                <a:lnTo>
                  <a:pt x="0" y="2"/>
                </a:lnTo>
                <a:close/>
                <a:moveTo>
                  <a:pt x="6" y="1"/>
                </a:moveTo>
                <a:lnTo>
                  <a:pt x="7" y="1"/>
                </a:lnTo>
                <a:lnTo>
                  <a:pt x="7" y="2"/>
                </a:lnTo>
                <a:lnTo>
                  <a:pt x="6" y="2"/>
                </a:lnTo>
                <a:close/>
                <a:moveTo>
                  <a:pt x="9" y="1"/>
                </a:moveTo>
                <a:lnTo>
                  <a:pt x="10" y="1"/>
                </a:lnTo>
                <a:lnTo>
                  <a:pt x="10" y="2"/>
                </a:lnTo>
                <a:lnTo>
                  <a:pt x="9" y="2"/>
                </a:lnTo>
                <a:close/>
                <a:moveTo>
                  <a:pt x="11" y="1"/>
                </a:moveTo>
                <a:lnTo>
                  <a:pt x="12" y="1"/>
                </a:lnTo>
                <a:lnTo>
                  <a:pt x="12" y="2"/>
                </a:lnTo>
                <a:lnTo>
                  <a:pt x="11" y="2"/>
                </a:lnTo>
                <a:close/>
                <a:moveTo>
                  <a:pt x="14" y="1"/>
                </a:moveTo>
                <a:lnTo>
                  <a:pt x="15" y="1"/>
                </a:lnTo>
                <a:lnTo>
                  <a:pt x="15" y="2"/>
                </a:lnTo>
                <a:lnTo>
                  <a:pt x="14" y="2"/>
                </a:lnTo>
                <a:close/>
                <a:moveTo>
                  <a:pt x="18" y="1"/>
                </a:moveTo>
                <a:lnTo>
                  <a:pt x="19" y="1"/>
                </a:lnTo>
                <a:lnTo>
                  <a:pt x="19" y="2"/>
                </a:lnTo>
                <a:lnTo>
                  <a:pt x="18" y="2"/>
                </a:lnTo>
                <a:close/>
                <a:moveTo>
                  <a:pt x="24" y="1"/>
                </a:moveTo>
                <a:lnTo>
                  <a:pt x="25" y="1"/>
                </a:lnTo>
                <a:lnTo>
                  <a:pt x="25" y="2"/>
                </a:lnTo>
                <a:lnTo>
                  <a:pt x="24" y="2"/>
                </a:lnTo>
                <a:close/>
                <a:moveTo>
                  <a:pt x="0" y="2"/>
                </a:moveTo>
                <a:lnTo>
                  <a:pt x="1" y="2"/>
                </a:lnTo>
                <a:lnTo>
                  <a:pt x="1" y="3"/>
                </a:lnTo>
                <a:lnTo>
                  <a:pt x="0" y="3"/>
                </a:lnTo>
                <a:close/>
                <a:moveTo>
                  <a:pt x="2" y="2"/>
                </a:moveTo>
                <a:lnTo>
                  <a:pt x="5" y="2"/>
                </a:lnTo>
                <a:lnTo>
                  <a:pt x="5" y="3"/>
                </a:lnTo>
                <a:lnTo>
                  <a:pt x="2" y="3"/>
                </a:lnTo>
                <a:close/>
                <a:moveTo>
                  <a:pt x="6" y="2"/>
                </a:moveTo>
                <a:lnTo>
                  <a:pt x="7" y="2"/>
                </a:lnTo>
                <a:lnTo>
                  <a:pt x="7" y="3"/>
                </a:lnTo>
                <a:lnTo>
                  <a:pt x="6" y="3"/>
                </a:lnTo>
                <a:close/>
                <a:moveTo>
                  <a:pt x="8" y="2"/>
                </a:moveTo>
                <a:lnTo>
                  <a:pt x="12" y="2"/>
                </a:lnTo>
                <a:lnTo>
                  <a:pt x="12" y="3"/>
                </a:lnTo>
                <a:lnTo>
                  <a:pt x="8" y="3"/>
                </a:lnTo>
                <a:close/>
                <a:moveTo>
                  <a:pt x="13" y="2"/>
                </a:moveTo>
                <a:lnTo>
                  <a:pt x="14" y="2"/>
                </a:lnTo>
                <a:lnTo>
                  <a:pt x="14" y="3"/>
                </a:lnTo>
                <a:lnTo>
                  <a:pt x="13" y="3"/>
                </a:lnTo>
                <a:close/>
                <a:moveTo>
                  <a:pt x="18" y="2"/>
                </a:moveTo>
                <a:lnTo>
                  <a:pt x="19" y="2"/>
                </a:lnTo>
                <a:lnTo>
                  <a:pt x="19" y="3"/>
                </a:lnTo>
                <a:lnTo>
                  <a:pt x="18" y="3"/>
                </a:lnTo>
                <a:close/>
                <a:moveTo>
                  <a:pt x="20" y="2"/>
                </a:moveTo>
                <a:lnTo>
                  <a:pt x="23" y="2"/>
                </a:lnTo>
                <a:lnTo>
                  <a:pt x="23" y="3"/>
                </a:lnTo>
                <a:lnTo>
                  <a:pt x="20" y="3"/>
                </a:lnTo>
                <a:close/>
                <a:moveTo>
                  <a:pt x="24" y="2"/>
                </a:moveTo>
                <a:lnTo>
                  <a:pt x="25" y="2"/>
                </a:lnTo>
                <a:lnTo>
                  <a:pt x="25" y="3"/>
                </a:lnTo>
                <a:lnTo>
                  <a:pt x="24" y="3"/>
                </a:lnTo>
                <a:close/>
                <a:moveTo>
                  <a:pt x="0" y="3"/>
                </a:moveTo>
                <a:lnTo>
                  <a:pt x="1" y="3"/>
                </a:lnTo>
                <a:lnTo>
                  <a:pt x="1" y="4"/>
                </a:lnTo>
                <a:lnTo>
                  <a:pt x="0" y="4"/>
                </a:lnTo>
                <a:close/>
                <a:moveTo>
                  <a:pt x="2" y="3"/>
                </a:moveTo>
                <a:lnTo>
                  <a:pt x="5" y="3"/>
                </a:lnTo>
                <a:lnTo>
                  <a:pt x="5" y="4"/>
                </a:lnTo>
                <a:lnTo>
                  <a:pt x="2" y="4"/>
                </a:lnTo>
                <a:close/>
                <a:moveTo>
                  <a:pt x="6" y="3"/>
                </a:moveTo>
                <a:lnTo>
                  <a:pt x="7" y="3"/>
                </a:lnTo>
                <a:lnTo>
                  <a:pt x="7" y="4"/>
                </a:lnTo>
                <a:lnTo>
                  <a:pt x="6" y="4"/>
                </a:lnTo>
                <a:close/>
                <a:moveTo>
                  <a:pt x="10" y="3"/>
                </a:moveTo>
                <a:lnTo>
                  <a:pt x="11" y="3"/>
                </a:lnTo>
                <a:lnTo>
                  <a:pt x="11" y="4"/>
                </a:lnTo>
                <a:lnTo>
                  <a:pt x="10" y="4"/>
                </a:lnTo>
                <a:close/>
                <a:moveTo>
                  <a:pt x="13" y="3"/>
                </a:moveTo>
                <a:lnTo>
                  <a:pt x="16" y="3"/>
                </a:lnTo>
                <a:lnTo>
                  <a:pt x="16" y="4"/>
                </a:lnTo>
                <a:lnTo>
                  <a:pt x="13" y="4"/>
                </a:lnTo>
                <a:close/>
                <a:moveTo>
                  <a:pt x="18" y="3"/>
                </a:moveTo>
                <a:lnTo>
                  <a:pt x="19" y="3"/>
                </a:lnTo>
                <a:lnTo>
                  <a:pt x="19" y="4"/>
                </a:lnTo>
                <a:lnTo>
                  <a:pt x="18" y="4"/>
                </a:lnTo>
                <a:close/>
                <a:moveTo>
                  <a:pt x="20" y="3"/>
                </a:moveTo>
                <a:lnTo>
                  <a:pt x="23" y="3"/>
                </a:lnTo>
                <a:lnTo>
                  <a:pt x="23" y="4"/>
                </a:lnTo>
                <a:lnTo>
                  <a:pt x="20" y="4"/>
                </a:lnTo>
                <a:close/>
                <a:moveTo>
                  <a:pt x="24" y="3"/>
                </a:moveTo>
                <a:lnTo>
                  <a:pt x="25" y="3"/>
                </a:lnTo>
                <a:lnTo>
                  <a:pt x="25" y="4"/>
                </a:lnTo>
                <a:lnTo>
                  <a:pt x="24" y="4"/>
                </a:lnTo>
                <a:close/>
                <a:moveTo>
                  <a:pt x="0" y="4"/>
                </a:moveTo>
                <a:lnTo>
                  <a:pt x="1" y="4"/>
                </a:lnTo>
                <a:lnTo>
                  <a:pt x="1" y="5"/>
                </a:lnTo>
                <a:lnTo>
                  <a:pt x="0" y="5"/>
                </a:lnTo>
                <a:close/>
                <a:moveTo>
                  <a:pt x="2" y="4"/>
                </a:moveTo>
                <a:lnTo>
                  <a:pt x="5" y="4"/>
                </a:lnTo>
                <a:lnTo>
                  <a:pt x="5" y="5"/>
                </a:lnTo>
                <a:lnTo>
                  <a:pt x="2" y="5"/>
                </a:lnTo>
                <a:close/>
                <a:moveTo>
                  <a:pt x="6" y="4"/>
                </a:moveTo>
                <a:lnTo>
                  <a:pt x="7" y="4"/>
                </a:lnTo>
                <a:lnTo>
                  <a:pt x="7" y="5"/>
                </a:lnTo>
                <a:lnTo>
                  <a:pt x="6" y="5"/>
                </a:lnTo>
                <a:close/>
                <a:moveTo>
                  <a:pt x="12" y="4"/>
                </a:moveTo>
                <a:lnTo>
                  <a:pt x="14" y="4"/>
                </a:lnTo>
                <a:lnTo>
                  <a:pt x="14" y="5"/>
                </a:lnTo>
                <a:lnTo>
                  <a:pt x="12" y="5"/>
                </a:lnTo>
                <a:close/>
                <a:moveTo>
                  <a:pt x="18" y="4"/>
                </a:moveTo>
                <a:lnTo>
                  <a:pt x="19" y="4"/>
                </a:lnTo>
                <a:lnTo>
                  <a:pt x="19" y="5"/>
                </a:lnTo>
                <a:lnTo>
                  <a:pt x="18" y="5"/>
                </a:lnTo>
                <a:close/>
                <a:moveTo>
                  <a:pt x="20" y="4"/>
                </a:moveTo>
                <a:lnTo>
                  <a:pt x="23" y="4"/>
                </a:lnTo>
                <a:lnTo>
                  <a:pt x="23" y="5"/>
                </a:lnTo>
                <a:lnTo>
                  <a:pt x="20" y="5"/>
                </a:lnTo>
                <a:close/>
                <a:moveTo>
                  <a:pt x="24" y="4"/>
                </a:moveTo>
                <a:lnTo>
                  <a:pt x="25" y="4"/>
                </a:lnTo>
                <a:lnTo>
                  <a:pt x="25" y="5"/>
                </a:lnTo>
                <a:lnTo>
                  <a:pt x="24" y="5"/>
                </a:lnTo>
                <a:close/>
                <a:moveTo>
                  <a:pt x="0" y="5"/>
                </a:moveTo>
                <a:lnTo>
                  <a:pt x="1" y="5"/>
                </a:lnTo>
                <a:lnTo>
                  <a:pt x="1" y="6"/>
                </a:lnTo>
                <a:lnTo>
                  <a:pt x="0" y="6"/>
                </a:lnTo>
                <a:close/>
                <a:moveTo>
                  <a:pt x="6" y="5"/>
                </a:moveTo>
                <a:lnTo>
                  <a:pt x="7" y="5"/>
                </a:lnTo>
                <a:lnTo>
                  <a:pt x="7" y="6"/>
                </a:lnTo>
                <a:lnTo>
                  <a:pt x="6" y="6"/>
                </a:lnTo>
                <a:close/>
                <a:moveTo>
                  <a:pt x="8" y="5"/>
                </a:moveTo>
                <a:lnTo>
                  <a:pt x="10" y="5"/>
                </a:lnTo>
                <a:lnTo>
                  <a:pt x="10" y="6"/>
                </a:lnTo>
                <a:lnTo>
                  <a:pt x="8" y="6"/>
                </a:lnTo>
                <a:close/>
                <a:moveTo>
                  <a:pt x="13" y="5"/>
                </a:moveTo>
                <a:lnTo>
                  <a:pt x="14" y="5"/>
                </a:lnTo>
                <a:lnTo>
                  <a:pt x="14" y="6"/>
                </a:lnTo>
                <a:lnTo>
                  <a:pt x="13" y="6"/>
                </a:lnTo>
                <a:close/>
                <a:moveTo>
                  <a:pt x="16" y="5"/>
                </a:moveTo>
                <a:lnTo>
                  <a:pt x="17" y="5"/>
                </a:lnTo>
                <a:lnTo>
                  <a:pt x="17" y="6"/>
                </a:lnTo>
                <a:lnTo>
                  <a:pt x="16" y="6"/>
                </a:lnTo>
                <a:close/>
                <a:moveTo>
                  <a:pt x="18" y="5"/>
                </a:moveTo>
                <a:lnTo>
                  <a:pt x="19" y="5"/>
                </a:lnTo>
                <a:lnTo>
                  <a:pt x="19" y="6"/>
                </a:lnTo>
                <a:lnTo>
                  <a:pt x="18" y="6"/>
                </a:lnTo>
                <a:close/>
                <a:moveTo>
                  <a:pt x="24" y="5"/>
                </a:moveTo>
                <a:lnTo>
                  <a:pt x="25" y="5"/>
                </a:lnTo>
                <a:lnTo>
                  <a:pt x="25" y="6"/>
                </a:lnTo>
                <a:lnTo>
                  <a:pt x="24" y="6"/>
                </a:lnTo>
                <a:close/>
                <a:moveTo>
                  <a:pt x="0" y="6"/>
                </a:moveTo>
                <a:lnTo>
                  <a:pt x="7" y="6"/>
                </a:lnTo>
                <a:lnTo>
                  <a:pt x="7" y="7"/>
                </a:lnTo>
                <a:lnTo>
                  <a:pt x="0" y="7"/>
                </a:lnTo>
                <a:close/>
                <a:moveTo>
                  <a:pt x="8" y="6"/>
                </a:moveTo>
                <a:lnTo>
                  <a:pt x="9" y="6"/>
                </a:lnTo>
                <a:lnTo>
                  <a:pt x="9" y="7"/>
                </a:lnTo>
                <a:lnTo>
                  <a:pt x="8" y="7"/>
                </a:lnTo>
                <a:close/>
                <a:moveTo>
                  <a:pt x="10" y="6"/>
                </a:moveTo>
                <a:lnTo>
                  <a:pt x="11" y="6"/>
                </a:lnTo>
                <a:lnTo>
                  <a:pt x="11" y="7"/>
                </a:lnTo>
                <a:lnTo>
                  <a:pt x="10" y="7"/>
                </a:lnTo>
                <a:close/>
                <a:moveTo>
                  <a:pt x="12" y="6"/>
                </a:moveTo>
                <a:lnTo>
                  <a:pt x="13" y="6"/>
                </a:lnTo>
                <a:lnTo>
                  <a:pt x="13" y="7"/>
                </a:lnTo>
                <a:lnTo>
                  <a:pt x="12" y="7"/>
                </a:lnTo>
                <a:close/>
                <a:moveTo>
                  <a:pt x="14" y="6"/>
                </a:moveTo>
                <a:lnTo>
                  <a:pt x="15" y="6"/>
                </a:lnTo>
                <a:lnTo>
                  <a:pt x="15" y="7"/>
                </a:lnTo>
                <a:lnTo>
                  <a:pt x="14" y="7"/>
                </a:lnTo>
                <a:close/>
                <a:moveTo>
                  <a:pt x="16" y="6"/>
                </a:moveTo>
                <a:lnTo>
                  <a:pt x="17" y="6"/>
                </a:lnTo>
                <a:lnTo>
                  <a:pt x="17" y="7"/>
                </a:lnTo>
                <a:lnTo>
                  <a:pt x="16" y="7"/>
                </a:lnTo>
                <a:close/>
                <a:moveTo>
                  <a:pt x="18" y="6"/>
                </a:moveTo>
                <a:lnTo>
                  <a:pt x="25" y="6"/>
                </a:lnTo>
                <a:lnTo>
                  <a:pt x="25" y="7"/>
                </a:lnTo>
                <a:lnTo>
                  <a:pt x="18" y="7"/>
                </a:lnTo>
                <a:close/>
                <a:moveTo>
                  <a:pt x="9" y="7"/>
                </a:moveTo>
                <a:lnTo>
                  <a:pt x="11" y="7"/>
                </a:lnTo>
                <a:lnTo>
                  <a:pt x="11" y="8"/>
                </a:lnTo>
                <a:lnTo>
                  <a:pt x="9" y="8"/>
                </a:lnTo>
                <a:close/>
                <a:moveTo>
                  <a:pt x="14" y="7"/>
                </a:moveTo>
                <a:lnTo>
                  <a:pt x="15" y="7"/>
                </a:lnTo>
                <a:lnTo>
                  <a:pt x="15" y="8"/>
                </a:lnTo>
                <a:lnTo>
                  <a:pt x="14" y="8"/>
                </a:lnTo>
                <a:close/>
                <a:moveTo>
                  <a:pt x="16" y="7"/>
                </a:moveTo>
                <a:lnTo>
                  <a:pt x="17" y="7"/>
                </a:lnTo>
                <a:lnTo>
                  <a:pt x="17" y="8"/>
                </a:lnTo>
                <a:lnTo>
                  <a:pt x="16" y="8"/>
                </a:lnTo>
                <a:close/>
                <a:moveTo>
                  <a:pt x="0" y="8"/>
                </a:moveTo>
                <a:lnTo>
                  <a:pt x="1" y="8"/>
                </a:lnTo>
                <a:lnTo>
                  <a:pt x="1" y="9"/>
                </a:lnTo>
                <a:lnTo>
                  <a:pt x="0" y="9"/>
                </a:lnTo>
                <a:close/>
                <a:moveTo>
                  <a:pt x="2" y="8"/>
                </a:moveTo>
                <a:lnTo>
                  <a:pt x="3" y="8"/>
                </a:lnTo>
                <a:lnTo>
                  <a:pt x="3" y="9"/>
                </a:lnTo>
                <a:lnTo>
                  <a:pt x="2" y="9"/>
                </a:lnTo>
                <a:close/>
                <a:moveTo>
                  <a:pt x="6" y="8"/>
                </a:moveTo>
                <a:lnTo>
                  <a:pt x="8" y="8"/>
                </a:lnTo>
                <a:lnTo>
                  <a:pt x="8" y="9"/>
                </a:lnTo>
                <a:lnTo>
                  <a:pt x="6" y="9"/>
                </a:lnTo>
                <a:close/>
                <a:moveTo>
                  <a:pt x="11" y="8"/>
                </a:moveTo>
                <a:lnTo>
                  <a:pt x="12" y="8"/>
                </a:lnTo>
                <a:lnTo>
                  <a:pt x="12" y="9"/>
                </a:lnTo>
                <a:lnTo>
                  <a:pt x="11" y="9"/>
                </a:lnTo>
                <a:close/>
                <a:moveTo>
                  <a:pt x="15" y="8"/>
                </a:moveTo>
                <a:lnTo>
                  <a:pt x="17" y="8"/>
                </a:lnTo>
                <a:lnTo>
                  <a:pt x="17" y="9"/>
                </a:lnTo>
                <a:lnTo>
                  <a:pt x="15" y="9"/>
                </a:lnTo>
                <a:close/>
                <a:moveTo>
                  <a:pt x="19" y="8"/>
                </a:moveTo>
                <a:lnTo>
                  <a:pt x="20" y="8"/>
                </a:lnTo>
                <a:lnTo>
                  <a:pt x="20" y="9"/>
                </a:lnTo>
                <a:lnTo>
                  <a:pt x="19" y="9"/>
                </a:lnTo>
                <a:close/>
                <a:moveTo>
                  <a:pt x="22" y="8"/>
                </a:moveTo>
                <a:lnTo>
                  <a:pt x="23" y="8"/>
                </a:lnTo>
                <a:lnTo>
                  <a:pt x="23" y="9"/>
                </a:lnTo>
                <a:lnTo>
                  <a:pt x="22" y="9"/>
                </a:lnTo>
                <a:close/>
                <a:moveTo>
                  <a:pt x="24" y="8"/>
                </a:moveTo>
                <a:lnTo>
                  <a:pt x="25" y="8"/>
                </a:lnTo>
                <a:lnTo>
                  <a:pt x="25" y="9"/>
                </a:lnTo>
                <a:lnTo>
                  <a:pt x="24" y="9"/>
                </a:lnTo>
                <a:close/>
                <a:moveTo>
                  <a:pt x="0" y="9"/>
                </a:moveTo>
                <a:lnTo>
                  <a:pt x="2" y="9"/>
                </a:lnTo>
                <a:lnTo>
                  <a:pt x="2" y="10"/>
                </a:lnTo>
                <a:lnTo>
                  <a:pt x="0" y="10"/>
                </a:lnTo>
                <a:close/>
                <a:moveTo>
                  <a:pt x="4" y="9"/>
                </a:moveTo>
                <a:lnTo>
                  <a:pt x="6" y="9"/>
                </a:lnTo>
                <a:lnTo>
                  <a:pt x="6" y="10"/>
                </a:lnTo>
                <a:lnTo>
                  <a:pt x="4" y="10"/>
                </a:lnTo>
                <a:close/>
                <a:moveTo>
                  <a:pt x="7" y="9"/>
                </a:moveTo>
                <a:lnTo>
                  <a:pt x="8" y="9"/>
                </a:lnTo>
                <a:lnTo>
                  <a:pt x="8" y="10"/>
                </a:lnTo>
                <a:lnTo>
                  <a:pt x="7" y="10"/>
                </a:lnTo>
                <a:close/>
                <a:moveTo>
                  <a:pt x="9" y="9"/>
                </a:moveTo>
                <a:lnTo>
                  <a:pt x="10" y="9"/>
                </a:lnTo>
                <a:lnTo>
                  <a:pt x="10" y="10"/>
                </a:lnTo>
                <a:lnTo>
                  <a:pt x="9" y="10"/>
                </a:lnTo>
                <a:close/>
                <a:moveTo>
                  <a:pt x="11" y="9"/>
                </a:moveTo>
                <a:lnTo>
                  <a:pt x="12" y="9"/>
                </a:lnTo>
                <a:lnTo>
                  <a:pt x="12" y="10"/>
                </a:lnTo>
                <a:lnTo>
                  <a:pt x="11" y="10"/>
                </a:lnTo>
                <a:close/>
                <a:moveTo>
                  <a:pt x="13" y="9"/>
                </a:moveTo>
                <a:lnTo>
                  <a:pt x="14" y="9"/>
                </a:lnTo>
                <a:lnTo>
                  <a:pt x="14" y="10"/>
                </a:lnTo>
                <a:lnTo>
                  <a:pt x="13" y="10"/>
                </a:lnTo>
                <a:close/>
                <a:moveTo>
                  <a:pt x="15" y="9"/>
                </a:moveTo>
                <a:lnTo>
                  <a:pt x="17" y="9"/>
                </a:lnTo>
                <a:lnTo>
                  <a:pt x="17" y="10"/>
                </a:lnTo>
                <a:lnTo>
                  <a:pt x="15" y="10"/>
                </a:lnTo>
                <a:close/>
                <a:moveTo>
                  <a:pt x="18" y="9"/>
                </a:moveTo>
                <a:lnTo>
                  <a:pt x="20" y="9"/>
                </a:lnTo>
                <a:lnTo>
                  <a:pt x="20" y="10"/>
                </a:lnTo>
                <a:lnTo>
                  <a:pt x="18" y="10"/>
                </a:lnTo>
                <a:close/>
                <a:moveTo>
                  <a:pt x="21" y="9"/>
                </a:moveTo>
                <a:lnTo>
                  <a:pt x="22" y="9"/>
                </a:lnTo>
                <a:lnTo>
                  <a:pt x="22" y="10"/>
                </a:lnTo>
                <a:lnTo>
                  <a:pt x="21" y="10"/>
                </a:lnTo>
                <a:close/>
                <a:moveTo>
                  <a:pt x="23" y="9"/>
                </a:moveTo>
                <a:lnTo>
                  <a:pt x="25" y="9"/>
                </a:lnTo>
                <a:lnTo>
                  <a:pt x="25" y="10"/>
                </a:lnTo>
                <a:lnTo>
                  <a:pt x="23" y="10"/>
                </a:lnTo>
                <a:close/>
                <a:moveTo>
                  <a:pt x="0" y="10"/>
                </a:moveTo>
                <a:lnTo>
                  <a:pt x="1" y="10"/>
                </a:lnTo>
                <a:lnTo>
                  <a:pt x="1" y="11"/>
                </a:lnTo>
                <a:lnTo>
                  <a:pt x="0" y="11"/>
                </a:lnTo>
                <a:close/>
                <a:moveTo>
                  <a:pt x="5" y="10"/>
                </a:moveTo>
                <a:lnTo>
                  <a:pt x="7" y="10"/>
                </a:lnTo>
                <a:lnTo>
                  <a:pt x="7" y="11"/>
                </a:lnTo>
                <a:lnTo>
                  <a:pt x="5" y="11"/>
                </a:lnTo>
                <a:close/>
                <a:moveTo>
                  <a:pt x="11" y="10"/>
                </a:moveTo>
                <a:lnTo>
                  <a:pt x="16" y="10"/>
                </a:lnTo>
                <a:lnTo>
                  <a:pt x="16" y="11"/>
                </a:lnTo>
                <a:lnTo>
                  <a:pt x="11" y="11"/>
                </a:lnTo>
                <a:close/>
                <a:moveTo>
                  <a:pt x="20" y="10"/>
                </a:moveTo>
                <a:lnTo>
                  <a:pt x="23" y="10"/>
                </a:lnTo>
                <a:lnTo>
                  <a:pt x="23" y="11"/>
                </a:lnTo>
                <a:lnTo>
                  <a:pt x="20" y="11"/>
                </a:lnTo>
                <a:close/>
                <a:moveTo>
                  <a:pt x="24" y="10"/>
                </a:moveTo>
                <a:lnTo>
                  <a:pt x="25" y="10"/>
                </a:lnTo>
                <a:lnTo>
                  <a:pt x="25" y="11"/>
                </a:lnTo>
                <a:lnTo>
                  <a:pt x="24" y="11"/>
                </a:lnTo>
                <a:close/>
                <a:moveTo>
                  <a:pt x="1" y="11"/>
                </a:moveTo>
                <a:lnTo>
                  <a:pt x="3" y="11"/>
                </a:lnTo>
                <a:lnTo>
                  <a:pt x="3" y="12"/>
                </a:lnTo>
                <a:lnTo>
                  <a:pt x="1" y="12"/>
                </a:lnTo>
                <a:close/>
                <a:moveTo>
                  <a:pt x="4" y="11"/>
                </a:moveTo>
                <a:lnTo>
                  <a:pt x="5" y="11"/>
                </a:lnTo>
                <a:lnTo>
                  <a:pt x="5" y="12"/>
                </a:lnTo>
                <a:lnTo>
                  <a:pt x="4" y="12"/>
                </a:lnTo>
                <a:close/>
                <a:moveTo>
                  <a:pt x="7" y="11"/>
                </a:moveTo>
                <a:lnTo>
                  <a:pt x="9" y="11"/>
                </a:lnTo>
                <a:lnTo>
                  <a:pt x="9" y="12"/>
                </a:lnTo>
                <a:lnTo>
                  <a:pt x="7" y="12"/>
                </a:lnTo>
                <a:close/>
                <a:moveTo>
                  <a:pt x="10" y="11"/>
                </a:moveTo>
                <a:lnTo>
                  <a:pt x="12" y="11"/>
                </a:lnTo>
                <a:lnTo>
                  <a:pt x="12" y="12"/>
                </a:lnTo>
                <a:lnTo>
                  <a:pt x="10" y="12"/>
                </a:lnTo>
                <a:close/>
                <a:moveTo>
                  <a:pt x="14" y="11"/>
                </a:moveTo>
                <a:lnTo>
                  <a:pt x="17" y="11"/>
                </a:lnTo>
                <a:lnTo>
                  <a:pt x="17" y="12"/>
                </a:lnTo>
                <a:lnTo>
                  <a:pt x="14" y="12"/>
                </a:lnTo>
                <a:close/>
                <a:moveTo>
                  <a:pt x="18" y="11"/>
                </a:moveTo>
                <a:lnTo>
                  <a:pt x="19" y="11"/>
                </a:lnTo>
                <a:lnTo>
                  <a:pt x="19" y="12"/>
                </a:lnTo>
                <a:lnTo>
                  <a:pt x="18" y="12"/>
                </a:lnTo>
                <a:close/>
                <a:moveTo>
                  <a:pt x="20" y="11"/>
                </a:moveTo>
                <a:lnTo>
                  <a:pt x="22" y="11"/>
                </a:lnTo>
                <a:lnTo>
                  <a:pt x="22" y="12"/>
                </a:lnTo>
                <a:lnTo>
                  <a:pt x="20" y="12"/>
                </a:lnTo>
                <a:close/>
                <a:moveTo>
                  <a:pt x="1" y="12"/>
                </a:moveTo>
                <a:lnTo>
                  <a:pt x="2" y="12"/>
                </a:lnTo>
                <a:lnTo>
                  <a:pt x="2" y="13"/>
                </a:lnTo>
                <a:lnTo>
                  <a:pt x="1" y="13"/>
                </a:lnTo>
                <a:close/>
                <a:moveTo>
                  <a:pt x="3" y="12"/>
                </a:moveTo>
                <a:lnTo>
                  <a:pt x="4" y="12"/>
                </a:lnTo>
                <a:lnTo>
                  <a:pt x="4" y="13"/>
                </a:lnTo>
                <a:lnTo>
                  <a:pt x="3" y="13"/>
                </a:lnTo>
                <a:close/>
                <a:moveTo>
                  <a:pt x="6" y="12"/>
                </a:moveTo>
                <a:lnTo>
                  <a:pt x="13" y="12"/>
                </a:lnTo>
                <a:lnTo>
                  <a:pt x="13" y="13"/>
                </a:lnTo>
                <a:lnTo>
                  <a:pt x="6" y="13"/>
                </a:lnTo>
                <a:close/>
                <a:moveTo>
                  <a:pt x="15" y="12"/>
                </a:moveTo>
                <a:lnTo>
                  <a:pt x="17" y="12"/>
                </a:lnTo>
                <a:lnTo>
                  <a:pt x="17" y="13"/>
                </a:lnTo>
                <a:lnTo>
                  <a:pt x="15" y="13"/>
                </a:lnTo>
                <a:close/>
                <a:moveTo>
                  <a:pt x="18" y="12"/>
                </a:moveTo>
                <a:lnTo>
                  <a:pt x="20" y="12"/>
                </a:lnTo>
                <a:lnTo>
                  <a:pt x="20" y="13"/>
                </a:lnTo>
                <a:lnTo>
                  <a:pt x="18" y="13"/>
                </a:lnTo>
                <a:close/>
                <a:moveTo>
                  <a:pt x="24" y="12"/>
                </a:moveTo>
                <a:lnTo>
                  <a:pt x="25" y="12"/>
                </a:lnTo>
                <a:lnTo>
                  <a:pt x="25" y="13"/>
                </a:lnTo>
                <a:lnTo>
                  <a:pt x="24" y="13"/>
                </a:lnTo>
                <a:close/>
                <a:moveTo>
                  <a:pt x="1" y="13"/>
                </a:moveTo>
                <a:lnTo>
                  <a:pt x="2" y="13"/>
                </a:lnTo>
                <a:lnTo>
                  <a:pt x="2" y="14"/>
                </a:lnTo>
                <a:lnTo>
                  <a:pt x="1" y="14"/>
                </a:lnTo>
                <a:close/>
                <a:moveTo>
                  <a:pt x="3" y="13"/>
                </a:moveTo>
                <a:lnTo>
                  <a:pt x="4" y="13"/>
                </a:lnTo>
                <a:lnTo>
                  <a:pt x="4" y="14"/>
                </a:lnTo>
                <a:lnTo>
                  <a:pt x="3" y="14"/>
                </a:lnTo>
                <a:close/>
                <a:moveTo>
                  <a:pt x="5" y="13"/>
                </a:moveTo>
                <a:lnTo>
                  <a:pt x="6" y="13"/>
                </a:lnTo>
                <a:lnTo>
                  <a:pt x="6" y="14"/>
                </a:lnTo>
                <a:lnTo>
                  <a:pt x="5" y="14"/>
                </a:lnTo>
                <a:close/>
                <a:moveTo>
                  <a:pt x="7" y="13"/>
                </a:moveTo>
                <a:lnTo>
                  <a:pt x="8" y="13"/>
                </a:lnTo>
                <a:lnTo>
                  <a:pt x="8" y="14"/>
                </a:lnTo>
                <a:lnTo>
                  <a:pt x="7" y="14"/>
                </a:lnTo>
                <a:close/>
                <a:moveTo>
                  <a:pt x="14" y="13"/>
                </a:moveTo>
                <a:lnTo>
                  <a:pt x="17" y="13"/>
                </a:lnTo>
                <a:lnTo>
                  <a:pt x="17" y="14"/>
                </a:lnTo>
                <a:lnTo>
                  <a:pt x="14" y="14"/>
                </a:lnTo>
                <a:close/>
                <a:moveTo>
                  <a:pt x="18" y="13"/>
                </a:moveTo>
                <a:lnTo>
                  <a:pt x="20" y="13"/>
                </a:lnTo>
                <a:lnTo>
                  <a:pt x="20" y="14"/>
                </a:lnTo>
                <a:lnTo>
                  <a:pt x="18" y="14"/>
                </a:lnTo>
                <a:close/>
                <a:moveTo>
                  <a:pt x="23" y="13"/>
                </a:moveTo>
                <a:lnTo>
                  <a:pt x="25" y="13"/>
                </a:lnTo>
                <a:lnTo>
                  <a:pt x="25" y="14"/>
                </a:lnTo>
                <a:lnTo>
                  <a:pt x="23" y="14"/>
                </a:lnTo>
                <a:close/>
                <a:moveTo>
                  <a:pt x="0" y="14"/>
                </a:moveTo>
                <a:lnTo>
                  <a:pt x="2" y="14"/>
                </a:lnTo>
                <a:lnTo>
                  <a:pt x="2" y="15"/>
                </a:lnTo>
                <a:lnTo>
                  <a:pt x="0" y="15"/>
                </a:lnTo>
                <a:close/>
                <a:moveTo>
                  <a:pt x="3" y="14"/>
                </a:moveTo>
                <a:lnTo>
                  <a:pt x="5" y="14"/>
                </a:lnTo>
                <a:lnTo>
                  <a:pt x="5" y="15"/>
                </a:lnTo>
                <a:lnTo>
                  <a:pt x="3" y="15"/>
                </a:lnTo>
                <a:close/>
                <a:moveTo>
                  <a:pt x="6" y="14"/>
                </a:moveTo>
                <a:lnTo>
                  <a:pt x="8" y="14"/>
                </a:lnTo>
                <a:lnTo>
                  <a:pt x="8" y="15"/>
                </a:lnTo>
                <a:lnTo>
                  <a:pt x="6" y="15"/>
                </a:lnTo>
                <a:close/>
                <a:moveTo>
                  <a:pt x="9" y="14"/>
                </a:moveTo>
                <a:lnTo>
                  <a:pt x="10" y="14"/>
                </a:lnTo>
                <a:lnTo>
                  <a:pt x="10" y="15"/>
                </a:lnTo>
                <a:lnTo>
                  <a:pt x="9" y="15"/>
                </a:lnTo>
                <a:close/>
                <a:moveTo>
                  <a:pt x="11" y="14"/>
                </a:moveTo>
                <a:lnTo>
                  <a:pt x="12" y="14"/>
                </a:lnTo>
                <a:lnTo>
                  <a:pt x="12" y="15"/>
                </a:lnTo>
                <a:lnTo>
                  <a:pt x="11" y="15"/>
                </a:lnTo>
                <a:close/>
                <a:moveTo>
                  <a:pt x="14" y="14"/>
                </a:moveTo>
                <a:lnTo>
                  <a:pt x="16" y="14"/>
                </a:lnTo>
                <a:lnTo>
                  <a:pt x="16" y="15"/>
                </a:lnTo>
                <a:lnTo>
                  <a:pt x="14" y="15"/>
                </a:lnTo>
                <a:close/>
                <a:moveTo>
                  <a:pt x="18" y="14"/>
                </a:moveTo>
                <a:lnTo>
                  <a:pt x="19" y="14"/>
                </a:lnTo>
                <a:lnTo>
                  <a:pt x="19" y="15"/>
                </a:lnTo>
                <a:lnTo>
                  <a:pt x="18" y="15"/>
                </a:lnTo>
                <a:close/>
                <a:moveTo>
                  <a:pt x="21" y="14"/>
                </a:moveTo>
                <a:lnTo>
                  <a:pt x="23" y="14"/>
                </a:lnTo>
                <a:lnTo>
                  <a:pt x="23" y="15"/>
                </a:lnTo>
                <a:lnTo>
                  <a:pt x="21" y="15"/>
                </a:lnTo>
                <a:close/>
                <a:moveTo>
                  <a:pt x="24" y="14"/>
                </a:moveTo>
                <a:lnTo>
                  <a:pt x="25" y="14"/>
                </a:lnTo>
                <a:lnTo>
                  <a:pt x="25" y="15"/>
                </a:lnTo>
                <a:lnTo>
                  <a:pt x="24" y="15"/>
                </a:lnTo>
                <a:close/>
                <a:moveTo>
                  <a:pt x="2" y="15"/>
                </a:moveTo>
                <a:lnTo>
                  <a:pt x="4" y="15"/>
                </a:lnTo>
                <a:lnTo>
                  <a:pt x="4" y="16"/>
                </a:lnTo>
                <a:lnTo>
                  <a:pt x="2" y="16"/>
                </a:lnTo>
                <a:close/>
                <a:moveTo>
                  <a:pt x="8" y="15"/>
                </a:moveTo>
                <a:lnTo>
                  <a:pt x="10" y="15"/>
                </a:lnTo>
                <a:lnTo>
                  <a:pt x="10" y="16"/>
                </a:lnTo>
                <a:lnTo>
                  <a:pt x="8" y="16"/>
                </a:lnTo>
                <a:close/>
                <a:moveTo>
                  <a:pt x="11" y="15"/>
                </a:moveTo>
                <a:lnTo>
                  <a:pt x="13" y="15"/>
                </a:lnTo>
                <a:lnTo>
                  <a:pt x="13" y="16"/>
                </a:lnTo>
                <a:lnTo>
                  <a:pt x="11" y="16"/>
                </a:lnTo>
                <a:close/>
                <a:moveTo>
                  <a:pt x="14" y="15"/>
                </a:moveTo>
                <a:lnTo>
                  <a:pt x="17" y="15"/>
                </a:lnTo>
                <a:lnTo>
                  <a:pt x="17" y="16"/>
                </a:lnTo>
                <a:lnTo>
                  <a:pt x="14" y="16"/>
                </a:lnTo>
                <a:close/>
                <a:moveTo>
                  <a:pt x="18" y="15"/>
                </a:moveTo>
                <a:lnTo>
                  <a:pt x="22" y="15"/>
                </a:lnTo>
                <a:lnTo>
                  <a:pt x="22" y="16"/>
                </a:lnTo>
                <a:lnTo>
                  <a:pt x="18" y="16"/>
                </a:lnTo>
                <a:close/>
                <a:moveTo>
                  <a:pt x="0" y="16"/>
                </a:moveTo>
                <a:lnTo>
                  <a:pt x="2" y="16"/>
                </a:lnTo>
                <a:lnTo>
                  <a:pt x="2" y="17"/>
                </a:lnTo>
                <a:lnTo>
                  <a:pt x="0" y="17"/>
                </a:lnTo>
                <a:close/>
                <a:moveTo>
                  <a:pt x="3" y="16"/>
                </a:moveTo>
                <a:lnTo>
                  <a:pt x="4" y="16"/>
                </a:lnTo>
                <a:lnTo>
                  <a:pt x="4" y="17"/>
                </a:lnTo>
                <a:lnTo>
                  <a:pt x="3" y="17"/>
                </a:lnTo>
                <a:close/>
                <a:moveTo>
                  <a:pt x="6" y="16"/>
                </a:moveTo>
                <a:lnTo>
                  <a:pt x="7" y="16"/>
                </a:lnTo>
                <a:lnTo>
                  <a:pt x="7" y="17"/>
                </a:lnTo>
                <a:lnTo>
                  <a:pt x="6" y="17"/>
                </a:lnTo>
                <a:close/>
                <a:moveTo>
                  <a:pt x="8" y="16"/>
                </a:moveTo>
                <a:lnTo>
                  <a:pt x="9" y="16"/>
                </a:lnTo>
                <a:lnTo>
                  <a:pt x="9" y="17"/>
                </a:lnTo>
                <a:lnTo>
                  <a:pt x="8" y="17"/>
                </a:lnTo>
                <a:close/>
                <a:moveTo>
                  <a:pt x="10" y="16"/>
                </a:moveTo>
                <a:lnTo>
                  <a:pt x="11" y="16"/>
                </a:lnTo>
                <a:lnTo>
                  <a:pt x="11" y="17"/>
                </a:lnTo>
                <a:lnTo>
                  <a:pt x="10" y="17"/>
                </a:lnTo>
                <a:close/>
                <a:moveTo>
                  <a:pt x="12" y="16"/>
                </a:moveTo>
                <a:lnTo>
                  <a:pt x="13" y="16"/>
                </a:lnTo>
                <a:lnTo>
                  <a:pt x="13" y="17"/>
                </a:lnTo>
                <a:lnTo>
                  <a:pt x="12" y="17"/>
                </a:lnTo>
                <a:close/>
                <a:moveTo>
                  <a:pt x="14" y="16"/>
                </a:moveTo>
                <a:lnTo>
                  <a:pt x="15" y="16"/>
                </a:lnTo>
                <a:lnTo>
                  <a:pt x="15" y="17"/>
                </a:lnTo>
                <a:lnTo>
                  <a:pt x="14" y="17"/>
                </a:lnTo>
                <a:close/>
                <a:moveTo>
                  <a:pt x="16" y="16"/>
                </a:moveTo>
                <a:lnTo>
                  <a:pt x="21" y="16"/>
                </a:lnTo>
                <a:lnTo>
                  <a:pt x="21" y="17"/>
                </a:lnTo>
                <a:lnTo>
                  <a:pt x="16" y="17"/>
                </a:lnTo>
                <a:close/>
                <a:moveTo>
                  <a:pt x="23" y="16"/>
                </a:moveTo>
                <a:lnTo>
                  <a:pt x="24" y="16"/>
                </a:lnTo>
                <a:lnTo>
                  <a:pt x="24" y="17"/>
                </a:lnTo>
                <a:lnTo>
                  <a:pt x="23" y="17"/>
                </a:lnTo>
                <a:close/>
                <a:moveTo>
                  <a:pt x="8" y="17"/>
                </a:moveTo>
                <a:lnTo>
                  <a:pt x="10" y="17"/>
                </a:lnTo>
                <a:lnTo>
                  <a:pt x="10" y="18"/>
                </a:lnTo>
                <a:lnTo>
                  <a:pt x="8" y="18"/>
                </a:lnTo>
                <a:close/>
                <a:moveTo>
                  <a:pt x="11" y="17"/>
                </a:moveTo>
                <a:lnTo>
                  <a:pt x="12" y="17"/>
                </a:lnTo>
                <a:lnTo>
                  <a:pt x="12" y="18"/>
                </a:lnTo>
                <a:lnTo>
                  <a:pt x="11" y="18"/>
                </a:lnTo>
                <a:close/>
                <a:moveTo>
                  <a:pt x="13" y="17"/>
                </a:moveTo>
                <a:lnTo>
                  <a:pt x="14" y="17"/>
                </a:lnTo>
                <a:lnTo>
                  <a:pt x="14" y="18"/>
                </a:lnTo>
                <a:lnTo>
                  <a:pt x="13" y="18"/>
                </a:lnTo>
                <a:close/>
                <a:moveTo>
                  <a:pt x="16" y="17"/>
                </a:moveTo>
                <a:lnTo>
                  <a:pt x="17" y="17"/>
                </a:lnTo>
                <a:lnTo>
                  <a:pt x="17" y="18"/>
                </a:lnTo>
                <a:lnTo>
                  <a:pt x="16" y="18"/>
                </a:lnTo>
                <a:close/>
                <a:moveTo>
                  <a:pt x="20" y="17"/>
                </a:moveTo>
                <a:lnTo>
                  <a:pt x="21" y="17"/>
                </a:lnTo>
                <a:lnTo>
                  <a:pt x="21" y="18"/>
                </a:lnTo>
                <a:lnTo>
                  <a:pt x="20" y="18"/>
                </a:lnTo>
                <a:close/>
                <a:moveTo>
                  <a:pt x="24" y="17"/>
                </a:moveTo>
                <a:lnTo>
                  <a:pt x="25" y="17"/>
                </a:lnTo>
                <a:lnTo>
                  <a:pt x="25" y="18"/>
                </a:lnTo>
                <a:lnTo>
                  <a:pt x="24" y="18"/>
                </a:lnTo>
                <a:close/>
                <a:moveTo>
                  <a:pt x="0" y="18"/>
                </a:moveTo>
                <a:lnTo>
                  <a:pt x="7" y="18"/>
                </a:lnTo>
                <a:lnTo>
                  <a:pt x="7" y="19"/>
                </a:lnTo>
                <a:lnTo>
                  <a:pt x="0" y="19"/>
                </a:lnTo>
                <a:close/>
                <a:moveTo>
                  <a:pt x="8" y="18"/>
                </a:moveTo>
                <a:lnTo>
                  <a:pt x="12" y="18"/>
                </a:lnTo>
                <a:lnTo>
                  <a:pt x="12" y="19"/>
                </a:lnTo>
                <a:lnTo>
                  <a:pt x="8" y="19"/>
                </a:lnTo>
                <a:close/>
                <a:moveTo>
                  <a:pt x="16" y="18"/>
                </a:moveTo>
                <a:lnTo>
                  <a:pt x="17" y="18"/>
                </a:lnTo>
                <a:lnTo>
                  <a:pt x="17" y="19"/>
                </a:lnTo>
                <a:lnTo>
                  <a:pt x="16" y="19"/>
                </a:lnTo>
                <a:close/>
                <a:moveTo>
                  <a:pt x="18" y="18"/>
                </a:moveTo>
                <a:lnTo>
                  <a:pt x="19" y="18"/>
                </a:lnTo>
                <a:lnTo>
                  <a:pt x="19" y="19"/>
                </a:lnTo>
                <a:lnTo>
                  <a:pt x="18" y="19"/>
                </a:lnTo>
                <a:close/>
                <a:moveTo>
                  <a:pt x="20" y="18"/>
                </a:moveTo>
                <a:lnTo>
                  <a:pt x="21" y="18"/>
                </a:lnTo>
                <a:lnTo>
                  <a:pt x="21" y="19"/>
                </a:lnTo>
                <a:lnTo>
                  <a:pt x="20" y="19"/>
                </a:lnTo>
                <a:close/>
                <a:moveTo>
                  <a:pt x="24" y="18"/>
                </a:moveTo>
                <a:lnTo>
                  <a:pt x="25" y="18"/>
                </a:lnTo>
                <a:lnTo>
                  <a:pt x="25" y="19"/>
                </a:lnTo>
                <a:lnTo>
                  <a:pt x="24" y="19"/>
                </a:lnTo>
                <a:close/>
                <a:moveTo>
                  <a:pt x="0" y="19"/>
                </a:moveTo>
                <a:lnTo>
                  <a:pt x="1" y="19"/>
                </a:lnTo>
                <a:lnTo>
                  <a:pt x="1" y="20"/>
                </a:lnTo>
                <a:lnTo>
                  <a:pt x="0" y="20"/>
                </a:lnTo>
                <a:close/>
                <a:moveTo>
                  <a:pt x="6" y="19"/>
                </a:moveTo>
                <a:lnTo>
                  <a:pt x="7" y="19"/>
                </a:lnTo>
                <a:lnTo>
                  <a:pt x="7" y="20"/>
                </a:lnTo>
                <a:lnTo>
                  <a:pt x="6" y="20"/>
                </a:lnTo>
                <a:close/>
                <a:moveTo>
                  <a:pt x="12" y="19"/>
                </a:moveTo>
                <a:lnTo>
                  <a:pt x="13" y="19"/>
                </a:lnTo>
                <a:lnTo>
                  <a:pt x="13" y="20"/>
                </a:lnTo>
                <a:lnTo>
                  <a:pt x="12" y="20"/>
                </a:lnTo>
                <a:close/>
                <a:moveTo>
                  <a:pt x="15" y="19"/>
                </a:moveTo>
                <a:lnTo>
                  <a:pt x="17" y="19"/>
                </a:lnTo>
                <a:lnTo>
                  <a:pt x="17" y="20"/>
                </a:lnTo>
                <a:lnTo>
                  <a:pt x="15" y="20"/>
                </a:lnTo>
                <a:close/>
                <a:moveTo>
                  <a:pt x="20" y="19"/>
                </a:moveTo>
                <a:lnTo>
                  <a:pt x="21" y="19"/>
                </a:lnTo>
                <a:lnTo>
                  <a:pt x="21" y="20"/>
                </a:lnTo>
                <a:lnTo>
                  <a:pt x="20" y="20"/>
                </a:lnTo>
                <a:close/>
                <a:moveTo>
                  <a:pt x="24" y="19"/>
                </a:moveTo>
                <a:lnTo>
                  <a:pt x="25" y="19"/>
                </a:lnTo>
                <a:lnTo>
                  <a:pt x="25" y="20"/>
                </a:lnTo>
                <a:lnTo>
                  <a:pt x="24" y="20"/>
                </a:lnTo>
                <a:close/>
                <a:moveTo>
                  <a:pt x="0" y="20"/>
                </a:moveTo>
                <a:lnTo>
                  <a:pt x="1" y="20"/>
                </a:lnTo>
                <a:lnTo>
                  <a:pt x="1" y="21"/>
                </a:lnTo>
                <a:lnTo>
                  <a:pt x="0" y="21"/>
                </a:lnTo>
                <a:close/>
                <a:moveTo>
                  <a:pt x="2" y="20"/>
                </a:moveTo>
                <a:lnTo>
                  <a:pt x="5" y="20"/>
                </a:lnTo>
                <a:lnTo>
                  <a:pt x="5" y="21"/>
                </a:lnTo>
                <a:lnTo>
                  <a:pt x="2" y="21"/>
                </a:lnTo>
                <a:close/>
                <a:moveTo>
                  <a:pt x="6" y="20"/>
                </a:moveTo>
                <a:lnTo>
                  <a:pt x="7" y="20"/>
                </a:lnTo>
                <a:lnTo>
                  <a:pt x="7" y="21"/>
                </a:lnTo>
                <a:lnTo>
                  <a:pt x="6" y="21"/>
                </a:lnTo>
                <a:close/>
                <a:moveTo>
                  <a:pt x="9" y="20"/>
                </a:moveTo>
                <a:lnTo>
                  <a:pt x="11" y="20"/>
                </a:lnTo>
                <a:lnTo>
                  <a:pt x="11" y="21"/>
                </a:lnTo>
                <a:lnTo>
                  <a:pt x="9" y="21"/>
                </a:lnTo>
                <a:close/>
                <a:moveTo>
                  <a:pt x="12" y="20"/>
                </a:moveTo>
                <a:lnTo>
                  <a:pt x="13" y="20"/>
                </a:lnTo>
                <a:lnTo>
                  <a:pt x="13" y="21"/>
                </a:lnTo>
                <a:lnTo>
                  <a:pt x="12" y="21"/>
                </a:lnTo>
                <a:close/>
                <a:moveTo>
                  <a:pt x="15" y="20"/>
                </a:moveTo>
                <a:lnTo>
                  <a:pt x="21" y="20"/>
                </a:lnTo>
                <a:lnTo>
                  <a:pt x="21" y="21"/>
                </a:lnTo>
                <a:lnTo>
                  <a:pt x="15" y="21"/>
                </a:lnTo>
                <a:close/>
                <a:moveTo>
                  <a:pt x="23" y="20"/>
                </a:moveTo>
                <a:lnTo>
                  <a:pt x="24" y="20"/>
                </a:lnTo>
                <a:lnTo>
                  <a:pt x="24" y="21"/>
                </a:lnTo>
                <a:lnTo>
                  <a:pt x="23" y="21"/>
                </a:lnTo>
                <a:close/>
                <a:moveTo>
                  <a:pt x="0" y="21"/>
                </a:moveTo>
                <a:lnTo>
                  <a:pt x="1" y="21"/>
                </a:lnTo>
                <a:lnTo>
                  <a:pt x="1" y="22"/>
                </a:lnTo>
                <a:lnTo>
                  <a:pt x="0" y="22"/>
                </a:lnTo>
                <a:close/>
                <a:moveTo>
                  <a:pt x="2" y="21"/>
                </a:moveTo>
                <a:lnTo>
                  <a:pt x="5" y="21"/>
                </a:lnTo>
                <a:lnTo>
                  <a:pt x="5" y="22"/>
                </a:lnTo>
                <a:lnTo>
                  <a:pt x="2" y="22"/>
                </a:lnTo>
                <a:close/>
                <a:moveTo>
                  <a:pt x="6" y="21"/>
                </a:moveTo>
                <a:lnTo>
                  <a:pt x="7" y="21"/>
                </a:lnTo>
                <a:lnTo>
                  <a:pt x="7" y="22"/>
                </a:lnTo>
                <a:lnTo>
                  <a:pt x="6" y="22"/>
                </a:lnTo>
                <a:close/>
                <a:moveTo>
                  <a:pt x="9" y="21"/>
                </a:moveTo>
                <a:lnTo>
                  <a:pt x="10" y="21"/>
                </a:lnTo>
                <a:lnTo>
                  <a:pt x="10" y="22"/>
                </a:lnTo>
                <a:lnTo>
                  <a:pt x="9" y="22"/>
                </a:lnTo>
                <a:close/>
                <a:moveTo>
                  <a:pt x="11" y="21"/>
                </a:moveTo>
                <a:lnTo>
                  <a:pt x="13" y="21"/>
                </a:lnTo>
                <a:lnTo>
                  <a:pt x="13" y="22"/>
                </a:lnTo>
                <a:lnTo>
                  <a:pt x="11" y="22"/>
                </a:lnTo>
                <a:close/>
                <a:moveTo>
                  <a:pt x="16" y="21"/>
                </a:moveTo>
                <a:lnTo>
                  <a:pt x="18" y="21"/>
                </a:lnTo>
                <a:lnTo>
                  <a:pt x="18" y="22"/>
                </a:lnTo>
                <a:lnTo>
                  <a:pt x="16" y="22"/>
                </a:lnTo>
                <a:close/>
                <a:moveTo>
                  <a:pt x="20" y="21"/>
                </a:moveTo>
                <a:lnTo>
                  <a:pt x="21" y="21"/>
                </a:lnTo>
                <a:lnTo>
                  <a:pt x="21" y="22"/>
                </a:lnTo>
                <a:lnTo>
                  <a:pt x="20" y="22"/>
                </a:lnTo>
                <a:close/>
                <a:moveTo>
                  <a:pt x="22" y="21"/>
                </a:moveTo>
                <a:lnTo>
                  <a:pt x="24" y="21"/>
                </a:lnTo>
                <a:lnTo>
                  <a:pt x="24" y="22"/>
                </a:lnTo>
                <a:lnTo>
                  <a:pt x="22" y="22"/>
                </a:lnTo>
                <a:close/>
                <a:moveTo>
                  <a:pt x="0" y="22"/>
                </a:moveTo>
                <a:lnTo>
                  <a:pt x="1" y="22"/>
                </a:lnTo>
                <a:lnTo>
                  <a:pt x="1" y="23"/>
                </a:lnTo>
                <a:lnTo>
                  <a:pt x="0" y="23"/>
                </a:lnTo>
                <a:close/>
                <a:moveTo>
                  <a:pt x="2" y="22"/>
                </a:moveTo>
                <a:lnTo>
                  <a:pt x="5" y="22"/>
                </a:lnTo>
                <a:lnTo>
                  <a:pt x="5" y="23"/>
                </a:lnTo>
                <a:lnTo>
                  <a:pt x="2" y="23"/>
                </a:lnTo>
                <a:close/>
                <a:moveTo>
                  <a:pt x="6" y="22"/>
                </a:moveTo>
                <a:lnTo>
                  <a:pt x="7" y="22"/>
                </a:lnTo>
                <a:lnTo>
                  <a:pt x="7" y="23"/>
                </a:lnTo>
                <a:lnTo>
                  <a:pt x="6" y="23"/>
                </a:lnTo>
                <a:close/>
                <a:moveTo>
                  <a:pt x="8" y="22"/>
                </a:moveTo>
                <a:lnTo>
                  <a:pt x="9" y="22"/>
                </a:lnTo>
                <a:lnTo>
                  <a:pt x="9" y="23"/>
                </a:lnTo>
                <a:lnTo>
                  <a:pt x="8" y="23"/>
                </a:lnTo>
                <a:close/>
                <a:moveTo>
                  <a:pt x="11" y="22"/>
                </a:moveTo>
                <a:lnTo>
                  <a:pt x="12" y="22"/>
                </a:lnTo>
                <a:lnTo>
                  <a:pt x="12" y="23"/>
                </a:lnTo>
                <a:lnTo>
                  <a:pt x="11" y="23"/>
                </a:lnTo>
                <a:close/>
                <a:moveTo>
                  <a:pt x="14" y="22"/>
                </a:moveTo>
                <a:lnTo>
                  <a:pt x="18" y="22"/>
                </a:lnTo>
                <a:lnTo>
                  <a:pt x="18" y="23"/>
                </a:lnTo>
                <a:lnTo>
                  <a:pt x="14" y="23"/>
                </a:lnTo>
                <a:close/>
                <a:moveTo>
                  <a:pt x="19" y="22"/>
                </a:moveTo>
                <a:lnTo>
                  <a:pt x="22" y="22"/>
                </a:lnTo>
                <a:lnTo>
                  <a:pt x="22" y="23"/>
                </a:lnTo>
                <a:lnTo>
                  <a:pt x="19" y="23"/>
                </a:lnTo>
                <a:close/>
                <a:moveTo>
                  <a:pt x="23" y="22"/>
                </a:moveTo>
                <a:lnTo>
                  <a:pt x="25" y="22"/>
                </a:lnTo>
                <a:lnTo>
                  <a:pt x="25" y="23"/>
                </a:lnTo>
                <a:lnTo>
                  <a:pt x="23" y="23"/>
                </a:lnTo>
                <a:close/>
                <a:moveTo>
                  <a:pt x="0" y="23"/>
                </a:moveTo>
                <a:lnTo>
                  <a:pt x="1" y="23"/>
                </a:lnTo>
                <a:lnTo>
                  <a:pt x="1" y="24"/>
                </a:lnTo>
                <a:lnTo>
                  <a:pt x="0" y="24"/>
                </a:lnTo>
                <a:close/>
                <a:moveTo>
                  <a:pt x="6" y="23"/>
                </a:moveTo>
                <a:lnTo>
                  <a:pt x="7" y="23"/>
                </a:lnTo>
                <a:lnTo>
                  <a:pt x="7" y="24"/>
                </a:lnTo>
                <a:lnTo>
                  <a:pt x="6" y="24"/>
                </a:lnTo>
                <a:close/>
                <a:moveTo>
                  <a:pt x="9" y="23"/>
                </a:moveTo>
                <a:lnTo>
                  <a:pt x="10" y="23"/>
                </a:lnTo>
                <a:lnTo>
                  <a:pt x="10" y="24"/>
                </a:lnTo>
                <a:lnTo>
                  <a:pt x="9" y="24"/>
                </a:lnTo>
                <a:close/>
                <a:moveTo>
                  <a:pt x="11" y="23"/>
                </a:moveTo>
                <a:lnTo>
                  <a:pt x="13" y="23"/>
                </a:lnTo>
                <a:lnTo>
                  <a:pt x="13" y="24"/>
                </a:lnTo>
                <a:lnTo>
                  <a:pt x="11" y="24"/>
                </a:lnTo>
                <a:close/>
                <a:moveTo>
                  <a:pt x="14" y="23"/>
                </a:moveTo>
                <a:lnTo>
                  <a:pt x="18" y="23"/>
                </a:lnTo>
                <a:lnTo>
                  <a:pt x="18" y="24"/>
                </a:lnTo>
                <a:lnTo>
                  <a:pt x="14" y="24"/>
                </a:lnTo>
                <a:close/>
                <a:moveTo>
                  <a:pt x="19" y="23"/>
                </a:moveTo>
                <a:lnTo>
                  <a:pt x="21" y="23"/>
                </a:lnTo>
                <a:lnTo>
                  <a:pt x="21" y="24"/>
                </a:lnTo>
                <a:lnTo>
                  <a:pt x="19" y="24"/>
                </a:lnTo>
                <a:close/>
                <a:moveTo>
                  <a:pt x="0" y="24"/>
                </a:moveTo>
                <a:lnTo>
                  <a:pt x="7" y="24"/>
                </a:lnTo>
                <a:lnTo>
                  <a:pt x="7" y="25"/>
                </a:lnTo>
                <a:lnTo>
                  <a:pt x="0" y="25"/>
                </a:lnTo>
                <a:close/>
                <a:moveTo>
                  <a:pt x="8" y="24"/>
                </a:moveTo>
                <a:lnTo>
                  <a:pt x="9" y="24"/>
                </a:lnTo>
                <a:lnTo>
                  <a:pt x="9" y="25"/>
                </a:lnTo>
                <a:lnTo>
                  <a:pt x="8" y="25"/>
                </a:lnTo>
                <a:close/>
                <a:moveTo>
                  <a:pt x="12" y="24"/>
                </a:moveTo>
                <a:lnTo>
                  <a:pt x="13" y="24"/>
                </a:lnTo>
                <a:lnTo>
                  <a:pt x="13" y="25"/>
                </a:lnTo>
                <a:lnTo>
                  <a:pt x="12" y="25"/>
                </a:lnTo>
                <a:close/>
                <a:moveTo>
                  <a:pt x="16" y="24"/>
                </a:moveTo>
                <a:lnTo>
                  <a:pt x="17" y="24"/>
                </a:lnTo>
                <a:lnTo>
                  <a:pt x="17" y="25"/>
                </a:lnTo>
                <a:lnTo>
                  <a:pt x="16" y="25"/>
                </a:lnTo>
                <a:close/>
                <a:moveTo>
                  <a:pt x="18" y="24"/>
                </a:moveTo>
                <a:lnTo>
                  <a:pt x="19" y="24"/>
                </a:lnTo>
                <a:lnTo>
                  <a:pt x="19" y="25"/>
                </a:lnTo>
                <a:lnTo>
                  <a:pt x="18" y="25"/>
                </a:lnTo>
                <a:close/>
                <a:moveTo>
                  <a:pt x="21" y="24"/>
                </a:moveTo>
                <a:lnTo>
                  <a:pt x="22" y="24"/>
                </a:lnTo>
                <a:lnTo>
                  <a:pt x="22" y="25"/>
                </a:lnTo>
                <a:lnTo>
                  <a:pt x="21" y="25"/>
                </a:lnTo>
                <a:close/>
                <a:moveTo>
                  <a:pt x="24" y="24"/>
                </a:moveTo>
                <a:lnTo>
                  <a:pt x="25" y="24"/>
                </a:lnTo>
                <a:lnTo>
                  <a:pt x="25" y="25"/>
                </a:lnTo>
                <a:lnTo>
                  <a:pt x="24" y="25"/>
                </a:lnTo>
                <a:close/>
              </a:path>
            </a:pathLst>
          </a:custGeom>
          <a:solidFill>
            <a:srgbClr val="162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p:cNvSpPr txBox="1"/>
          <p:nvPr/>
        </p:nvSpPr>
        <p:spPr>
          <a:xfrm>
            <a:off x="9905695" y="3474720"/>
            <a:ext cx="1737360" cy="365760"/>
          </a:xfrm>
          <a:prstGeom prst="rect">
            <a:avLst/>
          </a:prstGeom>
          <a:noFill/>
        </p:spPr>
        <p:txBody>
          <a:bodyPr wrap="square" lIns="0" rIns="0" tIns="0" bIns="0" anchor="t">
            <a:spAutoFit/>
          </a:bodyPr>
          <a:lstStyle/>
          <a:p>
            <a:pPr algn="ctr">
              <a:lnSpc>
                <a:spcPct val="100000"/>
              </a:lnSpc>
            </a:pPr>
            <a:r>
              <a:rPr sz="1500" b="0">
                <a:solidFill>
                  <a:srgbClr val="5B6F68"/>
                </a:solidFill>
                <a:latin typeface="Calibri"/>
              </a:rPr>
              <a:t>inferogenesis.com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6241F"/>
      </a:hlink>
      <a:folHlink>
        <a:srgbClr val="16241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 curious rocket</dc:title>
  <dc:subject/>
  <dc:creator>Inferogenesis</dc:creator>
  <cp:keywords/>
  <dc:description>generated using python-pptx</dc:description>
  <cp:lastModifiedBy>Inferogenesis</cp:lastModifiedBy>
  <cp:revision>1</cp:revision>
  <dcterms:created xsi:type="dcterms:W3CDTF">2013-01-27T09:14:16Z</dcterms:created>
  <dcterms:modified xsi:type="dcterms:W3CDTF">2013-01-27T09:15:58Z</dcterms:modified>
  <cp:category/>
</cp:coreProperties>
</file>