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0:00. Keyboard shares the screen with this slide up and pastes the Colab link in chat. Kev opens.</a:t>
            </a:r>
          </a:p>
          <a:p/>
          <a:p>
            <a:r>
              <a:t>Everyone writes their own lines today, two per task. Move on while people are still joining. The install starts now.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0:00. Keyboard pastes the Colab link in chat again. Colab needs nothing installed. Running locally works with the pip line, or with uv as the README shows. Cell 1 stops if cpomdp is not 0.5.0.</a:t>
            </a:r>
          </a:p>
          <a:p/>
          <a:p>
            <a:r>
              <a:t>Kev introduces us both while the installs run.</a:t>
            </a:r>
          </a:p>
          <a:p/>
          <a:p>
            <a:r>
              <a:t>TODO owner: photos and bios on the cards.</a:t>
            </a:r>
          </a:p>
          <a:p/>
          <a:p>
            <a:r>
              <a:t>TODO owner: publish cpomdp-workshop to PyPI before the session. Until then the pip line fails, and cell 1 fails on Colab too.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The whole game first. By 1:32 the room has built this picture in three steps.</a:t>
            </a:r>
          </a:p>
          <a:p/>
          <a:p>
            <a:r>
              <a:t>The dashed line is the 1960 rocket. It hits the rock on step 6. The two solid lines are curious rockets. At seed 3 both fly round the rock.</a:t>
            </a:r>
          </a:p>
          <a:p/>
          <a:p>
            <a:r>
              <a:t>Do not explain why yet. Task 3 and the slide after the rock do. Cell 2 draws this picture in under a minute.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 owner: the panel.</a:t>
            </a:r>
          </a:p>
          <a:p/>
          <a:p>
            <a:r>
              <a:t>Q&amp;A. Asked whether Claude wrote the release the room is running, the answer is: some of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If you have built a continuous active inference agent and watched it act as a controller, you did nothing wrong.</a:t>
            </a:r>
          </a:p>
          <a:p/>
          <a:p>
            <a:r>
              <a:t>Under a sensor whose noise never changes, every move teaches the same amount. Expected free energy then reduces to LQR, the result Koudahl, Kouw and de Vries published in 2021. Task 1 builds that rocket. The probe reports it.</a:t>
            </a:r>
          </a:p>
          <a:p/>
          <a:p>
            <a:r>
              <a:t>The rest of the session changes one thing. The noise depends on where the rocket is.</a:t>
            </a:r>
          </a:p>
          <a:p/>
          <a:p>
            <a:r>
              <a:t>TODO Kev: framing.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pymdp's letters in cpomdp's names. A is the observation likelihood, so observation_matrix. B is the transition, so dynamics_matrix, with control_matrix for where a move enters. C is the preference. The 1960 rocket takes a StateGoal and the curious one a Preference. D is the prior.</a:t>
            </a:r>
          </a:p>
          <a:p/>
          <a:p>
            <a:r>
              <a:t>The code is task 1's model. Keyboard runs cell 1 now if it has not run.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Open decision: keep this slide, or swap in the task tiles. Keep is recommended.</a:t>
            </a:r>
          </a:p>
          <a:p/>
          <a:p>
            <a:r>
              <a:t>A belief here is a mean and a covariance. The shaded ellipses are two sigma, after 1, 2, 4 and 8 readings. Each reading shrinks it in closed form.</a:t>
            </a:r>
          </a:p>
          <a:p/>
          <a:p>
            <a:r>
              <a:t>At 0:10 everyone runs cell 2 and sees the preview.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0:12. Keyboard. Hands-on starts.</a:t>
            </a:r>
          </a:p>
          <a:p/>
          <a:p>
            <a:r>
              <a:t>Two lines to write, the observation matrix and its noise. The rest is written, the thruster cost included. Hint 1 and hint 2 go in chat on the timer from hints_chat.txt. The reference cell is collapsed under them. Using it is fine. The imports sit at the top of the cell.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shows what the cell printed. The rocket is LQR, and lands 0.13 from the pad.</a:t>
            </a:r>
          </a:p>
          <a:p/>
          <a:p>
            <a:r>
              <a:t>The probe asks whether any of the nine compass moves teaches more than another. spread = 0.000000 nats. None does. Every spread pasted in chat should read zero, whatever the bonus sliders changed.</a:t>
            </a:r>
          </a:p>
          <a:p/>
          <a:p>
            <a:r>
              <a:t>Then poll 1 for 60 s. Kev reads the split.</a:t>
            </a:r>
          </a:p>
          <a:p/>
          <a:p>
            <a:r>
              <a:t>Poll 1</a:t>
            </a:r>
          </a:p>
          <a:p/>
          <a:p>
            <a:r>
              <a:t>The 1960 rocket's spread is zero whatever you change. Why?</a:t>
            </a:r>
          </a:p>
          <a:p/>
          <a:p>
            <a:r>
              <a:t>1. The prior is too wide for any one reading to matter.</a:t>
            </a:r>
          </a:p>
          <a:p>
            <a:r>
              <a:t>2. The noise is the same everywhere, so every move leaves the rocket equally unsure.</a:t>
            </a:r>
          </a:p>
          <a:p>
            <a:r>
              <a:t>3. A step of 0.5 is too short to reach anywhere different.</a:t>
            </a:r>
          </a:p>
          <a:p>
            <a:r>
              <a:t>4. LQR ignores what the probe reports.</a:t>
            </a:r>
          </a:p>
          <a:p/>
          <a:p>
            <a:r>
              <a:t>Answer.</a:t>
            </a:r>
          </a:p>
          <a:p/>
          <a:p>
            <a:r>
              <a:t>2. The uncertainty after a reading depends on the noise where the reading is taken. Here that noise never changes, so no move can teach more than another. The other three change nothing about that, which is what the bonus sliders show.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The reading now depends on where the rocket is. Two lines, the beacon's pull inside my_sensor and k.</a:t>
            </a:r>
          </a:p>
          <a:p/>
          <a:p>
            <a:r>
              <a:t>The goal changes too. This rocket prefers a reading, the one that says on the pad. The planner scores the nine compass moves every step.</a:t>
            </a:r>
          </a:p>
          <a:p/>
          <a:p>
            <a:r>
              <a:t>The room starts at k = 0.08 and looks for a k that bends the path up to the beacon. Hint 2 gives k = 0.4.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shows check_my_sensor's line for k = 0.4. The rocket bends 1.41 off the straight line. It lands 0.24 from the pad.</a:t>
            </a:r>
          </a:p>
          <a:p/>
          <a:p>
            <a:r>
              <a:t>Same map as the last route slide. Only the field and the amber line are new.</a:t>
            </a:r>
          </a:p>
          <a:p/>
          <a:p>
            <a:r>
              <a:t>Ask for k in chat, then poll 2 for 60 s. Kev reads the split.</a:t>
            </a:r>
          </a:p>
          <a:p/>
          <a:p>
            <a:r>
              <a:t>Poll 2</a:t>
            </a:r>
          </a:p>
          <a:p/>
          <a:p>
            <a:r>
              <a:t>At k = 0.6 the rocket stops short of the pad, and looking further ahead does not help. Why?</a:t>
            </a:r>
          </a:p>
          <a:p/>
          <a:p>
            <a:r>
              <a:t>1. From near the beacon it cannot see the pad.</a:t>
            </a:r>
          </a:p>
          <a:p>
            <a:r>
              <a:t>2. It still looks too few moves ahead.</a:t>
            </a:r>
          </a:p>
          <a:p>
            <a:r>
              <a:t>3. It prefers a reading of the pad. At that k the pad reads so badly that a spot nearer the beacon is expected to read closer to "on the pad".</a:t>
            </a:r>
          </a:p>
          <a:p>
            <a:r>
              <a:t>4. The thruster cost stops it.</a:t>
            </a:r>
          </a:p>
          <a:p/>
          <a:p>
            <a:r>
              <a:t>Answer.</a:t>
            </a:r>
          </a:p>
          <a:p/>
          <a:p>
            <a:r>
              <a:t>3. The preference is over readings, and the expected miss includes the reading's own noise. Where the noise is large, standing on the pad still reads far from it on average. The curious rocket carries no thruster cost, so 4 cannot apply.</a:t>
            </a:r>
          </a:p>
          <a:p/>
          <a:p>
            <a:r>
              <a:t>The bonus cell backs answer 3. At k = 0.6 the rocket stops 1.49 short of the pad looking one move ahead, 1.65 looking two and 1.86 looking three.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0:56. Six minutes, cameras off. Keyboard puts a timer on screen.</a:t>
            </a:r>
          </a:p>
          <a:p/>
          <a:p>
            <a:r>
              <a:t>Whoever is not presenting reads the form and the one-up-one-down answers. Back at 1:02.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1:02. Keyboard. Two lines again, the blackout term in my_world and the one-node backend. The slider sets k for the room's rocket.</a:t>
            </a:r>
          </a:p>
          <a:p/>
          <a:p>
            <a:r>
              <a:t>plot_world flies three rockets past a rock none of them models. check_backends flies the 1960 rocket on the Kalman filter and on the graph, and prints max |difference|. Both lines are written.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The one live reveal. Read the error aloud, then the fix.</a:t>
            </a:r>
          </a:p>
          <a:p/>
          <a:p>
            <a:r>
              <a:t>This is papercut 1, a sensor passed into the noise slot. Before 0.5.0 the same line raised a raw TypeError. Now cpomdp names the slot.</a:t>
            </a:r>
          </a:p>
          <a:p/>
          <a:p>
            <a:r>
              <a:t>workshop.symptoms() prints the five errors the room is most likely to hit, in the pinned release's own words. Each comes with its fix.</a:t>
            </a:r>
          </a:p>
          <a:p/>
          <a:p>
            <a:r>
              <a:t>TODO owner: the papercut-1 origin line the lost deck carried, in your words, if you want it back.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The same map again. The field now has the blackout.</a:t>
            </a:r>
          </a:p>
          <a:p/>
          <a:p>
            <a:r>
              <a:t>The 1960 rocket flies the line it flew in task 1. Its model has one noise level. It flies in the world that model describes. The curious rockets swing wide of the bright patch.</a:t>
            </a:r>
          </a:p>
          <a:p/>
          <a:p>
            <a:r>
              <a:t>There is no rock yet. The next slide adds it and nothing else.</a:t>
            </a:r>
          </a:p>
          <a:p/>
          <a:p>
            <a:r>
              <a:t>TODO Kev: framing.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One thing added, the rock in the blackout. No rocket models it.</a:t>
            </a:r>
          </a:p>
          <a:p/>
          <a:p>
            <a:r>
              <a:t>The 1960 rocket hits it on step 6, on every seed from 0 to 9. The figure is seed 3. Both curious rockets clear it there. k = 0.08 peaks at y = 1.71 and ends at (4.83, 0.09). k = 0.20 peaks at 1.91 and ends at (5.18, 0.15).</a:t>
            </a:r>
          </a:p>
          <a:p/>
          <a:p>
            <a:r>
              <a:t>Seed 3 is one seed. Over seeds 0 to 9 the k = 0.08 rocket clips the rock on seeds 1 and 2, and the k = 0.20 rocket on seeds 1, 2 and 9.</a:t>
            </a:r>
          </a:p>
          <a:p/>
          <a:p>
            <a:r>
              <a:t>Ask for max |difference| in chat. Below 1e-9 means the two engines agree. Then poll 3 for 60 s.</a:t>
            </a:r>
          </a:p>
          <a:p/>
          <a:p>
            <a:r>
              <a:t>Poll 3</a:t>
            </a:r>
          </a:p>
          <a:p/>
          <a:p>
            <a:r>
              <a:t>Why did the curious rockets clear the rock in the blackout?</a:t>
            </a:r>
          </a:p>
          <a:p/>
          <a:p>
            <a:r>
              <a:t>1. They modelled the rock.</a:t>
            </a:r>
          </a:p>
          <a:p>
            <a:r>
              <a:t>2. They looked far enough ahead to see it coming.</a:t>
            </a:r>
          </a:p>
          <a:p>
            <a:r>
              <a:t>3. A reading in the blackout is swamped, so a move into it is expected to read far from "on the pad". The rock sits in the blackout.</a:t>
            </a:r>
          </a:p>
          <a:p>
            <a:r>
              <a:t>4. Luck. Another seed would hit it.</a:t>
            </a:r>
          </a:p>
          <a:p/>
          <a:p>
            <a:r>
              <a:t>Answer.</a:t>
            </a:r>
          </a:p>
          <a:p/>
          <a:p>
            <a:r>
              <a:t>3. No rocket knows the rock is there, and each looks one move ahead. Where the noise is large, a reading lands far from "on the pad" on average, so moves into the blackout score badly. 4 is partly true. Over the first ten seeds the k = 0.08 rocket clips the rock twice and the k = 0.20 rocket three times. The figure is seed 3. The bonus moves the rock out of the blackout onto the seed 3 arc, and both curious rockets fly into it.</a:t>
            </a:r>
          </a:p>
          <a:p/>
          <a:p>
            <a:r>
              <a:t>Looking two moves ahead is a self-guided cell. It runs fast enough to show live if there is time.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The answer to polls 2 and 3.</a:t>
            </a:r>
          </a:p>
          <a:p/>
          <a:p>
            <a:r>
              <a:t>Each step the rocket scores the nine moves by expected free energy. Its first term is the expected miss from the preferred reading, on the pad. That expectation carries S, and S carries R where the move is expected to land. Where the reading is noisy, a reading taken on the pad itself lands far from it on average. Moves into the blackout score badly. Moves toward the beacon score well.</a:t>
            </a:r>
          </a:p>
          <a:p/>
          <a:p>
            <a:r>
              <a:t>What steers the route is the reading noise inside the expected miss. That term moves only when R depends on position. For the 1960 rocket it is the same for every move. LQR is what is left.</a:t>
            </a:r>
          </a:p>
          <a:p/>
          <a:p>
            <a:r>
              <a:t>The clear-sky bonus shows what the rockets avoid. With the rock moved out of the blackout onto their arc, both hit it on step 5. The 1960 rocket flies under it.</a:t>
            </a:r>
          </a:p>
          <a:p/>
          <a:p>
            <a:r>
              <a:t>TODO Kev: framing. Whether curious is the word for a rocket steered this way is yours to settle.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The 1960 rocket on three engines. The code is what one_node builds. Agent.from_backend puts a rocket on either backend.</a:t>
            </a:r>
          </a:p>
          <a:p/>
          <a:p>
            <a:r>
              <a:t>The two print the same belief to six places. max |difference| sits below 1e-9. The coda shows RxInfer refusing the curious model.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What a printed number entitles you to say.</a:t>
            </a:r>
          </a:p>
          <a:p/>
          <a:p>
            <a:r>
              <a:t>The certificate names the set by its version, compass-9, and counts every plan the search scored. The axis set is five moves. Seven deep it is 78125 plans, all held at once.</a:t>
            </a:r>
          </a:p>
          <a:p/>
          <a:p>
            <a:r>
              <a:t>The third line is RxInfer refusing the curious model. Its filter fixes Q and 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A rocket towing a probe is two nodes. The engine moves the rocket. The probe trails toward it. The full field reads the probe.</a:t>
            </a:r>
          </a:p>
          <a:p/>
          <a:p>
            <a:r>
              <a:t>The coupling shifts the probe's predicted mean. The noise is read at that mean. cpomdp refuses to flatten it into one filter.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Pointers only. Two moves ahead scores 81 plans a step against 9.</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 owner: this segment. Five minutes at most.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 owner: the content of this slide from the lost deck. Its status line read: scoped, starts after p*. It stays.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Everything shown runs on cpomdp 0.5.0 from PyPI. Recording, notebook, package, slides and notes go to the Discord channel and the README within 48 hours.</a:t>
            </a:r>
          </a:p>
          <a:p/>
          <a:p>
            <a:r>
              <a:t>TODO owner: the email.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through Q&amp;A. The survey link goes in chat as well, while the room is still here.</a:t>
            </a:r>
          </a:p>
          <a:p/>
          <a:p>
            <a:r>
              <a:t>TODO owner: the survey link, and the Zenodo DOI once minted.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lab.research.google.com/github/inferogenesis/cpomdp-workshop/blob/main/notebooks/build_a_curious_rocket.ipynb"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lab.research.google.com/github/inferogenesis/cpomdp-workshop/blob/main/notebooks/build_a_curious_rocket.ipynb" TargetMode="External"/><Relationship Id="rId3" Type="http://schemas.openxmlformats.org/officeDocument/2006/relationships/hyperlink" Target="https://github.com/inferogenesis/cpomdp-workshop" TargetMode="External"/><Relationship Id="rId4" Type="http://schemas.openxmlformats.org/officeDocument/2006/relationships/hyperlink" Target="https://pypi.org/project/cpomdp/" TargetMode="External"/><Relationship Id="rId5"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ext"/>
          <p:cNvSpPr txBox="1"/>
          <p:nvPr/>
        </p:nvSpPr>
        <p:spPr>
          <a:xfrm>
            <a:off x="548640" y="1371600"/>
            <a:ext cx="10515600" cy="1097280"/>
          </a:xfrm>
          <a:prstGeom prst="rect">
            <a:avLst/>
          </a:prstGeom>
          <a:noFill/>
        </p:spPr>
        <p:txBody>
          <a:bodyPr wrap="square" lIns="0" rIns="0" tIns="0" bIns="0" anchor="t">
            <a:spAutoFit/>
          </a:bodyPr>
          <a:lstStyle/>
          <a:p>
            <a:pPr algn="l">
              <a:lnSpc>
                <a:spcPct val="100000"/>
              </a:lnSpc>
            </a:pPr>
            <a:r>
              <a:rPr sz="6000" b="1">
                <a:solidFill>
                  <a:srgbClr val="F3F0E6"/>
                </a:solidFill>
                <a:latin typeface="Calibri"/>
              </a:rPr>
              <a:t>Build a curious rocket</a:t>
            </a:r>
          </a:p>
        </p:txBody>
      </p:sp>
      <p:sp>
        <p:nvSpPr>
          <p:cNvPr id="3" name="text"/>
          <p:cNvSpPr txBox="1"/>
          <p:nvPr/>
        </p:nvSpPr>
        <p:spPr>
          <a:xfrm>
            <a:off x="548640" y="2606040"/>
            <a:ext cx="10515600" cy="548640"/>
          </a:xfrm>
          <a:prstGeom prst="rect">
            <a:avLst/>
          </a:prstGeom>
          <a:noFill/>
        </p:spPr>
        <p:txBody>
          <a:bodyPr wrap="square" lIns="0" rIns="0" tIns="0" bIns="0" anchor="t">
            <a:spAutoFit/>
          </a:bodyPr>
          <a:lstStyle/>
          <a:p>
            <a:pPr algn="l">
              <a:lnSpc>
                <a:spcPct val="100000"/>
              </a:lnSpc>
            </a:pPr>
            <a:r>
              <a:rPr sz="2600" b="0">
                <a:solidFill>
                  <a:srgbClr val="8C968F"/>
                </a:solidFill>
                <a:latin typeface="Calibri"/>
              </a:rPr>
              <a:t>cpomdp · continuous active inference in Python, hands-on</a:t>
            </a:r>
          </a:p>
        </p:txBody>
      </p:sp>
      <p:sp>
        <p:nvSpPr>
          <p:cNvPr id="4" name="text"/>
          <p:cNvSpPr txBox="1"/>
          <p:nvPr/>
        </p:nvSpPr>
        <p:spPr>
          <a:xfrm>
            <a:off x="548640" y="3200400"/>
            <a:ext cx="10515600" cy="457200"/>
          </a:xfrm>
          <a:prstGeom prst="rect">
            <a:avLst/>
          </a:prstGeom>
          <a:noFill/>
        </p:spPr>
        <p:txBody>
          <a:bodyPr wrap="square" lIns="0" rIns="0" tIns="0" bIns="0" anchor="t">
            <a:spAutoFit/>
          </a:bodyPr>
          <a:lstStyle/>
          <a:p>
            <a:pPr algn="l">
              <a:lnSpc>
                <a:spcPct val="100000"/>
              </a:lnSpc>
            </a:pPr>
            <a:r>
              <a:rPr sz="2000" b="0">
                <a:solidFill>
                  <a:srgbClr val="8C968F"/>
                </a:solidFill>
                <a:latin typeface="Calibri"/>
              </a:rPr>
              <a:t>6th Applied Active Inference Symposium · 2026</a:t>
            </a:r>
          </a:p>
        </p:txBody>
      </p:sp>
      <p:sp>
        <p:nvSpPr>
          <p:cNvPr id="5" name="pill"/>
          <p:cNvSpPr/>
          <p:nvPr/>
        </p:nvSpPr>
        <p:spPr>
          <a:xfrm>
            <a:off x="548640" y="3931920"/>
            <a:ext cx="2377440" cy="502920"/>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800" b="0">
                <a:solidFill>
                  <a:srgbClr val="E69F00"/>
                </a:solidFill>
                <a:latin typeface="Courier New"/>
              </a:rPr>
              <a:t>cpomdp 0.5.0</a:t>
            </a:r>
          </a:p>
        </p:txBody>
      </p:sp>
      <p:sp>
        <p:nvSpPr>
          <p:cNvPr id="6" name="pill"/>
          <p:cNvSpPr/>
          <p:nvPr/>
        </p:nvSpPr>
        <p:spPr>
          <a:xfrm>
            <a:off x="548640" y="5394960"/>
            <a:ext cx="3474720" cy="640080"/>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2000" b="0">
                <a:solidFill>
                  <a:srgbClr val="F3F0E6"/>
                </a:solidFill>
                <a:latin typeface="Calibri"/>
              </a:rPr>
              <a:t>1  the 1960 rocket</a:t>
            </a:r>
          </a:p>
        </p:txBody>
      </p:sp>
      <p:sp>
        <p:nvSpPr>
          <p:cNvPr id="7" name="pill"/>
          <p:cNvSpPr/>
          <p:nvPr/>
        </p:nvSpPr>
        <p:spPr>
          <a:xfrm>
            <a:off x="4297679" y="5394960"/>
            <a:ext cx="3474720" cy="640080"/>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2000" b="0">
                <a:solidFill>
                  <a:srgbClr val="E69F00"/>
                </a:solidFill>
                <a:latin typeface="Calibri"/>
              </a:rPr>
              <a:t>2  a beacon</a:t>
            </a:r>
          </a:p>
        </p:txBody>
      </p:sp>
      <p:sp>
        <p:nvSpPr>
          <p:cNvPr id="8" name="pill"/>
          <p:cNvSpPr/>
          <p:nvPr/>
        </p:nvSpPr>
        <p:spPr>
          <a:xfrm>
            <a:off x="8046719" y="5394960"/>
            <a:ext cx="3474720" cy="640080"/>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2000" b="0">
                <a:solidFill>
                  <a:srgbClr val="3D8ED4"/>
                </a:solidFill>
                <a:latin typeface="Calibri"/>
              </a:rPr>
              <a:t>3  the blackout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Presenters</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framing</a:t>
            </a:r>
          </a:p>
        </p:txBody>
      </p:sp>
      <p:sp>
        <p:nvSpPr>
          <p:cNvPr id="4" name="placeholder"/>
          <p:cNvSpPr/>
          <p:nvPr/>
        </p:nvSpPr>
        <p:spPr>
          <a:xfrm>
            <a:off x="548640" y="1325880"/>
            <a:ext cx="1737360" cy="1737360"/>
          </a:xfrm>
          <a:prstGeom prst="roundRect">
            <a:avLst>
              <a:gd name="adj" fmla="val 6315"/>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E69F00"/>
                </a:solidFill>
                <a:latin typeface="Calibri"/>
              </a:rPr>
              <a:t>[photo]</a:t>
            </a:r>
          </a:p>
        </p:txBody>
      </p:sp>
      <p:sp>
        <p:nvSpPr>
          <p:cNvPr id="5" name="text"/>
          <p:cNvSpPr txBox="1"/>
          <p:nvPr/>
        </p:nvSpPr>
        <p:spPr>
          <a:xfrm>
            <a:off x="2560320" y="1325880"/>
            <a:ext cx="3383280" cy="457200"/>
          </a:xfrm>
          <a:prstGeom prst="rect">
            <a:avLst/>
          </a:prstGeom>
          <a:noFill/>
        </p:spPr>
        <p:txBody>
          <a:bodyPr wrap="square" lIns="0" rIns="0" tIns="0" bIns="0" anchor="t">
            <a:spAutoFit/>
          </a:bodyPr>
          <a:lstStyle/>
          <a:p>
            <a:pPr algn="l">
              <a:lnSpc>
                <a:spcPct val="100000"/>
              </a:lnSpc>
            </a:pPr>
            <a:r>
              <a:rPr sz="2200" b="1">
                <a:solidFill>
                  <a:srgbClr val="F3F0E6"/>
                </a:solidFill>
                <a:latin typeface="Calibri"/>
              </a:rPr>
              <a:t>Presenter 1 (keyboard)</a:t>
            </a:r>
          </a:p>
        </p:txBody>
      </p:sp>
      <p:sp>
        <p:nvSpPr>
          <p:cNvPr id="6" name="placeholder"/>
          <p:cNvSpPr/>
          <p:nvPr/>
        </p:nvSpPr>
        <p:spPr>
          <a:xfrm>
            <a:off x="2560320" y="1920240"/>
            <a:ext cx="3383280" cy="1143000"/>
          </a:xfrm>
          <a:prstGeom prst="roundRect">
            <a:avLst>
              <a:gd name="adj" fmla="val 80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E69F00"/>
                </a:solidFill>
                <a:latin typeface="Calibri"/>
              </a:rPr>
              <a:t>[bio]</a:t>
            </a:r>
          </a:p>
        </p:txBody>
      </p:sp>
      <p:sp>
        <p:nvSpPr>
          <p:cNvPr id="7" name="placeholder"/>
          <p:cNvSpPr/>
          <p:nvPr/>
        </p:nvSpPr>
        <p:spPr>
          <a:xfrm>
            <a:off x="6217920" y="1325880"/>
            <a:ext cx="1737360" cy="1737360"/>
          </a:xfrm>
          <a:prstGeom prst="roundRect">
            <a:avLst>
              <a:gd name="adj" fmla="val 6315"/>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E69F00"/>
                </a:solidFill>
                <a:latin typeface="Calibri"/>
              </a:rPr>
              <a:t>[photo]</a:t>
            </a:r>
          </a:p>
        </p:txBody>
      </p:sp>
      <p:sp>
        <p:nvSpPr>
          <p:cNvPr id="8" name="text"/>
          <p:cNvSpPr txBox="1"/>
          <p:nvPr/>
        </p:nvSpPr>
        <p:spPr>
          <a:xfrm>
            <a:off x="8229600" y="1325880"/>
            <a:ext cx="3383280" cy="457200"/>
          </a:xfrm>
          <a:prstGeom prst="rect">
            <a:avLst/>
          </a:prstGeom>
          <a:noFill/>
        </p:spPr>
        <p:txBody>
          <a:bodyPr wrap="square" lIns="0" rIns="0" tIns="0" bIns="0" anchor="t">
            <a:spAutoFit/>
          </a:bodyPr>
          <a:lstStyle/>
          <a:p>
            <a:pPr algn="l">
              <a:lnSpc>
                <a:spcPct val="100000"/>
              </a:lnSpc>
            </a:pPr>
            <a:r>
              <a:rPr sz="2200" b="1">
                <a:solidFill>
                  <a:srgbClr val="F3F0E6"/>
                </a:solidFill>
                <a:latin typeface="Calibri"/>
              </a:rPr>
              <a:t>Kev (concepts)</a:t>
            </a:r>
          </a:p>
        </p:txBody>
      </p:sp>
      <p:sp>
        <p:nvSpPr>
          <p:cNvPr id="9" name="placeholder"/>
          <p:cNvSpPr/>
          <p:nvPr/>
        </p:nvSpPr>
        <p:spPr>
          <a:xfrm>
            <a:off x="8229600" y="1920240"/>
            <a:ext cx="3383280" cy="1143000"/>
          </a:xfrm>
          <a:prstGeom prst="roundRect">
            <a:avLst>
              <a:gd name="adj" fmla="val 80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E69F00"/>
                </a:solidFill>
                <a:latin typeface="Calibri"/>
              </a:rPr>
              <a:t>[bio]</a:t>
            </a:r>
          </a:p>
        </p:txBody>
      </p:sp>
      <p:sp>
        <p:nvSpPr>
          <p:cNvPr id="10" name="text"/>
          <p:cNvSpPr txBox="1"/>
          <p:nvPr/>
        </p:nvSpPr>
        <p:spPr>
          <a:xfrm>
            <a:off x="548640" y="3657600"/>
            <a:ext cx="10058400" cy="457200"/>
          </a:xfrm>
          <a:prstGeom prst="rect">
            <a:avLst/>
          </a:prstGeom>
          <a:noFill/>
        </p:spPr>
        <p:txBody>
          <a:bodyPr wrap="square" lIns="0" rIns="0" tIns="0" bIns="0" anchor="t">
            <a:spAutoFit/>
          </a:bodyPr>
          <a:lstStyle/>
          <a:p>
            <a:pPr algn="l">
              <a:lnSpc>
                <a:spcPct val="100000"/>
              </a:lnSpc>
            </a:pPr>
            <a:r>
              <a:rPr sz="2000" b="1">
                <a:solidFill>
                  <a:srgbClr val="F3F0E6"/>
                </a:solidFill>
                <a:latin typeface="Calibri"/>
              </a:rPr>
              <a:t>Start now. Open the notebook in Colab</a:t>
            </a:r>
          </a:p>
        </p:txBody>
      </p:sp>
      <p:sp>
        <p:nvSpPr>
          <p:cNvPr id="11" name="link"/>
          <p:cNvSpPr txBox="1"/>
          <p:nvPr/>
        </p:nvSpPr>
        <p:spPr>
          <a:xfrm>
            <a:off x="548640" y="4206240"/>
            <a:ext cx="11094415" cy="365760"/>
          </a:xfrm>
          <a:prstGeom prst="rect">
            <a:avLst/>
          </a:prstGeom>
          <a:noFill/>
        </p:spPr>
        <p:txBody>
          <a:bodyPr wrap="none" lIns="0" rIns="0" tIns="0" bIns="0">
            <a:spAutoFit/>
          </a:bodyPr>
          <a:lstStyle/>
          <a:p>
            <a:r>
              <a:rPr sz="1200">
                <a:solidFill>
                  <a:srgbClr val="F3F0E6"/>
                </a:solidFill>
                <a:latin typeface="Courier New"/>
                <a:hlinkClick r:id="rId2"/>
              </a:rPr>
              <a:t>colab.research.google.com/github/inferogenesis/cpomdp-workshop/blob/main/notebooks/build_a_curious_rocket.ipynb</a:t>
            </a:r>
          </a:p>
        </p:txBody>
      </p:sp>
      <p:sp>
        <p:nvSpPr>
          <p:cNvPr id="12" name="text"/>
          <p:cNvSpPr txBox="1"/>
          <p:nvPr/>
        </p:nvSpPr>
        <p:spPr>
          <a:xfrm>
            <a:off x="548640" y="4892040"/>
            <a:ext cx="10058400" cy="457200"/>
          </a:xfrm>
          <a:prstGeom prst="rect">
            <a:avLst/>
          </a:prstGeom>
          <a:noFill/>
        </p:spPr>
        <p:txBody>
          <a:bodyPr wrap="square" lIns="0" rIns="0" tIns="0" bIns="0" anchor="t">
            <a:spAutoFit/>
          </a:bodyPr>
          <a:lstStyle/>
          <a:p>
            <a:pPr algn="l">
              <a:lnSpc>
                <a:spcPct val="100000"/>
              </a:lnSpc>
            </a:pPr>
            <a:r>
              <a:rPr sz="2000" b="1">
                <a:solidFill>
                  <a:srgbClr val="F3F0E6"/>
                </a:solidFill>
                <a:latin typeface="Calibri"/>
              </a:rPr>
              <a:t>Or run it locally</a:t>
            </a:r>
          </a:p>
        </p:txBody>
      </p:sp>
      <p:sp>
        <p:nvSpPr>
          <p:cNvPr id="13" name="code"/>
          <p:cNvSpPr/>
          <p:nvPr/>
        </p:nvSpPr>
        <p:spPr>
          <a:xfrm>
            <a:off x="548640" y="5440680"/>
            <a:ext cx="5486400" cy="548640"/>
          </a:xfrm>
          <a:prstGeom prst="roundRect">
            <a:avLst>
              <a:gd name="adj" fmla="val 8000"/>
            </a:avLst>
          </a:prstGeom>
          <a:solidFill>
            <a:srgbClr val="14261F"/>
          </a:solid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pPr>
            <a:r>
              <a:rPr sz="1400" b="0">
                <a:solidFill>
                  <a:srgbClr val="F3F0E6"/>
                </a:solidFill>
                <a:latin typeface="Courier New"/>
              </a:rPr>
              <a:t>pip install cpomdp-workshop==0.1.0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What you will build</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framing</a:t>
            </a:r>
          </a:p>
        </p:txBody>
      </p:sp>
      <p:pic>
        <p:nvPicPr>
          <p:cNvPr id="4" name="picture fig_world_rock.png" descr="fig_world_rock.png"/>
          <p:cNvPicPr>
            <a:picLocks noChangeAspect="1"/>
          </p:cNvPicPr>
          <p:nvPr/>
        </p:nvPicPr>
        <p:blipFill>
          <a:blip r:embed="rId2"/>
          <a:stretch>
            <a:fillRect/>
          </a:stretch>
        </p:blipFill>
        <p:spPr>
          <a:xfrm>
            <a:off x="548640" y="1280160"/>
            <a:ext cx="7680960" cy="4241804"/>
          </a:xfrm>
          <a:prstGeom prst="rect">
            <a:avLst/>
          </a:prstGeom>
        </p:spPr>
      </p:pic>
      <p:sp>
        <p:nvSpPr>
          <p:cNvPr id="5" name="text"/>
          <p:cNvSpPr txBox="1"/>
          <p:nvPr/>
        </p:nvSpPr>
        <p:spPr>
          <a:xfrm>
            <a:off x="8503920" y="1325880"/>
            <a:ext cx="3139135" cy="3108960"/>
          </a:xfrm>
          <a:prstGeom prst="rect">
            <a:avLst/>
          </a:prstGeom>
          <a:noFill/>
        </p:spPr>
        <p:txBody>
          <a:bodyPr wrap="square" lIns="0" rIns="0" tIns="0" bIns="0" anchor="t">
            <a:spAutoFit/>
          </a:bodyPr>
          <a:lstStyle/>
          <a:p>
            <a:pPr algn="l">
              <a:lnSpc>
                <a:spcPct val="100000"/>
              </a:lnSpc>
              <a:spcAft>
                <a:spcPts val="1400"/>
              </a:spcAft>
            </a:pPr>
            <a:r>
              <a:rPr sz="1900" b="0">
                <a:solidFill>
                  <a:srgbClr val="F3F0E6"/>
                </a:solidFill>
                <a:latin typeface="Calibri"/>
              </a:rPr>
              <a:t>By 1:32 you will have built this picture.</a:t>
            </a:r>
          </a:p>
          <a:p>
            <a:pPr algn="l">
              <a:lnSpc>
                <a:spcPct val="100000"/>
              </a:lnSpc>
              <a:spcAft>
                <a:spcPts val="1400"/>
              </a:spcAft>
            </a:pPr>
            <a:r>
              <a:rPr sz="1900" b="0">
                <a:solidFill>
                  <a:srgbClr val="F3F0E6"/>
                </a:solidFill>
                <a:latin typeface="Calibri"/>
              </a:rPr>
              <a:t>Three rockets, one rock. The dashed line is the 1960 controller.</a:t>
            </a:r>
          </a:p>
          <a:p>
            <a:pPr algn="l">
              <a:lnSpc>
                <a:spcPct val="100000"/>
              </a:lnSpc>
            </a:pPr>
            <a:r>
              <a:rPr sz="1900" b="0">
                <a:solidFill>
                  <a:srgbClr val="F3F0E6"/>
                </a:solidFill>
                <a:latin typeface="Calibri"/>
              </a:rPr>
              <a:t>Cell 2 draws it. </a:t>
            </a:r>
            <a:r>
              <a:rPr sz="1900" b="0">
                <a:solidFill>
                  <a:srgbClr val="F3F0E6"/>
                </a:solidFill>
                <a:latin typeface="Courier New"/>
              </a:rPr>
              <a:t>workshop.preview()</a:t>
            </a:r>
          </a:p>
        </p:txBody>
      </p:sp>
      <p:sp>
        <p:nvSpPr>
          <p:cNvPr id="6" name="text"/>
          <p:cNvSpPr txBox="1"/>
          <p:nvPr/>
        </p:nvSpPr>
        <p:spPr>
          <a:xfrm>
            <a:off x="8503920" y="5760720"/>
            <a:ext cx="3139135" cy="457200"/>
          </a:xfrm>
          <a:prstGeom prst="rect">
            <a:avLst/>
          </a:prstGeom>
          <a:noFill/>
        </p:spPr>
        <p:txBody>
          <a:bodyPr wrap="square" lIns="0" rIns="0" tIns="0" bIns="0" anchor="t">
            <a:spAutoFit/>
          </a:bodyPr>
          <a:lstStyle/>
          <a:p>
            <a:pPr algn="l">
              <a:lnSpc>
                <a:spcPct val="100000"/>
              </a:lnSpc>
            </a:pPr>
            <a:r>
              <a:rPr sz="1500" b="0">
                <a:solidFill>
                  <a:srgbClr val="8C968F"/>
                </a:solidFill>
                <a:latin typeface="Calibri"/>
              </a:rPr>
              <a:t>Seed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Disclosure</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framing</a:t>
            </a:r>
          </a:p>
        </p:txBody>
      </p:sp>
      <p:sp>
        <p:nvSpPr>
          <p:cNvPr id="4" name="placeholder"/>
          <p:cNvSpPr/>
          <p:nvPr/>
        </p:nvSpPr>
        <p:spPr>
          <a:xfrm>
            <a:off x="548640" y="1325880"/>
            <a:ext cx="11094415" cy="3566160"/>
          </a:xfrm>
          <a:prstGeom prst="roundRect">
            <a:avLst>
              <a:gd name="adj" fmla="val 3076"/>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2000" b="0">
                <a:solidFill>
                  <a:srgbClr val="E69F00"/>
                </a:solidFill>
                <a:latin typeface="Calibri"/>
              </a:rPr>
              <a:t>[owner: the AI-use panel and the review it describes]</a:t>
            </a:r>
          </a:p>
        </p:txBody>
      </p:sp>
      <p:sp>
        <p:nvSpPr>
          <p:cNvPr id="5" name="text"/>
          <p:cNvSpPr txBox="1"/>
          <p:nvPr/>
        </p:nvSpPr>
        <p:spPr>
          <a:xfrm>
            <a:off x="548640" y="5257800"/>
            <a:ext cx="11094415" cy="822960"/>
          </a:xfrm>
          <a:prstGeom prst="rect">
            <a:avLst/>
          </a:prstGeom>
          <a:noFill/>
        </p:spPr>
        <p:txBody>
          <a:bodyPr wrap="square" lIns="0" rIns="0" tIns="0" bIns="0" anchor="t">
            <a:spAutoFit/>
          </a:bodyPr>
          <a:lstStyle/>
          <a:p>
            <a:pPr algn="l">
              <a:lnSpc>
                <a:spcPct val="100000"/>
              </a:lnSpc>
            </a:pPr>
            <a:r>
              <a:rPr sz="2000" b="0">
                <a:solidFill>
                  <a:srgbClr val="8C968F"/>
                </a:solidFill>
                <a:latin typeface="Calibri"/>
              </a:rPr>
              <a:t>today's notebook pins 0.5.0. Some of its src was written by Claude Code under the review described.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Under a fixed sensor, expected free energy is LQR</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framing</a:t>
            </a:r>
          </a:p>
        </p:txBody>
      </p:sp>
      <p:sp>
        <p:nvSpPr>
          <p:cNvPr id="4" name="card"/>
          <p:cNvSpPr/>
          <p:nvPr/>
        </p:nvSpPr>
        <p:spPr>
          <a:xfrm>
            <a:off x="548640" y="1325880"/>
            <a:ext cx="5364327" cy="3291840"/>
          </a:xfrm>
          <a:prstGeom prst="roundRect">
            <a:avLst>
              <a:gd name="adj" fmla="val 3333"/>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1000"/>
              </a:spcAft>
            </a:pPr>
            <a:r>
              <a:rPr sz="4400" b="1">
                <a:solidFill>
                  <a:srgbClr val="F3F0E6"/>
                </a:solidFill>
                <a:latin typeface="Courier New"/>
              </a:rPr>
              <a:t>R</a:t>
            </a:r>
          </a:p>
          <a:p>
            <a:pPr algn="l">
              <a:lnSpc>
                <a:spcPct val="100000"/>
              </a:lnSpc>
              <a:spcAft>
                <a:spcPts val="1000"/>
              </a:spcAft>
            </a:pPr>
            <a:r>
              <a:rPr sz="2000" b="0">
                <a:solidFill>
                  <a:srgbClr val="8C968F"/>
                </a:solidFill>
                <a:latin typeface="Calibri"/>
              </a:rPr>
              <a:t>the 1960 rocket</a:t>
            </a:r>
          </a:p>
          <a:p>
            <a:pPr algn="l">
              <a:lnSpc>
                <a:spcPct val="100000"/>
              </a:lnSpc>
              <a:spcAft>
                <a:spcPts val="1000"/>
              </a:spcAft>
            </a:pPr>
            <a:r>
              <a:rPr sz="2000" b="0">
                <a:solidFill>
                  <a:srgbClr val="F3F0E6"/>
                </a:solidFill>
                <a:latin typeface="Calibri"/>
              </a:rPr>
              <a:t>The reading is equally noisy everywhere.</a:t>
            </a:r>
          </a:p>
          <a:p>
            <a:pPr algn="l">
              <a:lnSpc>
                <a:spcPct val="100000"/>
              </a:lnSpc>
              <a:spcAft>
                <a:spcPts val="1000"/>
              </a:spcAft>
            </a:pPr>
            <a:r>
              <a:rPr sz="2000" b="0">
                <a:solidFill>
                  <a:srgbClr val="F3F0E6"/>
                </a:solidFill>
                <a:latin typeface="Calibri"/>
              </a:rPr>
              <a:t>Every move teaches the same.</a:t>
            </a:r>
          </a:p>
          <a:p>
            <a:pPr algn="l">
              <a:lnSpc>
                <a:spcPct val="100000"/>
              </a:lnSpc>
            </a:pPr>
            <a:r>
              <a:rPr sz="2000" b="0">
                <a:solidFill>
                  <a:srgbClr val="F3F0E6"/>
                </a:solidFill>
                <a:latin typeface="Calibri"/>
              </a:rPr>
              <a:t>Expected free energy reduces to LQR.</a:t>
            </a:r>
          </a:p>
        </p:txBody>
      </p:sp>
      <p:sp>
        <p:nvSpPr>
          <p:cNvPr id="5" name="card"/>
          <p:cNvSpPr/>
          <p:nvPr/>
        </p:nvSpPr>
        <p:spPr>
          <a:xfrm>
            <a:off x="6278727" y="1325880"/>
            <a:ext cx="5364327" cy="3291840"/>
          </a:xfrm>
          <a:prstGeom prst="roundRect">
            <a:avLst>
              <a:gd name="adj" fmla="val 3333"/>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1000"/>
              </a:spcAft>
            </a:pPr>
            <a:r>
              <a:rPr sz="4400" b="1">
                <a:solidFill>
                  <a:srgbClr val="E69F00"/>
                </a:solidFill>
                <a:latin typeface="Courier New"/>
              </a:rPr>
              <a:t>R(x)</a:t>
            </a:r>
          </a:p>
          <a:p>
            <a:pPr algn="l">
              <a:lnSpc>
                <a:spcPct val="100000"/>
              </a:lnSpc>
              <a:spcAft>
                <a:spcPts val="1000"/>
              </a:spcAft>
            </a:pPr>
            <a:r>
              <a:rPr sz="2000" b="0">
                <a:solidFill>
                  <a:srgbClr val="8C968F"/>
                </a:solidFill>
                <a:latin typeface="Calibri"/>
              </a:rPr>
              <a:t>a curious rocket</a:t>
            </a:r>
          </a:p>
          <a:p>
            <a:pPr algn="l">
              <a:lnSpc>
                <a:spcPct val="100000"/>
              </a:lnSpc>
              <a:spcAft>
                <a:spcPts val="1000"/>
              </a:spcAft>
            </a:pPr>
            <a:r>
              <a:rPr sz="2000" b="0">
                <a:solidFill>
                  <a:srgbClr val="F3F0E6"/>
                </a:solidFill>
                <a:latin typeface="Calibri"/>
              </a:rPr>
              <a:t>The reading's noise depends on where the rocket is.</a:t>
            </a:r>
          </a:p>
          <a:p>
            <a:pPr algn="l">
              <a:lnSpc>
                <a:spcPct val="100000"/>
              </a:lnSpc>
              <a:spcAft>
                <a:spcPts val="1000"/>
              </a:spcAft>
            </a:pPr>
            <a:r>
              <a:rPr sz="2000" b="0">
                <a:solidFill>
                  <a:srgbClr val="F3F0E6"/>
                </a:solidFill>
                <a:latin typeface="Calibri"/>
              </a:rPr>
              <a:t>Where a move goes changes how clear the next reading is.</a:t>
            </a:r>
          </a:p>
          <a:p>
            <a:pPr algn="l">
              <a:lnSpc>
                <a:spcPct val="100000"/>
              </a:lnSpc>
            </a:pPr>
            <a:r>
              <a:rPr sz="2000" b="0">
                <a:solidFill>
                  <a:srgbClr val="F3F0E6"/>
                </a:solidFill>
                <a:latin typeface="Calibri"/>
              </a:rPr>
              <a:t>Tasks 2 and 3 build it.</a:t>
            </a:r>
          </a:p>
        </p:txBody>
      </p:sp>
      <p:sp>
        <p:nvSpPr>
          <p:cNvPr id="6" name="text"/>
          <p:cNvSpPr txBox="1"/>
          <p:nvPr/>
        </p:nvSpPr>
        <p:spPr>
          <a:xfrm>
            <a:off x="548640" y="4892040"/>
            <a:ext cx="11094415" cy="1280160"/>
          </a:xfrm>
          <a:prstGeom prst="rect">
            <a:avLst/>
          </a:prstGeom>
          <a:noFill/>
        </p:spPr>
        <p:txBody>
          <a:bodyPr wrap="square" lIns="0" rIns="0" tIns="0" bIns="0" anchor="t">
            <a:spAutoFit/>
          </a:bodyPr>
          <a:lstStyle/>
          <a:p>
            <a:pPr algn="l">
              <a:lnSpc>
                <a:spcPct val="100000"/>
              </a:lnSpc>
              <a:spcAft>
                <a:spcPts val="1000"/>
              </a:spcAft>
            </a:pPr>
            <a:r>
              <a:rPr sz="2100" b="0">
                <a:solidFill>
                  <a:srgbClr val="F3F0E6"/>
                </a:solidFill>
                <a:latin typeface="Calibri"/>
              </a:rPr>
              <a:t>The 1960 controller is a Kalman filter with a goal. Task 1 builds it.</a:t>
            </a:r>
          </a:p>
          <a:p>
            <a:pPr algn="l">
              <a:lnSpc>
                <a:spcPct val="100000"/>
              </a:lnSpc>
            </a:pPr>
            <a:r>
              <a:rPr sz="1600" b="0">
                <a:solidFill>
                  <a:srgbClr val="8C968F"/>
                </a:solidFill>
                <a:latin typeface="Calibri"/>
              </a:rPr>
              <a:t>Koudahl, Kouw &amp; de Vries, 2021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pymdp's letters, cpomdp's names</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framing</a:t>
            </a:r>
          </a:p>
        </p:txBody>
      </p:sp>
      <p:sp>
        <p:nvSpPr>
          <p:cNvPr id="4" name="card"/>
          <p:cNvSpPr/>
          <p:nvPr/>
        </p:nvSpPr>
        <p:spPr>
          <a:xfrm>
            <a:off x="548640" y="1325880"/>
            <a:ext cx="2567863" cy="1828800"/>
          </a:xfrm>
          <a:prstGeom prst="roundRect">
            <a:avLst>
              <a:gd name="adj" fmla="val 6000"/>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200"/>
              </a:spcAft>
            </a:pPr>
            <a:r>
              <a:rPr sz="3600" b="1">
                <a:solidFill>
                  <a:srgbClr val="E69F00"/>
                </a:solidFill>
                <a:latin typeface="Calibri"/>
              </a:rPr>
              <a:t>A</a:t>
            </a:r>
          </a:p>
          <a:p>
            <a:pPr algn="l">
              <a:lnSpc>
                <a:spcPct val="100000"/>
              </a:lnSpc>
              <a:spcAft>
                <a:spcPts val="200"/>
              </a:spcAft>
            </a:pPr>
            <a:r>
              <a:rPr sz="1500" b="0">
                <a:solidFill>
                  <a:srgbClr val="8C968F"/>
                </a:solidFill>
                <a:latin typeface="Calibri"/>
              </a:rPr>
              <a:t>the observation likelihood</a:t>
            </a:r>
          </a:p>
          <a:p>
            <a:pPr algn="l">
              <a:lnSpc>
                <a:spcPct val="100000"/>
              </a:lnSpc>
            </a:pPr>
            <a:r>
              <a:rPr sz="1500" b="0">
                <a:solidFill>
                  <a:srgbClr val="F3F0E6"/>
                </a:solidFill>
                <a:latin typeface="Courier New"/>
              </a:rPr>
              <a:t>observation_matrix</a:t>
            </a:r>
          </a:p>
        </p:txBody>
      </p:sp>
      <p:sp>
        <p:nvSpPr>
          <p:cNvPr id="5" name="card"/>
          <p:cNvSpPr/>
          <p:nvPr/>
        </p:nvSpPr>
        <p:spPr>
          <a:xfrm>
            <a:off x="3390823" y="1325880"/>
            <a:ext cx="2567863" cy="1828800"/>
          </a:xfrm>
          <a:prstGeom prst="roundRect">
            <a:avLst>
              <a:gd name="adj" fmla="val 6000"/>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200"/>
              </a:spcAft>
            </a:pPr>
            <a:r>
              <a:rPr sz="3600" b="1">
                <a:solidFill>
                  <a:srgbClr val="E69F00"/>
                </a:solidFill>
                <a:latin typeface="Calibri"/>
              </a:rPr>
              <a:t>B</a:t>
            </a:r>
          </a:p>
          <a:p>
            <a:pPr algn="l">
              <a:lnSpc>
                <a:spcPct val="100000"/>
              </a:lnSpc>
              <a:spcAft>
                <a:spcPts val="200"/>
              </a:spcAft>
            </a:pPr>
            <a:r>
              <a:rPr sz="1500" b="0">
                <a:solidFill>
                  <a:srgbClr val="8C968F"/>
                </a:solidFill>
                <a:latin typeface="Calibri"/>
              </a:rPr>
              <a:t>the transition</a:t>
            </a:r>
          </a:p>
          <a:p>
            <a:pPr algn="l">
              <a:lnSpc>
                <a:spcPct val="100000"/>
              </a:lnSpc>
              <a:spcAft>
                <a:spcPts val="200"/>
              </a:spcAft>
            </a:pPr>
            <a:r>
              <a:rPr sz="1500" b="0">
                <a:solidFill>
                  <a:srgbClr val="F3F0E6"/>
                </a:solidFill>
                <a:latin typeface="Courier New"/>
              </a:rPr>
              <a:t>dynamics_matrix,</a:t>
            </a:r>
          </a:p>
          <a:p>
            <a:pPr algn="l">
              <a:lnSpc>
                <a:spcPct val="100000"/>
              </a:lnSpc>
            </a:pPr>
            <a:r>
              <a:rPr sz="1500" b="0">
                <a:solidFill>
                  <a:srgbClr val="F3F0E6"/>
                </a:solidFill>
                <a:latin typeface="Courier New"/>
              </a:rPr>
              <a:t>control_matrix</a:t>
            </a:r>
          </a:p>
        </p:txBody>
      </p:sp>
      <p:sp>
        <p:nvSpPr>
          <p:cNvPr id="6" name="card"/>
          <p:cNvSpPr/>
          <p:nvPr/>
        </p:nvSpPr>
        <p:spPr>
          <a:xfrm>
            <a:off x="6233007" y="1325880"/>
            <a:ext cx="2567863" cy="1828800"/>
          </a:xfrm>
          <a:prstGeom prst="roundRect">
            <a:avLst>
              <a:gd name="adj" fmla="val 6000"/>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200"/>
              </a:spcAft>
            </a:pPr>
            <a:r>
              <a:rPr sz="3600" b="1">
                <a:solidFill>
                  <a:srgbClr val="E69F00"/>
                </a:solidFill>
                <a:latin typeface="Calibri"/>
              </a:rPr>
              <a:t>C</a:t>
            </a:r>
          </a:p>
          <a:p>
            <a:pPr algn="l">
              <a:lnSpc>
                <a:spcPct val="100000"/>
              </a:lnSpc>
              <a:spcAft>
                <a:spcPts val="200"/>
              </a:spcAft>
            </a:pPr>
            <a:r>
              <a:rPr sz="1500" b="0">
                <a:solidFill>
                  <a:srgbClr val="8C968F"/>
                </a:solidFill>
                <a:latin typeface="Calibri"/>
              </a:rPr>
              <a:t>the preference</a:t>
            </a:r>
          </a:p>
          <a:p>
            <a:pPr algn="l">
              <a:lnSpc>
                <a:spcPct val="100000"/>
              </a:lnSpc>
              <a:spcAft>
                <a:spcPts val="200"/>
              </a:spcAft>
            </a:pPr>
            <a:r>
              <a:rPr sz="1500" b="0">
                <a:solidFill>
                  <a:srgbClr val="F3F0E6"/>
                </a:solidFill>
                <a:latin typeface="Courier New"/>
              </a:rPr>
              <a:t>StateGoal,</a:t>
            </a:r>
          </a:p>
          <a:p>
            <a:pPr algn="l">
              <a:lnSpc>
                <a:spcPct val="100000"/>
              </a:lnSpc>
            </a:pPr>
            <a:r>
              <a:rPr sz="1500" b="0">
                <a:solidFill>
                  <a:srgbClr val="F3F0E6"/>
                </a:solidFill>
                <a:latin typeface="Courier New"/>
              </a:rPr>
              <a:t>Preference</a:t>
            </a:r>
          </a:p>
        </p:txBody>
      </p:sp>
      <p:sp>
        <p:nvSpPr>
          <p:cNvPr id="7" name="card"/>
          <p:cNvSpPr/>
          <p:nvPr/>
        </p:nvSpPr>
        <p:spPr>
          <a:xfrm>
            <a:off x="9075191" y="1325880"/>
            <a:ext cx="2567863" cy="1828800"/>
          </a:xfrm>
          <a:prstGeom prst="roundRect">
            <a:avLst>
              <a:gd name="adj" fmla="val 6000"/>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200"/>
              </a:spcAft>
            </a:pPr>
            <a:r>
              <a:rPr sz="3600" b="1">
                <a:solidFill>
                  <a:srgbClr val="E69F00"/>
                </a:solidFill>
                <a:latin typeface="Calibri"/>
              </a:rPr>
              <a:t>D</a:t>
            </a:r>
          </a:p>
          <a:p>
            <a:pPr algn="l">
              <a:lnSpc>
                <a:spcPct val="100000"/>
              </a:lnSpc>
              <a:spcAft>
                <a:spcPts val="200"/>
              </a:spcAft>
            </a:pPr>
            <a:r>
              <a:rPr sz="1500" b="0">
                <a:solidFill>
                  <a:srgbClr val="8C968F"/>
                </a:solidFill>
                <a:latin typeface="Calibri"/>
              </a:rPr>
              <a:t>the prior</a:t>
            </a:r>
          </a:p>
          <a:p>
            <a:pPr algn="l">
              <a:lnSpc>
                <a:spcPct val="100000"/>
              </a:lnSpc>
            </a:pPr>
            <a:r>
              <a:rPr sz="1500" b="0">
                <a:solidFill>
                  <a:srgbClr val="F3F0E6"/>
                </a:solidFill>
                <a:latin typeface="Courier New"/>
              </a:rPr>
              <a:t>prior</a:t>
            </a:r>
          </a:p>
        </p:txBody>
      </p:sp>
      <p:sp>
        <p:nvSpPr>
          <p:cNvPr id="8" name="code"/>
          <p:cNvSpPr/>
          <p:nvPr/>
        </p:nvSpPr>
        <p:spPr>
          <a:xfrm>
            <a:off x="548640" y="3383280"/>
            <a:ext cx="11094415" cy="2080031"/>
          </a:xfrm>
          <a:prstGeom prst="roundRect">
            <a:avLst>
              <a:gd name="adj" fmla="val 5275"/>
            </a:avLst>
          </a:prstGeom>
          <a:solidFill>
            <a:srgbClr val="14261F"/>
          </a:solid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400" b="0">
                <a:solidFill>
                  <a:srgbClr val="F3F0E6"/>
                </a:solidFill>
                <a:latin typeface="Courier New"/>
              </a:rPr>
              <a:t>model = LinearGaussianModel(</a:t>
            </a:r>
          </a:p>
          <a:p>
            <a:pPr algn="l">
              <a:lnSpc>
                <a:spcPct val="100000"/>
              </a:lnSpc>
              <a:spcAft>
                <a:spcPts val="0"/>
              </a:spcAft>
            </a:pPr>
            <a:r>
              <a:rPr sz="1400" b="0">
                <a:solidFill>
                  <a:srgbClr val="F3F0E6"/>
                </a:solidFill>
                <a:latin typeface="Courier New"/>
              </a:rPr>
              <a:t>    jnp.eye(2),</a:t>
            </a:r>
            <a:r>
              <a:rPr sz="1400" b="0">
                <a:solidFill>
                  <a:srgbClr val="8C968F"/>
                </a:solidFill>
                <a:latin typeface="Courier New"/>
              </a:rPr>
              <a:t>  # B, the dynamics_matrix</a:t>
            </a:r>
          </a:p>
          <a:p>
            <a:pPr algn="l">
              <a:lnSpc>
                <a:spcPct val="100000"/>
              </a:lnSpc>
              <a:spcAft>
                <a:spcPts val="0"/>
              </a:spcAft>
            </a:pPr>
            <a:r>
              <a:rPr sz="1400" b="0">
                <a:solidFill>
                  <a:srgbClr val="F3F0E6"/>
                </a:solidFill>
                <a:latin typeface="Courier New"/>
              </a:rPr>
              <a:t>    control_matrix=jnp.eye(2),</a:t>
            </a:r>
            <a:r>
              <a:rPr sz="1400" b="0">
                <a:solidFill>
                  <a:srgbClr val="8C968F"/>
                </a:solidFill>
                <a:latin typeface="Courier New"/>
              </a:rPr>
              <a:t>  # B, where a move enters</a:t>
            </a:r>
          </a:p>
          <a:p>
            <a:pPr algn="l">
              <a:lnSpc>
                <a:spcPct val="100000"/>
              </a:lnSpc>
              <a:spcAft>
                <a:spcPts val="0"/>
              </a:spcAft>
            </a:pPr>
            <a:r>
              <a:rPr sz="1400" b="0">
                <a:solidFill>
                  <a:srgbClr val="F3F0E6"/>
                </a:solidFill>
                <a:latin typeface="Courier New"/>
              </a:rPr>
              <a:t>    observation_matrix=jnp.eye(2),</a:t>
            </a:r>
            <a:r>
              <a:rPr sz="1400" b="0">
                <a:solidFill>
                  <a:srgbClr val="8C968F"/>
                </a:solidFill>
                <a:latin typeface="Courier New"/>
              </a:rPr>
              <a:t>  # A</a:t>
            </a:r>
          </a:p>
          <a:p>
            <a:pPr algn="l">
              <a:lnSpc>
                <a:spcPct val="100000"/>
              </a:lnSpc>
              <a:spcAft>
                <a:spcPts val="0"/>
              </a:spcAft>
            </a:pPr>
            <a:r>
              <a:rPr sz="1400" b="0">
                <a:solidFill>
                  <a:srgbClr val="F3F0E6"/>
                </a:solidFill>
                <a:latin typeface="Courier New"/>
              </a:rPr>
              <a:t>    observation_noise=0.05 * jnp.eye(2),</a:t>
            </a:r>
          </a:p>
          <a:p>
            <a:pPr algn="l">
              <a:lnSpc>
                <a:spcPct val="100000"/>
              </a:lnSpc>
              <a:spcAft>
                <a:spcPts val="0"/>
              </a:spcAft>
            </a:pPr>
            <a:r>
              <a:rPr sz="1400" b="0">
                <a:solidFill>
                  <a:srgbClr val="F3F0E6"/>
                </a:solidFill>
                <a:latin typeface="Courier New"/>
              </a:rPr>
              <a:t>    dynamics_noise=1e-3 * jnp.eye(2),</a:t>
            </a:r>
          </a:p>
          <a:p>
            <a:pPr algn="l">
              <a:lnSpc>
                <a:spcPct val="100000"/>
              </a:lnSpc>
              <a:spcAft>
                <a:spcPts val="0"/>
              </a:spcAft>
            </a:pPr>
            <a:r>
              <a:rPr sz="1400" b="0">
                <a:solidFill>
                  <a:srgbClr val="F3F0E6"/>
                </a:solidFill>
                <a:latin typeface="Courier New"/>
              </a:rPr>
              <a:t>    prior=Belief(mean=LAUNCH, cov=4 * jnp.eye(2)),</a:t>
            </a:r>
            <a:r>
              <a:rPr sz="1400" b="0">
                <a:solidFill>
                  <a:srgbClr val="8C968F"/>
                </a:solidFill>
                <a:latin typeface="Courier New"/>
              </a:rPr>
              <a:t>  # D</a:t>
            </a:r>
          </a:p>
          <a:p>
            <a:pPr algn="l">
              <a:lnSpc>
                <a:spcPct val="100000"/>
              </a:lnSpc>
              <a:spcAft>
                <a:spcPts val="0"/>
              </a:spcAft>
            </a:pPr>
            <a:r>
              <a:rPr sz="1400" b="0">
                <a:solidFill>
                  <a:srgbClr val="F3F0E6"/>
                </a:solidFill>
                <a:latin typeface="Courier New"/>
              </a:rPr>
              <a:t>)</a:t>
            </a:r>
          </a:p>
          <a:p>
            <a:pPr algn="l">
              <a:lnSpc>
                <a:spcPct val="100000"/>
              </a:lnSpc>
            </a:pPr>
            <a:r>
              <a:rPr sz="1400" b="0">
                <a:solidFill>
                  <a:srgbClr val="F3F0E6"/>
                </a:solidFill>
                <a:latin typeface="Courier New"/>
              </a:rPr>
              <a:t>goal = StateGoal(PAD, precision=jnp.eye(2), effort=100 * jnp.eye(2))</a:t>
            </a:r>
            <a:r>
              <a:rPr sz="1400" b="0">
                <a:solidFill>
                  <a:srgbClr val="8C968F"/>
                </a:solidFill>
                <a:latin typeface="Courier New"/>
              </a:rPr>
              <a:t>  # C</a:t>
            </a:r>
          </a:p>
        </p:txBody>
      </p:sp>
      <p:sp>
        <p:nvSpPr>
          <p:cNvPr id="9" name="text"/>
          <p:cNvSpPr txBox="1"/>
          <p:nvPr/>
        </p:nvSpPr>
        <p:spPr>
          <a:xfrm>
            <a:off x="548640" y="5760720"/>
            <a:ext cx="11094415" cy="457200"/>
          </a:xfrm>
          <a:prstGeom prst="rect">
            <a:avLst/>
          </a:prstGeom>
          <a:noFill/>
        </p:spPr>
        <p:txBody>
          <a:bodyPr wrap="square" lIns="0" rIns="0" tIns="0" bIns="0" anchor="t">
            <a:spAutoFit/>
          </a:bodyPr>
          <a:lstStyle/>
          <a:p>
            <a:pPr algn="l">
              <a:lnSpc>
                <a:spcPct val="100000"/>
              </a:lnSpc>
            </a:pPr>
            <a:r>
              <a:rPr sz="1700" b="0">
                <a:solidFill>
                  <a:srgbClr val="8C968F"/>
                </a:solidFill>
                <a:latin typeface="Calibri"/>
              </a:rPr>
              <a:t>Cell 1 checks for cpomdp 0.5.0 and Python 3.11 or newer.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What continuous state buys you</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framing</a:t>
            </a:r>
          </a:p>
        </p:txBody>
      </p:sp>
      <p:pic>
        <p:nvPicPr>
          <p:cNvPr id="4" name="picture tile_task1.png" descr="tile_task1.png"/>
          <p:cNvPicPr>
            <a:picLocks noChangeAspect="1"/>
          </p:cNvPicPr>
          <p:nvPr/>
        </p:nvPicPr>
        <p:blipFill>
          <a:blip r:embed="rId2"/>
          <a:stretch>
            <a:fillRect/>
          </a:stretch>
        </p:blipFill>
        <p:spPr>
          <a:xfrm>
            <a:off x="548640" y="1325880"/>
            <a:ext cx="6766560" cy="4238696"/>
          </a:xfrm>
          <a:prstGeom prst="rect">
            <a:avLst/>
          </a:prstGeom>
        </p:spPr>
      </p:pic>
      <p:sp>
        <p:nvSpPr>
          <p:cNvPr id="5" name="text"/>
          <p:cNvSpPr txBox="1"/>
          <p:nvPr/>
        </p:nvSpPr>
        <p:spPr>
          <a:xfrm>
            <a:off x="7680960" y="1325880"/>
            <a:ext cx="3962095" cy="4389120"/>
          </a:xfrm>
          <a:prstGeom prst="rect">
            <a:avLst/>
          </a:prstGeom>
          <a:noFill/>
        </p:spPr>
        <p:txBody>
          <a:bodyPr wrap="square" lIns="0" rIns="0" tIns="0" bIns="0" anchor="t">
            <a:spAutoFit/>
          </a:bodyPr>
          <a:lstStyle/>
          <a:p>
            <a:pPr algn="l">
              <a:lnSpc>
                <a:spcPct val="100000"/>
              </a:lnSpc>
              <a:spcAft>
                <a:spcPts val="1600"/>
              </a:spcAft>
            </a:pPr>
            <a:r>
              <a:rPr sz="1900" b="0">
                <a:solidFill>
                  <a:srgbClr val="F3F0E6"/>
                </a:solidFill>
                <a:latin typeface="Calibri"/>
              </a:rPr>
              <a:t>A position is two real numbers.</a:t>
            </a:r>
          </a:p>
          <a:p>
            <a:pPr algn="l">
              <a:lnSpc>
                <a:spcPct val="100000"/>
              </a:lnSpc>
              <a:spcAft>
                <a:spcPts val="1600"/>
              </a:spcAft>
            </a:pPr>
            <a:r>
              <a:rPr sz="1900" b="0">
                <a:solidFill>
                  <a:srgbClr val="F3F0E6"/>
                </a:solidFill>
                <a:latin typeface="Calibri"/>
              </a:rPr>
              <a:t>A belief is a mean and a covariance, drawn as an ellipse.</a:t>
            </a:r>
          </a:p>
          <a:p>
            <a:pPr algn="l">
              <a:lnSpc>
                <a:spcPct val="100000"/>
              </a:lnSpc>
              <a:spcAft>
                <a:spcPts val="1600"/>
              </a:spcAft>
            </a:pPr>
            <a:r>
              <a:rPr sz="1900" b="0">
                <a:solidFill>
                  <a:srgbClr val="F3F0E6"/>
                </a:solidFill>
                <a:latin typeface="Calibri"/>
              </a:rPr>
              <a:t>Each reading shrinks it in closed form. That is the Kalman update.</a:t>
            </a:r>
          </a:p>
          <a:p>
            <a:pPr algn="l">
              <a:lnSpc>
                <a:spcPct val="100000"/>
              </a:lnSpc>
            </a:pPr>
            <a:r>
              <a:rPr sz="1900" b="0">
                <a:solidFill>
                  <a:srgbClr val="F3F0E6"/>
                </a:solidFill>
                <a:latin typeface="Calibri"/>
              </a:rPr>
              <a:t>The reading's noise, R, is what today changes.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Task 1 · the 1960 rocket</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task 1</a:t>
            </a:r>
          </a:p>
        </p:txBody>
      </p:sp>
      <p:sp>
        <p:nvSpPr>
          <p:cNvPr id="4" name="code"/>
          <p:cNvSpPr/>
          <p:nvPr/>
        </p:nvSpPr>
        <p:spPr>
          <a:xfrm>
            <a:off x="548640" y="1325880"/>
            <a:ext cx="11094415" cy="3691610"/>
          </a:xfrm>
          <a:prstGeom prst="roundRect">
            <a:avLst>
              <a:gd name="adj" fmla="val 2972"/>
            </a:avLst>
          </a:prstGeom>
          <a:solidFill>
            <a:srgbClr val="14261F"/>
          </a:solid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400" b="1">
                <a:solidFill>
                  <a:srgbClr val="E69F00"/>
                </a:solidFill>
                <a:latin typeface="Courier New"/>
              </a:rPr>
              <a:t>observation_matrix = ...  # C (pymdp's A): the reading sees the whole position</a:t>
            </a:r>
          </a:p>
          <a:p>
            <a:pPr algn="l">
              <a:lnSpc>
                <a:spcPct val="100000"/>
              </a:lnSpc>
              <a:spcAft>
                <a:spcPts val="0"/>
              </a:spcAft>
            </a:pPr>
            <a:r>
              <a:rPr sz="1400" b="1">
                <a:solidFill>
                  <a:srgbClr val="E69F00"/>
                </a:solidFill>
                <a:latin typeface="Courier New"/>
              </a:rPr>
              <a:t>observation_noise = ...  # R: variance 0.05 on each axis, the same everywhere</a:t>
            </a:r>
          </a:p>
          <a:p>
            <a:pPr algn="l">
              <a:lnSpc>
                <a:spcPct val="100000"/>
              </a:lnSpc>
              <a:spcAft>
                <a:spcPts val="0"/>
              </a:spcAft>
            </a:pPr>
            <a:r>
              <a:rPr sz="1400" b="0">
                <a:solidFill>
                  <a:srgbClr val="F3F0E6"/>
                </a:solidFill>
                <a:latin typeface="Courier New"/>
              </a:rPr>
              <a:t> </a:t>
            </a:r>
          </a:p>
          <a:p>
            <a:pPr algn="l">
              <a:lnSpc>
                <a:spcPct val="100000"/>
              </a:lnSpc>
              <a:spcAft>
                <a:spcPts val="0"/>
              </a:spcAft>
            </a:pPr>
            <a:r>
              <a:rPr sz="1400" b="0">
                <a:solidFill>
                  <a:srgbClr val="F3F0E6"/>
                </a:solidFill>
                <a:latin typeface="Courier New"/>
              </a:rPr>
              <a:t>model = LinearGaussianModel(</a:t>
            </a:r>
          </a:p>
          <a:p>
            <a:pPr algn="l">
              <a:lnSpc>
                <a:spcPct val="100000"/>
              </a:lnSpc>
              <a:spcAft>
                <a:spcPts val="0"/>
              </a:spcAft>
            </a:pPr>
            <a:r>
              <a:rPr sz="1400" b="0">
                <a:solidFill>
                  <a:srgbClr val="F3F0E6"/>
                </a:solidFill>
                <a:latin typeface="Courier New"/>
              </a:rPr>
              <a:t>    jnp.eye(2),</a:t>
            </a:r>
            <a:r>
              <a:rPr sz="1400" b="0">
                <a:solidFill>
                  <a:srgbClr val="8C968F"/>
                </a:solidFill>
                <a:latin typeface="Courier New"/>
              </a:rPr>
              <a:t>  # dynamics, pymdp's B: the rocket stays put unless moved</a:t>
            </a:r>
          </a:p>
          <a:p>
            <a:pPr algn="l">
              <a:lnSpc>
                <a:spcPct val="100000"/>
              </a:lnSpc>
              <a:spcAft>
                <a:spcPts val="0"/>
              </a:spcAft>
            </a:pPr>
            <a:r>
              <a:rPr sz="1400" b="0">
                <a:solidFill>
                  <a:srgbClr val="F3F0E6"/>
                </a:solidFill>
                <a:latin typeface="Courier New"/>
              </a:rPr>
              <a:t>    control_matrix=jnp.eye(2),</a:t>
            </a:r>
            <a:r>
              <a:rPr sz="1400" b="0">
                <a:solidFill>
                  <a:srgbClr val="8C968F"/>
                </a:solidFill>
                <a:latin typeface="Courier New"/>
              </a:rPr>
              <a:t>  # a move adds straight to the position</a:t>
            </a:r>
          </a:p>
          <a:p>
            <a:pPr algn="l">
              <a:lnSpc>
                <a:spcPct val="100000"/>
              </a:lnSpc>
              <a:spcAft>
                <a:spcPts val="0"/>
              </a:spcAft>
            </a:pPr>
            <a:r>
              <a:rPr sz="1400" b="0">
                <a:solidFill>
                  <a:srgbClr val="F3F0E6"/>
                </a:solidFill>
                <a:latin typeface="Courier New"/>
              </a:rPr>
              <a:t>    observation_matrix=observation_matrix,</a:t>
            </a:r>
          </a:p>
          <a:p>
            <a:pPr algn="l">
              <a:lnSpc>
                <a:spcPct val="100000"/>
              </a:lnSpc>
              <a:spcAft>
                <a:spcPts val="0"/>
              </a:spcAft>
            </a:pPr>
            <a:r>
              <a:rPr sz="1400" b="0">
                <a:solidFill>
                  <a:srgbClr val="F3F0E6"/>
                </a:solidFill>
                <a:latin typeface="Courier New"/>
              </a:rPr>
              <a:t>    observation_noise=observation_noise,</a:t>
            </a:r>
          </a:p>
          <a:p>
            <a:pPr algn="l">
              <a:lnSpc>
                <a:spcPct val="100000"/>
              </a:lnSpc>
              <a:spcAft>
                <a:spcPts val="0"/>
              </a:spcAft>
            </a:pPr>
            <a:r>
              <a:rPr sz="1400" b="0">
                <a:solidFill>
                  <a:srgbClr val="F3F0E6"/>
                </a:solidFill>
                <a:latin typeface="Courier New"/>
              </a:rPr>
              <a:t>    dynamics_noise=1e-3 * jnp.eye(2),</a:t>
            </a:r>
            <a:r>
              <a:rPr sz="1400" b="0">
                <a:solidFill>
                  <a:srgbClr val="8C968F"/>
                </a:solidFill>
                <a:latin typeface="Courier New"/>
              </a:rPr>
              <a:t>  # Q: a little drift each step</a:t>
            </a:r>
          </a:p>
          <a:p>
            <a:pPr algn="l">
              <a:lnSpc>
                <a:spcPct val="100000"/>
              </a:lnSpc>
              <a:spcAft>
                <a:spcPts val="0"/>
              </a:spcAft>
            </a:pPr>
            <a:r>
              <a:rPr sz="1400" b="0">
                <a:solidFill>
                  <a:srgbClr val="F3F0E6"/>
                </a:solidFill>
                <a:latin typeface="Courier New"/>
              </a:rPr>
              <a:t>    prior=Belief(mean=LAUNCH, cov=4 * jnp.eye(2)),</a:t>
            </a:r>
            <a:r>
              <a:rPr sz="1400" b="0">
                <a:solidFill>
                  <a:srgbClr val="8C968F"/>
                </a:solidFill>
                <a:latin typeface="Courier New"/>
              </a:rPr>
              <a:t>  # pymdp's D: unsure where it is</a:t>
            </a:r>
          </a:p>
          <a:p>
            <a:pPr algn="l">
              <a:lnSpc>
                <a:spcPct val="100000"/>
              </a:lnSpc>
              <a:spcAft>
                <a:spcPts val="0"/>
              </a:spcAft>
            </a:pPr>
            <a:r>
              <a:rPr sz="1400" b="0">
                <a:solidFill>
                  <a:srgbClr val="F3F0E6"/>
                </a:solidFill>
                <a:latin typeface="Courier New"/>
              </a:rPr>
              <a:t>)</a:t>
            </a:r>
          </a:p>
          <a:p>
            <a:pPr algn="l">
              <a:lnSpc>
                <a:spcPct val="100000"/>
              </a:lnSpc>
              <a:spcAft>
                <a:spcPts val="0"/>
              </a:spcAft>
            </a:pPr>
            <a:r>
              <a:rPr sz="1400" b="0">
                <a:solidFill>
                  <a:srgbClr val="F3F0E6"/>
                </a:solidFill>
                <a:latin typeface="Courier New"/>
              </a:rPr>
              <a:t>goal = StateGoal(PAD, precision=jnp.eye(2), effort=100 * jnp.eye(2))</a:t>
            </a:r>
            <a:r>
              <a:rPr sz="1400" b="0">
                <a:solidFill>
                  <a:srgbClr val="8C968F"/>
                </a:solidFill>
                <a:latin typeface="Courier New"/>
              </a:rPr>
              <a:t>  # thruster cost</a:t>
            </a:r>
          </a:p>
          <a:p>
            <a:pPr algn="l">
              <a:lnSpc>
                <a:spcPct val="100000"/>
              </a:lnSpc>
              <a:spcAft>
                <a:spcPts val="0"/>
              </a:spcAft>
            </a:pPr>
            <a:r>
              <a:rPr sz="1400" b="0">
                <a:solidFill>
                  <a:srgbClr val="F3F0E6"/>
                </a:solidFill>
                <a:latin typeface="Courier New"/>
              </a:rPr>
              <a:t>rocket = Agent(model, goal)</a:t>
            </a:r>
          </a:p>
          <a:p>
            <a:pPr algn="l">
              <a:lnSpc>
                <a:spcPct val="100000"/>
              </a:lnSpc>
              <a:spcAft>
                <a:spcPts val="0"/>
              </a:spcAft>
            </a:pPr>
            <a:r>
              <a:rPr sz="1400" b="0">
                <a:solidFill>
                  <a:srgbClr val="F3F0E6"/>
                </a:solidFill>
                <a:latin typeface="Courier New"/>
              </a:rPr>
              <a:t>check_agent(rocket)</a:t>
            </a:r>
          </a:p>
          <a:p>
            <a:pPr algn="l">
              <a:lnSpc>
                <a:spcPct val="100000"/>
              </a:lnSpc>
              <a:spcAft>
                <a:spcPts val="0"/>
              </a:spcAft>
            </a:pPr>
            <a:r>
              <a:rPr sz="1400" b="0">
                <a:solidFill>
                  <a:srgbClr val="F3F0E6"/>
                </a:solidFill>
                <a:latin typeface="Courier New"/>
              </a:rPr>
              <a:t> </a:t>
            </a:r>
          </a:p>
          <a:p>
            <a:pPr algn="l">
              <a:lnSpc>
                <a:spcPct val="100000"/>
              </a:lnSpc>
              <a:spcAft>
                <a:spcPts val="0"/>
              </a:spcAft>
            </a:pPr>
            <a:r>
              <a:rPr sz="1400" b="0">
                <a:solidFill>
                  <a:srgbClr val="F3F0E6"/>
                </a:solidFill>
                <a:latin typeface="Courier New"/>
              </a:rPr>
              <a:t>report = probe_model(model, model.prior, compass_moves())</a:t>
            </a:r>
          </a:p>
          <a:p>
            <a:pPr algn="l">
              <a:lnSpc>
                <a:spcPct val="100000"/>
              </a:lnSpc>
            </a:pPr>
            <a:r>
              <a:rPr sz="1400" b="0">
                <a:solidFill>
                  <a:srgbClr val="F3F0E6"/>
                </a:solidFill>
                <a:latin typeface="Courier New"/>
              </a:rPr>
              <a:t>show_probe(report)</a:t>
            </a:r>
            <a:r>
              <a:rPr sz="1400" b="0">
                <a:solidFill>
                  <a:srgbClr val="8C968F"/>
                </a:solidFill>
                <a:latin typeface="Courier New"/>
              </a:rPr>
              <a:t>  # paste the spread in chat</a:t>
            </a:r>
          </a:p>
        </p:txBody>
      </p:sp>
      <p:sp>
        <p:nvSpPr>
          <p:cNvPr id="5" name="card"/>
          <p:cNvSpPr/>
          <p:nvPr/>
        </p:nvSpPr>
        <p:spPr>
          <a:xfrm>
            <a:off x="548640" y="5669280"/>
            <a:ext cx="3200400" cy="685800"/>
          </a:xfrm>
          <a:prstGeom prst="roundRect">
            <a:avLst>
              <a:gd name="adj" fmla="val 8000"/>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E69F00"/>
                </a:solidFill>
                <a:latin typeface="Calibri"/>
              </a:rPr>
              <a:t>Write the two amber lines</a:t>
            </a:r>
          </a:p>
        </p:txBody>
      </p:sp>
      <p:sp>
        <p:nvSpPr>
          <p:cNvPr id="6" name="card"/>
          <p:cNvSpPr/>
          <p:nvPr/>
        </p:nvSpPr>
        <p:spPr>
          <a:xfrm>
            <a:off x="4023359" y="5669280"/>
            <a:ext cx="3383280" cy="685800"/>
          </a:xfrm>
          <a:prstGeom prst="roundRect">
            <a:avLst>
              <a:gd name="adj" fmla="val 8000"/>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F3F0E6"/>
                </a:solidFill>
                <a:latin typeface="Calibri"/>
              </a:rPr>
              <a:t>Hints come in chat on a timer</a:t>
            </a:r>
          </a:p>
        </p:txBody>
      </p:sp>
      <p:sp>
        <p:nvSpPr>
          <p:cNvPr id="7" name="card"/>
          <p:cNvSpPr/>
          <p:nvPr/>
        </p:nvSpPr>
        <p:spPr>
          <a:xfrm>
            <a:off x="7680959" y="5669280"/>
            <a:ext cx="3962095" cy="685800"/>
          </a:xfrm>
          <a:prstGeom prst="roundRect">
            <a:avLst>
              <a:gd name="adj" fmla="val 8000"/>
            </a:avLst>
          </a:prstGeom>
          <a:solidFill>
            <a:srgbClr val="14261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8C968F"/>
                </a:solidFill>
                <a:latin typeface="Calibri"/>
              </a:rPr>
              <a:t>Paste in chat  </a:t>
            </a:r>
            <a:r>
              <a:rPr sz="1700" b="0">
                <a:solidFill>
                  <a:srgbClr val="F3F0E6"/>
                </a:solidFill>
                <a:latin typeface="Courier New"/>
              </a:rPr>
              <a:t>spread</a:t>
            </a:r>
          </a:p>
        </p:txBody>
      </p:sp>
      <p:sp>
        <p:nvSpPr>
          <p:cNvPr id="8" name="text"/>
          <p:cNvSpPr txBox="1"/>
          <p:nvPr/>
        </p:nvSpPr>
        <p:spPr>
          <a:xfrm>
            <a:off x="548640" y="5200370"/>
            <a:ext cx="11094415" cy="377469"/>
          </a:xfrm>
          <a:prstGeom prst="rect">
            <a:avLst/>
          </a:prstGeom>
          <a:noFill/>
        </p:spPr>
        <p:txBody>
          <a:bodyPr wrap="square" lIns="0" rIns="0" tIns="0" bIns="0" anchor="t">
            <a:spAutoFit/>
          </a:bodyPr>
          <a:lstStyle/>
          <a:p>
            <a:pPr algn="l">
              <a:lnSpc>
                <a:spcPct val="100000"/>
              </a:lnSpc>
            </a:pPr>
            <a:r>
              <a:rPr sz="1800" b="0">
                <a:solidFill>
                  <a:srgbClr val="8C968F"/>
                </a:solidFill>
                <a:latin typeface="Calibri"/>
              </a:rPr>
              <a:t>Then the bonus sliders. Try to make it curious.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The 1960 rocket flies the straight line</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task 1</a:t>
            </a:r>
          </a:p>
        </p:txBody>
      </p:sp>
      <p:pic>
        <p:nvPicPr>
          <p:cNvPr id="4" name="picture route_1_straight.png" descr="route_1_straight.png"/>
          <p:cNvPicPr>
            <a:picLocks noChangeAspect="1"/>
          </p:cNvPicPr>
          <p:nvPr/>
        </p:nvPicPr>
        <p:blipFill>
          <a:blip r:embed="rId2"/>
          <a:stretch>
            <a:fillRect/>
          </a:stretch>
        </p:blipFill>
        <p:spPr>
          <a:xfrm>
            <a:off x="548640" y="1280160"/>
            <a:ext cx="7680960" cy="4071706"/>
          </a:xfrm>
          <a:prstGeom prst="rect">
            <a:avLst/>
          </a:prstGeom>
        </p:spPr>
      </p:pic>
      <p:sp>
        <p:nvSpPr>
          <p:cNvPr id="5" name="printed"/>
          <p:cNvSpPr/>
          <p:nvPr/>
        </p:nvSpPr>
        <p:spPr>
          <a:xfrm>
            <a:off x="548640" y="5468112"/>
            <a:ext cx="7680960" cy="88696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0"/>
              </a:spcAft>
            </a:pPr>
            <a:r>
              <a:rPr sz="1100" b="0">
                <a:solidFill>
                  <a:srgbClr val="F3F0E6"/>
                </a:solidFill>
                <a:latin typeface="Courier New"/>
              </a:rPr>
              <a:t>Agent(objective=StateGoal, selector=LQRSelector(controller=LQRController(gain=[[0.0951, 0.0], [0.0, 0.0951]])), backend=KalmanBackend)</a:t>
            </a:r>
          </a:p>
          <a:p>
            <a:pPr algn="l">
              <a:lnSpc>
                <a:spcPct val="100000"/>
              </a:lnSpc>
              <a:spcAft>
                <a:spcPts val="0"/>
              </a:spcAft>
            </a:pPr>
            <a:r>
              <a:rPr sz="1100" b="0">
                <a:solidFill>
                  <a:srgbClr val="F3F0E6"/>
                </a:solidFill>
                <a:latin typeface="Courier New"/>
              </a:rPr>
              <a:t>after 36 moves it is at (4.87, 0.04), 0.13 from the pad</a:t>
            </a:r>
          </a:p>
          <a:p>
            <a:pPr algn="l">
              <a:lnSpc>
                <a:spcPct val="100000"/>
              </a:lnSpc>
            </a:pPr>
            <a:r>
              <a:rPr sz="1100" b="0">
                <a:solidFill>
                  <a:srgbClr val="F3F0E6"/>
                </a:solidFill>
                <a:latin typeface="Courier New"/>
              </a:rPr>
              <a:t>epistemic_varies = False   flattens = True   spread = 0.000000 nats</a:t>
            </a:r>
          </a:p>
        </p:txBody>
      </p:sp>
      <p:sp>
        <p:nvSpPr>
          <p:cNvPr id="6" name="card"/>
          <p:cNvSpPr/>
          <p:nvPr/>
        </p:nvSpPr>
        <p:spPr>
          <a:xfrm>
            <a:off x="8503920" y="1325880"/>
            <a:ext cx="3139135" cy="2697480"/>
          </a:xfrm>
          <a:prstGeom prst="roundRect">
            <a:avLst>
              <a:gd name="adj" fmla="val 4067"/>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600"/>
              </a:spcAft>
            </a:pPr>
            <a:r>
              <a:rPr sz="1700" b="0">
                <a:solidFill>
                  <a:srgbClr val="8C968F"/>
                </a:solidFill>
                <a:latin typeface="Calibri"/>
              </a:rPr>
              <a:t>spread</a:t>
            </a:r>
          </a:p>
          <a:p>
            <a:pPr algn="l">
              <a:lnSpc>
                <a:spcPct val="100000"/>
              </a:lnSpc>
              <a:spcAft>
                <a:spcPts val="600"/>
              </a:spcAft>
            </a:pPr>
            <a:r>
              <a:rPr sz="3600" b="1">
                <a:solidFill>
                  <a:srgbClr val="F3F0E6"/>
                </a:solidFill>
                <a:latin typeface="Courier New"/>
              </a:rPr>
              <a:t>0.000000</a:t>
            </a:r>
          </a:p>
          <a:p>
            <a:pPr algn="l">
              <a:lnSpc>
                <a:spcPct val="100000"/>
              </a:lnSpc>
            </a:pPr>
            <a:r>
              <a:rPr sz="1700" b="0">
                <a:solidFill>
                  <a:srgbClr val="F3F0E6"/>
                </a:solidFill>
                <a:latin typeface="Calibri"/>
              </a:rPr>
              <a:t>nats between the move that teaches most and the one that teaches least</a:t>
            </a:r>
          </a:p>
        </p:txBody>
      </p:sp>
      <p:sp>
        <p:nvSpPr>
          <p:cNvPr id="7" name="card"/>
          <p:cNvSpPr/>
          <p:nvPr/>
        </p:nvSpPr>
        <p:spPr>
          <a:xfrm>
            <a:off x="8503920" y="4251960"/>
            <a:ext cx="3139135" cy="960120"/>
          </a:xfrm>
          <a:prstGeom prst="roundRect">
            <a:avLst>
              <a:gd name="adj" fmla="val 8000"/>
            </a:avLst>
          </a:prstGeom>
          <a:solidFill>
            <a:srgbClr val="14261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200"/>
              </a:spcAft>
            </a:pPr>
            <a:r>
              <a:rPr sz="1700" b="0">
                <a:solidFill>
                  <a:srgbClr val="8C968F"/>
                </a:solidFill>
                <a:latin typeface="Calibri"/>
              </a:rPr>
              <a:t>Paste in chat</a:t>
            </a:r>
          </a:p>
          <a:p>
            <a:pPr algn="l">
              <a:lnSpc>
                <a:spcPct val="100000"/>
              </a:lnSpc>
            </a:pPr>
            <a:r>
              <a:rPr sz="1700" b="0">
                <a:solidFill>
                  <a:srgbClr val="F3F0E6"/>
                </a:solidFill>
                <a:latin typeface="Courier New"/>
              </a:rPr>
              <a:t>spread</a:t>
            </a:r>
          </a:p>
        </p:txBody>
      </p:sp>
      <p:sp>
        <p:nvSpPr>
          <p:cNvPr id="8" name="pill"/>
          <p:cNvSpPr/>
          <p:nvPr/>
        </p:nvSpPr>
        <p:spPr>
          <a:xfrm>
            <a:off x="8503920" y="5468112"/>
            <a:ext cx="3139135" cy="502920"/>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600" b="0">
                <a:solidFill>
                  <a:srgbClr val="E69F00"/>
                </a:solidFill>
                <a:latin typeface="Calibri"/>
              </a:rPr>
              <a:t>Poll 1 · 60 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Task 2 · a beacon</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task 2</a:t>
            </a:r>
          </a:p>
        </p:txBody>
      </p:sp>
      <p:sp>
        <p:nvSpPr>
          <p:cNvPr id="4" name="code"/>
          <p:cNvSpPr/>
          <p:nvPr/>
        </p:nvSpPr>
        <p:spPr>
          <a:xfrm>
            <a:off x="548640" y="1325880"/>
            <a:ext cx="11094415" cy="4065727"/>
          </a:xfrm>
          <a:prstGeom prst="roundRect">
            <a:avLst>
              <a:gd name="adj" fmla="val 2698"/>
            </a:avLst>
          </a:prstGeom>
          <a:solidFill>
            <a:srgbClr val="14261F"/>
          </a:solid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200" b="0">
                <a:solidFill>
                  <a:srgbClr val="F3F0E6"/>
                </a:solidFill>
                <a:latin typeface="Courier New"/>
              </a:rPr>
              <a:t>def my_sensor(x, params):</a:t>
            </a:r>
          </a:p>
          <a:p>
            <a:pPr algn="l">
              <a:lnSpc>
                <a:spcPct val="100000"/>
              </a:lnSpc>
              <a:spcAft>
                <a:spcPts val="0"/>
              </a:spcAft>
            </a:pPr>
            <a:r>
              <a:rPr sz="1200" b="0">
                <a:solidFill>
                  <a:srgbClr val="F3F0E6"/>
                </a:solidFill>
                <a:latin typeface="Courier New"/>
              </a:rPr>
              <a:t>    distance_squared = jnp.sum((x - params["beacon"]) ** 2)</a:t>
            </a:r>
          </a:p>
          <a:p>
            <a:pPr algn="l">
              <a:lnSpc>
                <a:spcPct val="100000"/>
              </a:lnSpc>
              <a:spcAft>
                <a:spcPts val="0"/>
              </a:spcAft>
            </a:pPr>
            <a:r>
              <a:rPr sz="1200" b="1">
                <a:solidFill>
                  <a:srgbClr val="E69F00"/>
                </a:solidFill>
                <a:latin typeface="Courier New"/>
              </a:rPr>
              <a:t>    pull = ...  # k times jnp.minimum(distance_squared, cap), both from params</a:t>
            </a:r>
          </a:p>
          <a:p>
            <a:pPr algn="l">
              <a:lnSpc>
                <a:spcPct val="100000"/>
              </a:lnSpc>
              <a:spcAft>
                <a:spcPts val="0"/>
              </a:spcAft>
            </a:pPr>
            <a:r>
              <a:rPr sz="1200" b="0">
                <a:solidFill>
                  <a:srgbClr val="F3F0E6"/>
                </a:solidFill>
                <a:latin typeface="Courier New"/>
              </a:rPr>
              <a:t>    return jnp.eye(2) * (params["noise_floor"] + pull)</a:t>
            </a:r>
          </a:p>
          <a:p>
            <a:pPr algn="l">
              <a:lnSpc>
                <a:spcPct val="100000"/>
              </a:lnSpc>
              <a:spcAft>
                <a:spcPts val="0"/>
              </a:spcAft>
            </a:pPr>
            <a:r>
              <a:rPr sz="1200" b="0">
                <a:solidFill>
                  <a:srgbClr val="F3F0E6"/>
                </a:solidFill>
                <a:latin typeface="Courier New"/>
              </a:rPr>
              <a:t> </a:t>
            </a:r>
          </a:p>
          <a:p>
            <a:pPr algn="l">
              <a:lnSpc>
                <a:spcPct val="100000"/>
              </a:lnSpc>
              <a:spcAft>
                <a:spcPts val="0"/>
              </a:spcAft>
            </a:pPr>
            <a:r>
              <a:rPr sz="1200" b="0">
                <a:solidFill>
                  <a:srgbClr val="F3F0E6"/>
                </a:solidFill>
                <a:latin typeface="Courier New"/>
              </a:rPr>
              <a:t> </a:t>
            </a:r>
          </a:p>
          <a:p>
            <a:pPr algn="l">
              <a:lnSpc>
                <a:spcPct val="100000"/>
              </a:lnSpc>
              <a:spcAft>
                <a:spcPts val="0"/>
              </a:spcAft>
            </a:pPr>
            <a:r>
              <a:rPr sz="1200" b="1">
                <a:solidFill>
                  <a:srgbClr val="E69F00"/>
                </a:solidFill>
                <a:latin typeface="Courier New"/>
              </a:rPr>
              <a:t>beacon_gain = ...  # k: how fast the reading degrades away from the beacon</a:t>
            </a:r>
          </a:p>
          <a:p>
            <a:pPr algn="l">
              <a:lnSpc>
                <a:spcPct val="100000"/>
              </a:lnSpc>
              <a:spcAft>
                <a:spcPts val="0"/>
              </a:spcAft>
            </a:pPr>
            <a:r>
              <a:rPr sz="1200" b="0">
                <a:solidFill>
                  <a:srgbClr val="F3F0E6"/>
                </a:solidFill>
                <a:latin typeface="Courier New"/>
              </a:rPr>
              <a:t>params = default_params(beacon_gain)</a:t>
            </a:r>
          </a:p>
          <a:p>
            <a:pPr algn="l">
              <a:lnSpc>
                <a:spcPct val="100000"/>
              </a:lnSpc>
              <a:spcAft>
                <a:spcPts val="0"/>
              </a:spcAft>
            </a:pPr>
            <a:r>
              <a:rPr sz="1200" b="0">
                <a:solidFill>
                  <a:srgbClr val="F3F0E6"/>
                </a:solidFill>
                <a:latin typeface="Courier New"/>
              </a:rPr>
              <a:t>check_my_sensor(my_sensor, params)</a:t>
            </a:r>
          </a:p>
          <a:p>
            <a:pPr algn="l">
              <a:lnSpc>
                <a:spcPct val="100000"/>
              </a:lnSpc>
              <a:spcAft>
                <a:spcPts val="0"/>
              </a:spcAft>
            </a:pPr>
            <a:r>
              <a:rPr sz="1200" b="0">
                <a:solidFill>
                  <a:srgbClr val="F3F0E6"/>
                </a:solidFill>
                <a:latin typeface="Courier New"/>
              </a:rPr>
              <a:t> </a:t>
            </a:r>
          </a:p>
          <a:p>
            <a:pPr algn="l">
              <a:lnSpc>
                <a:spcPct val="100000"/>
              </a:lnSpc>
              <a:spcAft>
                <a:spcPts val="0"/>
              </a:spcAft>
            </a:pPr>
            <a:r>
              <a:rPr sz="1200" b="0">
                <a:solidFill>
                  <a:srgbClr val="F3F0E6"/>
                </a:solidFill>
                <a:latin typeface="Courier New"/>
              </a:rPr>
              <a:t>curious_model = LinearGaussianModel(</a:t>
            </a:r>
          </a:p>
          <a:p>
            <a:pPr algn="l">
              <a:lnSpc>
                <a:spcPct val="100000"/>
              </a:lnSpc>
              <a:spcAft>
                <a:spcPts val="0"/>
              </a:spcAft>
            </a:pPr>
            <a:r>
              <a:rPr sz="1200" b="0">
                <a:solidFill>
                  <a:srgbClr val="F3F0E6"/>
                </a:solidFill>
                <a:latin typeface="Courier New"/>
              </a:rPr>
              <a:t>    jnp.eye(2),</a:t>
            </a:r>
          </a:p>
          <a:p>
            <a:pPr algn="l">
              <a:lnSpc>
                <a:spcPct val="100000"/>
              </a:lnSpc>
              <a:spcAft>
                <a:spcPts val="0"/>
              </a:spcAft>
            </a:pPr>
            <a:r>
              <a:rPr sz="1200" b="0">
                <a:solidFill>
                  <a:srgbClr val="F3F0E6"/>
                </a:solidFill>
                <a:latin typeface="Courier New"/>
              </a:rPr>
              <a:t>    control_matrix=jnp.eye(2),</a:t>
            </a:r>
          </a:p>
          <a:p>
            <a:pPr algn="l">
              <a:lnSpc>
                <a:spcPct val="100000"/>
              </a:lnSpc>
              <a:spcAft>
                <a:spcPts val="0"/>
              </a:spcAft>
            </a:pPr>
            <a:r>
              <a:rPr sz="1200" b="0">
                <a:solidFill>
                  <a:srgbClr val="F3F0E6"/>
                </a:solidFill>
                <a:latin typeface="Courier New"/>
              </a:rPr>
              <a:t>    dynamics_noise=1e-3 * jnp.eye(2),</a:t>
            </a:r>
          </a:p>
          <a:p>
            <a:pPr algn="l">
              <a:lnSpc>
                <a:spcPct val="100000"/>
              </a:lnSpc>
              <a:spcAft>
                <a:spcPts val="0"/>
              </a:spcAft>
            </a:pPr>
            <a:r>
              <a:rPr sz="1200" b="0">
                <a:solidFill>
                  <a:srgbClr val="F3F0E6"/>
                </a:solidFill>
                <a:latin typeface="Courier New"/>
              </a:rPr>
              <a:t>    prior=Belief(mean=LAUNCH, cov=4 * jnp.eye(2)),</a:t>
            </a:r>
          </a:p>
          <a:p>
            <a:pPr algn="l">
              <a:lnSpc>
                <a:spcPct val="100000"/>
              </a:lnSpc>
              <a:spcAft>
                <a:spcPts val="0"/>
              </a:spcAft>
            </a:pPr>
            <a:r>
              <a:rPr sz="1200" b="0">
                <a:solidFill>
                  <a:srgbClr val="F3F0E6"/>
                </a:solidFill>
                <a:latin typeface="Courier New"/>
              </a:rPr>
              <a:t>    observation_model=CallableSensor(jnp.eye(2), my_sensor, params),</a:t>
            </a:r>
          </a:p>
          <a:p>
            <a:pPr algn="l">
              <a:lnSpc>
                <a:spcPct val="100000"/>
              </a:lnSpc>
              <a:spcAft>
                <a:spcPts val="0"/>
              </a:spcAft>
            </a:pPr>
            <a:r>
              <a:rPr sz="1200" b="0">
                <a:solidFill>
                  <a:srgbClr val="F3F0E6"/>
                </a:solidFill>
                <a:latin typeface="Courier New"/>
              </a:rPr>
              <a:t>)</a:t>
            </a:r>
          </a:p>
          <a:p>
            <a:pPr algn="l">
              <a:lnSpc>
                <a:spcPct val="100000"/>
              </a:lnSpc>
              <a:spcAft>
                <a:spcPts val="0"/>
              </a:spcAft>
            </a:pPr>
            <a:r>
              <a:rPr sz="1200" b="0">
                <a:solidFill>
                  <a:srgbClr val="F3F0E6"/>
                </a:solidFill>
                <a:latin typeface="Courier New"/>
              </a:rPr>
              <a:t>planner = compass_planner(curious_model)</a:t>
            </a:r>
            <a:r>
              <a:rPr sz="1200" b="0">
                <a:solidFill>
                  <a:srgbClr val="8C968F"/>
                </a:solidFill>
                <a:latin typeface="Courier New"/>
              </a:rPr>
              <a:t>  # scores all nine compass moves every step</a:t>
            </a:r>
          </a:p>
          <a:p>
            <a:pPr algn="l">
              <a:lnSpc>
                <a:spcPct val="100000"/>
              </a:lnSpc>
              <a:spcAft>
                <a:spcPts val="0"/>
              </a:spcAft>
            </a:pPr>
            <a:r>
              <a:rPr sz="1200" b="0">
                <a:solidFill>
                  <a:srgbClr val="F3F0E6"/>
                </a:solidFill>
                <a:latin typeface="Courier New"/>
              </a:rPr>
              <a:t>curious = Agent(curious_model, Preference(PAD, precision=jnp.eye(2)), selector=planner)</a:t>
            </a:r>
          </a:p>
          <a:p>
            <a:pPr algn="l">
              <a:lnSpc>
                <a:spcPct val="100000"/>
              </a:lnSpc>
              <a:spcAft>
                <a:spcPts val="0"/>
              </a:spcAft>
            </a:pPr>
            <a:r>
              <a:rPr sz="1200" b="0">
                <a:solidFill>
                  <a:srgbClr val="F3F0E6"/>
                </a:solidFill>
                <a:latin typeface="Courier New"/>
              </a:rPr>
              <a:t>flight = fly(curious)</a:t>
            </a:r>
          </a:p>
          <a:p>
            <a:pPr algn="l">
              <a:lnSpc>
                <a:spcPct val="100000"/>
              </a:lnSpc>
              <a:spcAft>
                <a:spcPts val="0"/>
              </a:spcAft>
            </a:pPr>
            <a:r>
              <a:rPr sz="1200" b="0">
                <a:solidFill>
                  <a:srgbClr val="F3F0E6"/>
                </a:solidFill>
                <a:latin typeface="Courier New"/>
              </a:rPr>
              <a:t>print(f"your k = {beacon_gain}")</a:t>
            </a:r>
            <a:r>
              <a:rPr sz="1200" b="0">
                <a:solidFill>
                  <a:srgbClr val="8C968F"/>
                </a:solidFill>
                <a:latin typeface="Courier New"/>
              </a:rPr>
              <a:t>  # paste in chat</a:t>
            </a:r>
          </a:p>
          <a:p>
            <a:pPr algn="l">
              <a:lnSpc>
                <a:spcPct val="100000"/>
              </a:lnSpc>
            </a:pPr>
            <a:r>
              <a:rPr sz="1200" b="0">
                <a:solidFill>
                  <a:srgbClr val="F3F0E6"/>
                </a:solidFill>
                <a:latin typeface="Courier New"/>
              </a:rPr>
              <a:t>plot_path(flight, my_sensor, params)</a:t>
            </a:r>
          </a:p>
        </p:txBody>
      </p:sp>
      <p:sp>
        <p:nvSpPr>
          <p:cNvPr id="5" name="card"/>
          <p:cNvSpPr/>
          <p:nvPr/>
        </p:nvSpPr>
        <p:spPr>
          <a:xfrm>
            <a:off x="548640" y="5669280"/>
            <a:ext cx="3200400" cy="685800"/>
          </a:xfrm>
          <a:prstGeom prst="roundRect">
            <a:avLst>
              <a:gd name="adj" fmla="val 8000"/>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E69F00"/>
                </a:solidFill>
                <a:latin typeface="Calibri"/>
              </a:rPr>
              <a:t>Write the two amber lines</a:t>
            </a:r>
          </a:p>
        </p:txBody>
      </p:sp>
      <p:sp>
        <p:nvSpPr>
          <p:cNvPr id="6" name="card"/>
          <p:cNvSpPr/>
          <p:nvPr/>
        </p:nvSpPr>
        <p:spPr>
          <a:xfrm>
            <a:off x="4023359" y="5669280"/>
            <a:ext cx="3383280" cy="685800"/>
          </a:xfrm>
          <a:prstGeom prst="roundRect">
            <a:avLst>
              <a:gd name="adj" fmla="val 8000"/>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F3F0E6"/>
                </a:solidFill>
                <a:latin typeface="Calibri"/>
              </a:rPr>
              <a:t>Hints come in chat on a timer</a:t>
            </a:r>
          </a:p>
        </p:txBody>
      </p:sp>
      <p:sp>
        <p:nvSpPr>
          <p:cNvPr id="7" name="card"/>
          <p:cNvSpPr/>
          <p:nvPr/>
        </p:nvSpPr>
        <p:spPr>
          <a:xfrm>
            <a:off x="7680959" y="5669280"/>
            <a:ext cx="3962095" cy="685800"/>
          </a:xfrm>
          <a:prstGeom prst="roundRect">
            <a:avLst>
              <a:gd name="adj" fmla="val 8000"/>
            </a:avLst>
          </a:prstGeom>
          <a:solidFill>
            <a:srgbClr val="14261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8C968F"/>
                </a:solidFill>
                <a:latin typeface="Calibri"/>
              </a:rPr>
              <a:t>Paste in chat  </a:t>
            </a:r>
            <a:r>
              <a:rPr sz="1700" b="0">
                <a:solidFill>
                  <a:srgbClr val="F3F0E6"/>
                </a:solidFill>
                <a:latin typeface="Courier New"/>
              </a:rPr>
              <a:t>your 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The beacon bends the route</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task 2</a:t>
            </a:r>
          </a:p>
        </p:txBody>
      </p:sp>
      <p:pic>
        <p:nvPicPr>
          <p:cNvPr id="4" name="picture route_2_beacon.png" descr="route_2_beacon.png"/>
          <p:cNvPicPr>
            <a:picLocks noChangeAspect="1"/>
          </p:cNvPicPr>
          <p:nvPr/>
        </p:nvPicPr>
        <p:blipFill>
          <a:blip r:embed="rId2"/>
          <a:stretch>
            <a:fillRect/>
          </a:stretch>
        </p:blipFill>
        <p:spPr>
          <a:xfrm>
            <a:off x="548640" y="1280160"/>
            <a:ext cx="7680960" cy="4071706"/>
          </a:xfrm>
          <a:prstGeom prst="rect">
            <a:avLst/>
          </a:prstGeom>
        </p:spPr>
      </p:pic>
      <p:sp>
        <p:nvSpPr>
          <p:cNvPr id="5" name="printed"/>
          <p:cNvSpPr/>
          <p:nvPr/>
        </p:nvSpPr>
        <p:spPr>
          <a:xfrm>
            <a:off x="548640" y="5468112"/>
            <a:ext cx="7680960" cy="88696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100" b="0">
                <a:solidFill>
                  <a:srgbClr val="F3F0E6"/>
                </a:solidFill>
                <a:latin typeface="Courier New"/>
              </a:rPr>
              <a:t>The rocket bends 1.41 off the straight line and lands 0.24 from the pad. It matches the workshop's beacon_sensor.</a:t>
            </a:r>
          </a:p>
        </p:txBody>
      </p:sp>
      <p:sp>
        <p:nvSpPr>
          <p:cNvPr id="6" name="card"/>
          <p:cNvSpPr/>
          <p:nvPr/>
        </p:nvSpPr>
        <p:spPr>
          <a:xfrm>
            <a:off x="8503920" y="1325880"/>
            <a:ext cx="3139135" cy="2697480"/>
          </a:xfrm>
          <a:prstGeom prst="roundRect">
            <a:avLst>
              <a:gd name="adj" fmla="val 4067"/>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600"/>
              </a:spcAft>
            </a:pPr>
            <a:r>
              <a:rPr sz="1700" b="0">
                <a:solidFill>
                  <a:srgbClr val="8C968F"/>
                </a:solidFill>
                <a:latin typeface="Calibri"/>
              </a:rPr>
              <a:t>k = 0.40</a:t>
            </a:r>
          </a:p>
          <a:p>
            <a:pPr algn="l">
              <a:lnSpc>
                <a:spcPct val="100000"/>
              </a:lnSpc>
              <a:spcAft>
                <a:spcPts val="600"/>
              </a:spcAft>
            </a:pPr>
            <a:r>
              <a:rPr sz="6000" b="1">
                <a:solidFill>
                  <a:srgbClr val="E69F00"/>
                </a:solidFill>
                <a:latin typeface="Calibri"/>
              </a:rPr>
              <a:t>1.41</a:t>
            </a:r>
          </a:p>
          <a:p>
            <a:pPr algn="l">
              <a:lnSpc>
                <a:spcPct val="100000"/>
              </a:lnSpc>
            </a:pPr>
            <a:r>
              <a:rPr sz="1700" b="0">
                <a:solidFill>
                  <a:srgbClr val="F3F0E6"/>
                </a:solidFill>
                <a:latin typeface="Calibri"/>
              </a:rPr>
              <a:t>off the straight line. It lands 0.24 from the pad.</a:t>
            </a:r>
          </a:p>
        </p:txBody>
      </p:sp>
      <p:sp>
        <p:nvSpPr>
          <p:cNvPr id="7" name="card"/>
          <p:cNvSpPr/>
          <p:nvPr/>
        </p:nvSpPr>
        <p:spPr>
          <a:xfrm>
            <a:off x="8503920" y="4251960"/>
            <a:ext cx="3139135" cy="960120"/>
          </a:xfrm>
          <a:prstGeom prst="roundRect">
            <a:avLst>
              <a:gd name="adj" fmla="val 8000"/>
            </a:avLst>
          </a:prstGeom>
          <a:solidFill>
            <a:srgbClr val="14261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200"/>
              </a:spcAft>
            </a:pPr>
            <a:r>
              <a:rPr sz="1700" b="0">
                <a:solidFill>
                  <a:srgbClr val="8C968F"/>
                </a:solidFill>
                <a:latin typeface="Calibri"/>
              </a:rPr>
              <a:t>Paste in chat</a:t>
            </a:r>
          </a:p>
          <a:p>
            <a:pPr algn="l">
              <a:lnSpc>
                <a:spcPct val="100000"/>
              </a:lnSpc>
            </a:pPr>
            <a:r>
              <a:rPr sz="1700" b="0">
                <a:solidFill>
                  <a:srgbClr val="F3F0E6"/>
                </a:solidFill>
                <a:latin typeface="Courier New"/>
              </a:rPr>
              <a:t>your k</a:t>
            </a:r>
          </a:p>
        </p:txBody>
      </p:sp>
      <p:sp>
        <p:nvSpPr>
          <p:cNvPr id="8" name="pill"/>
          <p:cNvSpPr/>
          <p:nvPr/>
        </p:nvSpPr>
        <p:spPr>
          <a:xfrm>
            <a:off x="8503920" y="5468112"/>
            <a:ext cx="3139135" cy="502920"/>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600" b="0">
                <a:solidFill>
                  <a:srgbClr val="E69F00"/>
                </a:solidFill>
                <a:latin typeface="Calibri"/>
              </a:rPr>
              <a:t>Poll 2 · 60 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Break</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break</a:t>
            </a:r>
          </a:p>
        </p:txBody>
      </p:sp>
      <p:sp>
        <p:nvSpPr>
          <p:cNvPr id="4" name="text"/>
          <p:cNvSpPr txBox="1"/>
          <p:nvPr/>
        </p:nvSpPr>
        <p:spPr>
          <a:xfrm>
            <a:off x="548640" y="1325880"/>
            <a:ext cx="3840480" cy="2377440"/>
          </a:xfrm>
          <a:prstGeom prst="rect">
            <a:avLst/>
          </a:prstGeom>
          <a:noFill/>
        </p:spPr>
        <p:txBody>
          <a:bodyPr wrap="square" lIns="0" rIns="0" tIns="0" bIns="0" anchor="ctr">
            <a:spAutoFit/>
          </a:bodyPr>
          <a:lstStyle/>
          <a:p>
            <a:pPr algn="l">
              <a:lnSpc>
                <a:spcPct val="100000"/>
              </a:lnSpc>
            </a:pPr>
            <a:r>
              <a:rPr sz="15000" b="1">
                <a:solidFill>
                  <a:srgbClr val="E69F00"/>
                </a:solidFill>
                <a:latin typeface="Calibri"/>
              </a:rPr>
              <a:t>6</a:t>
            </a:r>
          </a:p>
        </p:txBody>
      </p:sp>
      <p:sp>
        <p:nvSpPr>
          <p:cNvPr id="5" name="text"/>
          <p:cNvSpPr txBox="1"/>
          <p:nvPr/>
        </p:nvSpPr>
        <p:spPr>
          <a:xfrm>
            <a:off x="548640" y="3840480"/>
            <a:ext cx="3840480" cy="548640"/>
          </a:xfrm>
          <a:prstGeom prst="rect">
            <a:avLst/>
          </a:prstGeom>
          <a:noFill/>
        </p:spPr>
        <p:txBody>
          <a:bodyPr wrap="square" lIns="0" rIns="0" tIns="0" bIns="0" anchor="t">
            <a:spAutoFit/>
          </a:bodyPr>
          <a:lstStyle/>
          <a:p>
            <a:pPr algn="l">
              <a:lnSpc>
                <a:spcPct val="100000"/>
              </a:lnSpc>
            </a:pPr>
            <a:r>
              <a:rPr sz="2400" b="0">
                <a:solidFill>
                  <a:srgbClr val="8C968F"/>
                </a:solidFill>
                <a:latin typeface="Calibri"/>
              </a:rPr>
              <a:t>minutes, cameras off</a:t>
            </a:r>
          </a:p>
        </p:txBody>
      </p:sp>
      <p:sp>
        <p:nvSpPr>
          <p:cNvPr id="6" name="text"/>
          <p:cNvSpPr txBox="1"/>
          <p:nvPr/>
        </p:nvSpPr>
        <p:spPr>
          <a:xfrm>
            <a:off x="4937760" y="1600200"/>
            <a:ext cx="6705295" cy="3291840"/>
          </a:xfrm>
          <a:prstGeom prst="rect">
            <a:avLst/>
          </a:prstGeom>
          <a:noFill/>
        </p:spPr>
        <p:txBody>
          <a:bodyPr wrap="square" lIns="0" rIns="0" tIns="0" bIns="0" anchor="t">
            <a:spAutoFit/>
          </a:bodyPr>
          <a:lstStyle/>
          <a:p>
            <a:pPr algn="l">
              <a:lnSpc>
                <a:spcPct val="100000"/>
              </a:lnSpc>
              <a:spcAft>
                <a:spcPts val="2400"/>
              </a:spcAft>
            </a:pPr>
            <a:r>
              <a:rPr sz="2200" b="0">
                <a:solidFill>
                  <a:srgbClr val="F3F0E6"/>
                </a:solidFill>
                <a:latin typeface="Calibri"/>
              </a:rPr>
              <a:t>Behind? Run checkpoint 2. Task 3 starts from it.</a:t>
            </a:r>
          </a:p>
          <a:p>
            <a:pPr algn="l">
              <a:lnSpc>
                <a:spcPct val="100000"/>
              </a:lnSpc>
            </a:pPr>
            <a:r>
              <a:rPr sz="2200" b="0">
                <a:solidFill>
                  <a:srgbClr val="F3F0E6"/>
                </a:solidFill>
                <a:latin typeface="Calibri"/>
              </a:rPr>
              <a:t>One up, one down. One thing that worked and one that did not, on the anonymous form.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Task 3 · the blackout</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task 3</a:t>
            </a:r>
          </a:p>
        </p:txBody>
      </p:sp>
      <p:sp>
        <p:nvSpPr>
          <p:cNvPr id="4" name="code"/>
          <p:cNvSpPr/>
          <p:nvPr/>
        </p:nvSpPr>
        <p:spPr>
          <a:xfrm>
            <a:off x="548640" y="1325880"/>
            <a:ext cx="11094415" cy="2684373"/>
          </a:xfrm>
          <a:prstGeom prst="roundRect">
            <a:avLst>
              <a:gd name="adj" fmla="val 4087"/>
            </a:avLst>
          </a:prstGeom>
          <a:solidFill>
            <a:srgbClr val="14261F"/>
          </a:solid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400" b="0">
                <a:solidFill>
                  <a:srgbClr val="F3F0E6"/>
                </a:solidFill>
                <a:latin typeface="Courier New"/>
              </a:rPr>
              <a:t>def my_world(x, params):</a:t>
            </a:r>
          </a:p>
          <a:p>
            <a:pPr algn="l">
              <a:lnSpc>
                <a:spcPct val="100000"/>
              </a:lnSpc>
              <a:spcAft>
                <a:spcPts val="0"/>
              </a:spcAft>
            </a:pPr>
            <a:r>
              <a:rPr sz="1400" b="0">
                <a:solidFill>
                  <a:srgbClr val="F3F0E6"/>
                </a:solidFill>
                <a:latin typeface="Courier New"/>
              </a:rPr>
              <a:t>    height, width = params["blackout_gain"], params["blackout_width"]</a:t>
            </a:r>
          </a:p>
          <a:p>
            <a:pPr algn="l">
              <a:lnSpc>
                <a:spcPct val="100000"/>
              </a:lnSpc>
              <a:spcAft>
                <a:spcPts val="0"/>
              </a:spcAft>
            </a:pPr>
            <a:r>
              <a:rPr sz="1400" b="0">
                <a:solidFill>
                  <a:srgbClr val="F3F0E6"/>
                </a:solidFill>
                <a:latin typeface="Courier New"/>
              </a:rPr>
              <a:t>    from_blackout = jnp.sum((x - params["blackout"]) ** 2)</a:t>
            </a:r>
          </a:p>
          <a:p>
            <a:pPr algn="l">
              <a:lnSpc>
                <a:spcPct val="100000"/>
              </a:lnSpc>
              <a:spcAft>
                <a:spcPts val="0"/>
              </a:spcAft>
            </a:pPr>
            <a:r>
              <a:rPr sz="1400" b="1">
                <a:solidFill>
                  <a:srgbClr val="E69F00"/>
                </a:solidFill>
                <a:latin typeface="Courier New"/>
              </a:rPr>
              <a:t>    blindness = ...  # height times jnp.exp of minus from_blackout over width</a:t>
            </a:r>
          </a:p>
          <a:p>
            <a:pPr algn="l">
              <a:lnSpc>
                <a:spcPct val="100000"/>
              </a:lnSpc>
              <a:spcAft>
                <a:spcPts val="0"/>
              </a:spcAft>
            </a:pPr>
            <a:r>
              <a:rPr sz="1400" b="0">
                <a:solidFill>
                  <a:srgbClr val="F3F0E6"/>
                </a:solidFill>
                <a:latin typeface="Courier New"/>
              </a:rPr>
              <a:t>    return my_sensor(x, params) + jnp.eye(2) * blindness</a:t>
            </a:r>
          </a:p>
          <a:p>
            <a:pPr algn="l">
              <a:lnSpc>
                <a:spcPct val="100000"/>
              </a:lnSpc>
              <a:spcAft>
                <a:spcPts val="0"/>
              </a:spcAft>
            </a:pPr>
            <a:r>
              <a:rPr sz="1400" b="0">
                <a:solidFill>
                  <a:srgbClr val="F3F0E6"/>
                </a:solidFill>
                <a:latin typeface="Courier New"/>
              </a:rPr>
              <a:t> </a:t>
            </a:r>
          </a:p>
          <a:p>
            <a:pPr algn="l">
              <a:lnSpc>
                <a:spcPct val="100000"/>
              </a:lnSpc>
              <a:spcAft>
                <a:spcPts val="0"/>
              </a:spcAft>
            </a:pPr>
            <a:r>
              <a:rPr sz="1400" b="0">
                <a:solidFill>
                  <a:srgbClr val="F3F0E6"/>
                </a:solidFill>
                <a:latin typeface="Courier New"/>
              </a:rPr>
              <a:t> </a:t>
            </a:r>
          </a:p>
          <a:p>
            <a:pPr algn="l">
              <a:lnSpc>
                <a:spcPct val="100000"/>
              </a:lnSpc>
              <a:spcAft>
                <a:spcPts val="0"/>
              </a:spcAft>
            </a:pPr>
            <a:r>
              <a:rPr sz="1400" b="0">
                <a:solidFill>
                  <a:srgbClr val="F3F0E6"/>
                </a:solidFill>
                <a:latin typeface="Courier New"/>
              </a:rPr>
              <a:t>beacon_gain = 0.08</a:t>
            </a:r>
            <a:r>
              <a:rPr sz="1400" b="0">
                <a:solidFill>
                  <a:srgbClr val="8C968F"/>
                </a:solidFill>
                <a:latin typeface="Courier New"/>
              </a:rPr>
              <a:t>  # @param {type:"slider", min:0.02, max:0.4, step:0.02}</a:t>
            </a:r>
          </a:p>
          <a:p>
            <a:pPr algn="l">
              <a:lnSpc>
                <a:spcPct val="100000"/>
              </a:lnSpc>
              <a:spcAft>
                <a:spcPts val="0"/>
              </a:spcAft>
            </a:pPr>
            <a:r>
              <a:rPr sz="1400" b="0">
                <a:solidFill>
                  <a:srgbClr val="F3F0E6"/>
                </a:solidFill>
                <a:latin typeface="Courier New"/>
              </a:rPr>
              <a:t> </a:t>
            </a:r>
          </a:p>
          <a:p>
            <a:pPr algn="l">
              <a:lnSpc>
                <a:spcPct val="100000"/>
              </a:lnSpc>
              <a:spcAft>
                <a:spcPts val="0"/>
              </a:spcAft>
            </a:pPr>
            <a:r>
              <a:rPr sz="1400" b="1">
                <a:solidFill>
                  <a:srgbClr val="E69F00"/>
                </a:solidFill>
                <a:latin typeface="Courier New"/>
              </a:rPr>
              <a:t>backend = ...  # task 1's model as a graph of one node</a:t>
            </a:r>
          </a:p>
          <a:p>
            <a:pPr algn="l">
              <a:lnSpc>
                <a:spcPct val="100000"/>
              </a:lnSpc>
              <a:spcAft>
                <a:spcPts val="0"/>
              </a:spcAft>
            </a:pPr>
            <a:r>
              <a:rPr sz="1400" b="0">
                <a:solidFill>
                  <a:srgbClr val="F3F0E6"/>
                </a:solidFill>
                <a:latin typeface="Courier New"/>
              </a:rPr>
              <a:t>check_backends(KalmanBackend(model), backend)</a:t>
            </a:r>
            <a:r>
              <a:rPr sz="1400" b="0">
                <a:solidFill>
                  <a:srgbClr val="8C968F"/>
                </a:solidFill>
                <a:latin typeface="Courier New"/>
              </a:rPr>
              <a:t>  # paste max |difference| in chat</a:t>
            </a:r>
          </a:p>
          <a:p>
            <a:pPr algn="l">
              <a:lnSpc>
                <a:spcPct val="100000"/>
              </a:lnSpc>
            </a:pPr>
            <a:r>
              <a:rPr sz="1400" b="0">
                <a:solidFill>
                  <a:srgbClr val="F3F0E6"/>
                </a:solidFill>
                <a:latin typeface="Courier New"/>
              </a:rPr>
              <a:t>plot_world(my_world, (0.0, beacon_gain, 0.20))</a:t>
            </a:r>
          </a:p>
        </p:txBody>
      </p:sp>
      <p:sp>
        <p:nvSpPr>
          <p:cNvPr id="5" name="card"/>
          <p:cNvSpPr/>
          <p:nvPr/>
        </p:nvSpPr>
        <p:spPr>
          <a:xfrm>
            <a:off x="548640" y="5669280"/>
            <a:ext cx="3200400" cy="685800"/>
          </a:xfrm>
          <a:prstGeom prst="roundRect">
            <a:avLst>
              <a:gd name="adj" fmla="val 8000"/>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E69F00"/>
                </a:solidFill>
                <a:latin typeface="Calibri"/>
              </a:rPr>
              <a:t>Write the two amber lines</a:t>
            </a:r>
          </a:p>
        </p:txBody>
      </p:sp>
      <p:sp>
        <p:nvSpPr>
          <p:cNvPr id="6" name="card"/>
          <p:cNvSpPr/>
          <p:nvPr/>
        </p:nvSpPr>
        <p:spPr>
          <a:xfrm>
            <a:off x="4023359" y="5669280"/>
            <a:ext cx="3383280" cy="685800"/>
          </a:xfrm>
          <a:prstGeom prst="roundRect">
            <a:avLst>
              <a:gd name="adj" fmla="val 8000"/>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F3F0E6"/>
                </a:solidFill>
                <a:latin typeface="Calibri"/>
              </a:rPr>
              <a:t>Hints come in chat on a timer</a:t>
            </a:r>
          </a:p>
        </p:txBody>
      </p:sp>
      <p:sp>
        <p:nvSpPr>
          <p:cNvPr id="7" name="card"/>
          <p:cNvSpPr/>
          <p:nvPr/>
        </p:nvSpPr>
        <p:spPr>
          <a:xfrm>
            <a:off x="7680959" y="5669280"/>
            <a:ext cx="3962095" cy="685800"/>
          </a:xfrm>
          <a:prstGeom prst="roundRect">
            <a:avLst>
              <a:gd name="adj" fmla="val 8000"/>
            </a:avLst>
          </a:prstGeom>
          <a:solidFill>
            <a:srgbClr val="14261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8C968F"/>
                </a:solidFill>
                <a:latin typeface="Calibri"/>
              </a:rPr>
              <a:t>Paste in chat  </a:t>
            </a:r>
            <a:r>
              <a:rPr sz="1700" b="0">
                <a:solidFill>
                  <a:srgbClr val="F3F0E6"/>
                </a:solidFill>
                <a:latin typeface="Courier New"/>
              </a:rPr>
              <a:t>max |difference|</a:t>
            </a:r>
          </a:p>
        </p:txBody>
      </p:sp>
      <p:sp>
        <p:nvSpPr>
          <p:cNvPr id="8" name="text"/>
          <p:cNvSpPr txBox="1"/>
          <p:nvPr/>
        </p:nvSpPr>
        <p:spPr>
          <a:xfrm>
            <a:off x="548640" y="4193133"/>
            <a:ext cx="11094415" cy="1384706"/>
          </a:xfrm>
          <a:prstGeom prst="rect">
            <a:avLst/>
          </a:prstGeom>
          <a:noFill/>
        </p:spPr>
        <p:txBody>
          <a:bodyPr wrap="square" lIns="0" rIns="0" tIns="0" bIns="0" anchor="t">
            <a:spAutoFit/>
          </a:bodyPr>
          <a:lstStyle/>
          <a:p>
            <a:pPr algn="l">
              <a:lnSpc>
                <a:spcPct val="100000"/>
              </a:lnSpc>
            </a:pPr>
            <a:r>
              <a:rPr sz="1800" b="0">
                <a:solidFill>
                  <a:srgbClr val="8C968F"/>
                </a:solidFill>
                <a:latin typeface="Calibri"/>
              </a:rPr>
              <a:t>There is a rock in the blackout. No rocket models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Stuck? Read the error, then the fix</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task 3</a:t>
            </a:r>
          </a:p>
        </p:txBody>
      </p:sp>
      <p:sp>
        <p:nvSpPr>
          <p:cNvPr id="4" name="text"/>
          <p:cNvSpPr txBox="1"/>
          <p:nvPr/>
        </p:nvSpPr>
        <p:spPr>
          <a:xfrm>
            <a:off x="548640" y="1325880"/>
            <a:ext cx="3657600" cy="320040"/>
          </a:xfrm>
          <a:prstGeom prst="rect">
            <a:avLst/>
          </a:prstGeom>
          <a:noFill/>
        </p:spPr>
        <p:txBody>
          <a:bodyPr wrap="square" lIns="0" rIns="0" tIns="0" bIns="0" anchor="t">
            <a:spAutoFit/>
          </a:bodyPr>
          <a:lstStyle/>
          <a:p>
            <a:pPr algn="l">
              <a:lnSpc>
                <a:spcPct val="100000"/>
              </a:lnSpc>
            </a:pPr>
            <a:r>
              <a:rPr sz="1500" b="0">
                <a:solidFill>
                  <a:srgbClr val="8C968F"/>
                </a:solidFill>
                <a:latin typeface="Calibri"/>
              </a:rPr>
              <a:t>you wrote</a:t>
            </a:r>
          </a:p>
        </p:txBody>
      </p:sp>
      <p:sp>
        <p:nvSpPr>
          <p:cNvPr id="5" name="code"/>
          <p:cNvSpPr/>
          <p:nvPr/>
        </p:nvSpPr>
        <p:spPr>
          <a:xfrm>
            <a:off x="548640" y="1691640"/>
            <a:ext cx="11094415" cy="502920"/>
          </a:xfrm>
          <a:prstGeom prst="roundRect">
            <a:avLst>
              <a:gd name="adj" fmla="val 8000"/>
            </a:avLst>
          </a:prstGeom>
          <a:solidFill>
            <a:srgbClr val="14261F"/>
          </a:solid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pPr>
            <a:r>
              <a:rPr sz="1200" b="0">
                <a:solidFill>
                  <a:srgbClr val="F3F0E6"/>
                </a:solidFill>
                <a:latin typeface="Courier New"/>
              </a:rPr>
              <a:t>LinearGaussianModel(I, observation_noise=sensor, control_matrix=I, dynamics_noise=1e-3 * I, prior=prior)</a:t>
            </a:r>
          </a:p>
        </p:txBody>
      </p:sp>
      <p:sp>
        <p:nvSpPr>
          <p:cNvPr id="6" name="text"/>
          <p:cNvSpPr txBox="1"/>
          <p:nvPr/>
        </p:nvSpPr>
        <p:spPr>
          <a:xfrm>
            <a:off x="548640" y="2377439"/>
            <a:ext cx="3657600" cy="320040"/>
          </a:xfrm>
          <a:prstGeom prst="rect">
            <a:avLst/>
          </a:prstGeom>
          <a:noFill/>
        </p:spPr>
        <p:txBody>
          <a:bodyPr wrap="square" lIns="0" rIns="0" tIns="0" bIns="0" anchor="t">
            <a:spAutoFit/>
          </a:bodyPr>
          <a:lstStyle/>
          <a:p>
            <a:pPr algn="l">
              <a:lnSpc>
                <a:spcPct val="100000"/>
              </a:lnSpc>
            </a:pPr>
            <a:r>
              <a:rPr sz="1500" b="0">
                <a:solidFill>
                  <a:srgbClr val="8C968F"/>
                </a:solidFill>
                <a:latin typeface="Calibri"/>
              </a:rPr>
              <a:t>cpomdp says</a:t>
            </a:r>
          </a:p>
        </p:txBody>
      </p:sp>
      <p:sp>
        <p:nvSpPr>
          <p:cNvPr id="7" name="printed"/>
          <p:cNvSpPr/>
          <p:nvPr/>
        </p:nvSpPr>
        <p:spPr>
          <a:xfrm>
            <a:off x="548640" y="2743199"/>
            <a:ext cx="11094415" cy="731520"/>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200" b="0">
                <a:solidFill>
                  <a:srgbClr val="F3F0E6"/>
                </a:solidFill>
                <a:latin typeface="Courier New"/>
              </a:rPr>
              <a:t>TypeError: observation_noise takes a matrix, got CallableSensor, an ObservationModel. Pass it as observation_model.</a:t>
            </a:r>
          </a:p>
        </p:txBody>
      </p:sp>
      <p:sp>
        <p:nvSpPr>
          <p:cNvPr id="8" name="text"/>
          <p:cNvSpPr txBox="1"/>
          <p:nvPr/>
        </p:nvSpPr>
        <p:spPr>
          <a:xfrm>
            <a:off x="548640" y="3657599"/>
            <a:ext cx="3657600" cy="320040"/>
          </a:xfrm>
          <a:prstGeom prst="rect">
            <a:avLst/>
          </a:prstGeom>
          <a:noFill/>
        </p:spPr>
        <p:txBody>
          <a:bodyPr wrap="square" lIns="0" rIns="0" tIns="0" bIns="0" anchor="t">
            <a:spAutoFit/>
          </a:bodyPr>
          <a:lstStyle/>
          <a:p>
            <a:pPr algn="l">
              <a:lnSpc>
                <a:spcPct val="100000"/>
              </a:lnSpc>
            </a:pPr>
            <a:r>
              <a:rPr sz="1500" b="0">
                <a:solidFill>
                  <a:srgbClr val="8C968F"/>
                </a:solidFill>
                <a:latin typeface="Calibri"/>
              </a:rPr>
              <a:t>write</a:t>
            </a:r>
          </a:p>
        </p:txBody>
      </p:sp>
      <p:sp>
        <p:nvSpPr>
          <p:cNvPr id="9" name="code"/>
          <p:cNvSpPr/>
          <p:nvPr/>
        </p:nvSpPr>
        <p:spPr>
          <a:xfrm>
            <a:off x="548640" y="4023359"/>
            <a:ext cx="11094415" cy="502920"/>
          </a:xfrm>
          <a:prstGeom prst="roundRect">
            <a:avLst>
              <a:gd name="adj" fmla="val 8000"/>
            </a:avLst>
          </a:prstGeom>
          <a:solidFill>
            <a:srgbClr val="14261F"/>
          </a:solid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pPr>
            <a:r>
              <a:rPr sz="1200" b="0">
                <a:solidFill>
                  <a:srgbClr val="F3F0E6"/>
                </a:solidFill>
                <a:latin typeface="Courier New"/>
              </a:rPr>
              <a:t>LinearGaussianModel(I, observation_model=sensor, control_matrix=I, dynamics_noise=1e-3 * I, prior=prior)</a:t>
            </a:r>
          </a:p>
        </p:txBody>
      </p:sp>
      <p:sp>
        <p:nvSpPr>
          <p:cNvPr id="10" name="text"/>
          <p:cNvSpPr txBox="1"/>
          <p:nvPr/>
        </p:nvSpPr>
        <p:spPr>
          <a:xfrm>
            <a:off x="548640" y="4800599"/>
            <a:ext cx="4754880" cy="457200"/>
          </a:xfrm>
          <a:prstGeom prst="rect">
            <a:avLst/>
          </a:prstGeom>
          <a:noFill/>
        </p:spPr>
        <p:txBody>
          <a:bodyPr wrap="square" lIns="0" rIns="0" tIns="0" bIns="0" anchor="t">
            <a:spAutoFit/>
          </a:bodyPr>
          <a:lstStyle/>
          <a:p>
            <a:pPr algn="l">
              <a:lnSpc>
                <a:spcPct val="100000"/>
              </a:lnSpc>
            </a:pPr>
            <a:r>
              <a:rPr sz="1800" b="1">
                <a:solidFill>
                  <a:srgbClr val="F3F0E6"/>
                </a:solidFill>
                <a:latin typeface="Calibri"/>
              </a:rPr>
              <a:t>All five, each with its fix</a:t>
            </a:r>
          </a:p>
        </p:txBody>
      </p:sp>
      <p:sp>
        <p:nvSpPr>
          <p:cNvPr id="11" name="code"/>
          <p:cNvSpPr/>
          <p:nvPr/>
        </p:nvSpPr>
        <p:spPr>
          <a:xfrm>
            <a:off x="5394960" y="4754879"/>
            <a:ext cx="3291840" cy="502920"/>
          </a:xfrm>
          <a:prstGeom prst="roundRect">
            <a:avLst>
              <a:gd name="adj" fmla="val 8000"/>
            </a:avLst>
          </a:prstGeom>
          <a:solidFill>
            <a:srgbClr val="14261F"/>
          </a:solid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pPr>
            <a:r>
              <a:rPr sz="1400" b="0">
                <a:solidFill>
                  <a:srgbClr val="F3F0E6"/>
                </a:solidFill>
                <a:latin typeface="Courier New"/>
              </a:rPr>
              <a:t>workshop.symptoms()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The blackout, before the rock</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task 3</a:t>
            </a:r>
          </a:p>
        </p:txBody>
      </p:sp>
      <p:pic>
        <p:nvPicPr>
          <p:cNvPr id="4" name="picture route_3_blackout.png" descr="route_3_blackout.png"/>
          <p:cNvPicPr>
            <a:picLocks noChangeAspect="1"/>
          </p:cNvPicPr>
          <p:nvPr/>
        </p:nvPicPr>
        <p:blipFill>
          <a:blip r:embed="rId2"/>
          <a:stretch>
            <a:fillRect/>
          </a:stretch>
        </p:blipFill>
        <p:spPr>
          <a:xfrm>
            <a:off x="548640" y="1280160"/>
            <a:ext cx="7680960" cy="4071706"/>
          </a:xfrm>
          <a:prstGeom prst="rect">
            <a:avLst/>
          </a:prstGeom>
        </p:spPr>
      </p:pic>
      <p:sp>
        <p:nvSpPr>
          <p:cNvPr id="5" name="text"/>
          <p:cNvSpPr txBox="1"/>
          <p:nvPr/>
        </p:nvSpPr>
        <p:spPr>
          <a:xfrm>
            <a:off x="548640" y="5532120"/>
            <a:ext cx="7680960" cy="777240"/>
          </a:xfrm>
          <a:prstGeom prst="rect">
            <a:avLst/>
          </a:prstGeom>
          <a:noFill/>
        </p:spPr>
        <p:txBody>
          <a:bodyPr wrap="square" lIns="0" rIns="0" tIns="0" bIns="0" anchor="t">
            <a:spAutoFit/>
          </a:bodyPr>
          <a:lstStyle/>
          <a:p>
            <a:pPr algn="l">
              <a:lnSpc>
                <a:spcPct val="100000"/>
              </a:lnSpc>
            </a:pPr>
            <a:r>
              <a:rPr sz="1500" b="0">
                <a:solidFill>
                  <a:srgbClr val="8C968F"/>
                </a:solidFill>
                <a:latin typeface="Calibri"/>
              </a:rPr>
              <a:t>Seed 3. No rock yet.</a:t>
            </a:r>
          </a:p>
        </p:txBody>
      </p:sp>
      <p:sp>
        <p:nvSpPr>
          <p:cNvPr id="6" name="text"/>
          <p:cNvSpPr txBox="1"/>
          <p:nvPr/>
        </p:nvSpPr>
        <p:spPr>
          <a:xfrm>
            <a:off x="8503920" y="1325880"/>
            <a:ext cx="3139135" cy="4572000"/>
          </a:xfrm>
          <a:prstGeom prst="rect">
            <a:avLst/>
          </a:prstGeom>
          <a:noFill/>
        </p:spPr>
        <p:txBody>
          <a:bodyPr wrap="square" lIns="0" rIns="0" tIns="0" bIns="0" anchor="t">
            <a:spAutoFit/>
          </a:bodyPr>
          <a:lstStyle/>
          <a:p>
            <a:pPr algn="l">
              <a:lnSpc>
                <a:spcPct val="100000"/>
              </a:lnSpc>
              <a:spcAft>
                <a:spcPts val="1800"/>
              </a:spcAft>
            </a:pPr>
            <a:r>
              <a:rPr sz="2000" b="0">
                <a:solidFill>
                  <a:srgbClr val="F3F0E6"/>
                </a:solidFill>
                <a:latin typeface="Calibri"/>
              </a:rPr>
              <a:t>Near the blackout's centre the reading is swamped.</a:t>
            </a:r>
          </a:p>
          <a:p>
            <a:pPr algn="l">
              <a:lnSpc>
                <a:spcPct val="100000"/>
              </a:lnSpc>
              <a:spcAft>
                <a:spcPts val="1800"/>
              </a:spcAft>
            </a:pPr>
            <a:r>
              <a:rPr sz="2000" b="0">
                <a:solidFill>
                  <a:srgbClr val="F3F0E6"/>
                </a:solidFill>
                <a:latin typeface="Calibri"/>
              </a:rPr>
              <a:t>The 1960 rocket flies straight through. Its model has one noise level.</a:t>
            </a:r>
          </a:p>
          <a:p>
            <a:pPr algn="l">
              <a:lnSpc>
                <a:spcPct val="100000"/>
              </a:lnSpc>
            </a:pPr>
            <a:r>
              <a:rPr sz="2000" b="0">
                <a:solidFill>
                  <a:srgbClr val="F3F0E6"/>
                </a:solidFill>
                <a:latin typeface="Calibri"/>
              </a:rPr>
              <a:t>The curious rockets swing wide.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The 1960 rocket hits the rock</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task 3</a:t>
            </a:r>
          </a:p>
        </p:txBody>
      </p:sp>
      <p:pic>
        <p:nvPicPr>
          <p:cNvPr id="4" name="picture route_4_rock.png" descr="route_4_rock.png"/>
          <p:cNvPicPr>
            <a:picLocks noChangeAspect="1"/>
          </p:cNvPicPr>
          <p:nvPr/>
        </p:nvPicPr>
        <p:blipFill>
          <a:blip r:embed="rId2"/>
          <a:stretch>
            <a:fillRect/>
          </a:stretch>
        </p:blipFill>
        <p:spPr>
          <a:xfrm>
            <a:off x="548640" y="1280160"/>
            <a:ext cx="7680960" cy="4071706"/>
          </a:xfrm>
          <a:prstGeom prst="rect">
            <a:avLst/>
          </a:prstGeom>
        </p:spPr>
      </p:pic>
      <p:sp>
        <p:nvSpPr>
          <p:cNvPr id="5" name="text"/>
          <p:cNvSpPr txBox="1"/>
          <p:nvPr/>
        </p:nvSpPr>
        <p:spPr>
          <a:xfrm>
            <a:off x="548640" y="5532120"/>
            <a:ext cx="7680960" cy="777240"/>
          </a:xfrm>
          <a:prstGeom prst="rect">
            <a:avLst/>
          </a:prstGeom>
          <a:noFill/>
        </p:spPr>
        <p:txBody>
          <a:bodyPr wrap="square" lIns="0" rIns="0" tIns="0" bIns="0" anchor="t">
            <a:spAutoFit/>
          </a:bodyPr>
          <a:lstStyle/>
          <a:p>
            <a:pPr algn="l">
              <a:lnSpc>
                <a:spcPct val="100000"/>
              </a:lnSpc>
            </a:pPr>
            <a:r>
              <a:rPr sz="1500" b="0">
                <a:solidFill>
                  <a:srgbClr val="8C968F"/>
                </a:solidFill>
                <a:latin typeface="Calibri"/>
              </a:rPr>
              <a:t>Seed 3. Both curious rockets clear the rock. The 1960 rocket hits it on every seed from 0 to 9.</a:t>
            </a:r>
          </a:p>
        </p:txBody>
      </p:sp>
      <p:sp>
        <p:nvSpPr>
          <p:cNvPr id="6" name="card"/>
          <p:cNvSpPr/>
          <p:nvPr/>
        </p:nvSpPr>
        <p:spPr>
          <a:xfrm>
            <a:off x="8503920" y="1325880"/>
            <a:ext cx="3139135" cy="2697480"/>
          </a:xfrm>
          <a:prstGeom prst="roundRect">
            <a:avLst>
              <a:gd name="adj" fmla="val 4067"/>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600"/>
              </a:spcAft>
            </a:pPr>
            <a:r>
              <a:rPr sz="1700" b="0">
                <a:solidFill>
                  <a:srgbClr val="8C968F"/>
                </a:solidFill>
                <a:latin typeface="Calibri"/>
              </a:rPr>
              <a:t>1960 rocket</a:t>
            </a:r>
          </a:p>
          <a:p>
            <a:pPr algn="l">
              <a:lnSpc>
                <a:spcPct val="100000"/>
              </a:lnSpc>
              <a:spcAft>
                <a:spcPts val="600"/>
              </a:spcAft>
            </a:pPr>
            <a:r>
              <a:rPr sz="5400" b="1">
                <a:solidFill>
                  <a:srgbClr val="F3F0E6"/>
                </a:solidFill>
                <a:latin typeface="Calibri"/>
              </a:rPr>
              <a:t>step 6</a:t>
            </a:r>
          </a:p>
          <a:p>
            <a:pPr algn="l">
              <a:lnSpc>
                <a:spcPct val="100000"/>
              </a:lnSpc>
            </a:pPr>
            <a:r>
              <a:rPr sz="1700" b="0">
                <a:solidFill>
                  <a:srgbClr val="F3F0E6"/>
                </a:solidFill>
                <a:latin typeface="Calibri"/>
              </a:rPr>
              <a:t>No rocket models the rock.</a:t>
            </a:r>
          </a:p>
        </p:txBody>
      </p:sp>
      <p:sp>
        <p:nvSpPr>
          <p:cNvPr id="7" name="card"/>
          <p:cNvSpPr/>
          <p:nvPr/>
        </p:nvSpPr>
        <p:spPr>
          <a:xfrm>
            <a:off x="8503920" y="4251960"/>
            <a:ext cx="3139135" cy="960120"/>
          </a:xfrm>
          <a:prstGeom prst="roundRect">
            <a:avLst>
              <a:gd name="adj" fmla="val 8000"/>
            </a:avLst>
          </a:prstGeom>
          <a:solidFill>
            <a:srgbClr val="14261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200"/>
              </a:spcAft>
            </a:pPr>
            <a:r>
              <a:rPr sz="1700" b="0">
                <a:solidFill>
                  <a:srgbClr val="8C968F"/>
                </a:solidFill>
                <a:latin typeface="Calibri"/>
              </a:rPr>
              <a:t>Paste in chat</a:t>
            </a:r>
          </a:p>
          <a:p>
            <a:pPr algn="l">
              <a:lnSpc>
                <a:spcPct val="100000"/>
              </a:lnSpc>
            </a:pPr>
            <a:r>
              <a:rPr sz="1700" b="0">
                <a:solidFill>
                  <a:srgbClr val="F3F0E6"/>
                </a:solidFill>
                <a:latin typeface="Courier New"/>
              </a:rPr>
              <a:t>max |difference|</a:t>
            </a:r>
          </a:p>
        </p:txBody>
      </p:sp>
      <p:sp>
        <p:nvSpPr>
          <p:cNvPr id="8" name="pill"/>
          <p:cNvSpPr/>
          <p:nvPr/>
        </p:nvSpPr>
        <p:spPr>
          <a:xfrm>
            <a:off x="8503920" y="5468112"/>
            <a:ext cx="3139135" cy="502920"/>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600" b="0">
                <a:solidFill>
                  <a:srgbClr val="E69F00"/>
                </a:solidFill>
                <a:latin typeface="Calibri"/>
              </a:rPr>
              <a:t>Poll 3 · 60 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What steers the route</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task 3</a:t>
            </a:r>
          </a:p>
        </p:txBody>
      </p:sp>
      <p:sp>
        <p:nvSpPr>
          <p:cNvPr id="4" name="card"/>
          <p:cNvSpPr/>
          <p:nvPr/>
        </p:nvSpPr>
        <p:spPr>
          <a:xfrm>
            <a:off x="548640" y="1325880"/>
            <a:ext cx="11094415" cy="1645920"/>
          </a:xfrm>
          <a:prstGeom prst="roundRect">
            <a:avLst>
              <a:gd name="adj" fmla="val 6666"/>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600"/>
              </a:spcAft>
            </a:pPr>
            <a:r>
              <a:rPr sz="2000" b="0">
                <a:solidFill>
                  <a:srgbClr val="8C968F"/>
                </a:solidFill>
                <a:latin typeface="Calibri"/>
              </a:rPr>
              <a:t>the expected miss from “on the pad”</a:t>
            </a:r>
          </a:p>
          <a:p>
            <a:pPr algn="l">
              <a:lnSpc>
                <a:spcPct val="100000"/>
              </a:lnSpc>
              <a:spcAft>
                <a:spcPts val="600"/>
              </a:spcAft>
            </a:pPr>
            <a:r>
              <a:rPr sz="2400" b="0">
                <a:solidFill>
                  <a:srgbClr val="F3F0E6"/>
                </a:solidFill>
                <a:latin typeface="Cambria"/>
              </a:rPr>
              <a:t>½ (o⁺ − o*)ᵀ Λ (o⁺ − o*)  +  ½ tr(Λ S)</a:t>
            </a:r>
          </a:p>
          <a:p>
            <a:pPr algn="l">
              <a:lnSpc>
                <a:spcPct val="100000"/>
              </a:lnSpc>
            </a:pPr>
            <a:r>
              <a:rPr sz="2000" b="0">
                <a:solidFill>
                  <a:srgbClr val="F3F0E6"/>
                </a:solidFill>
                <a:latin typeface="Cambria"/>
              </a:rPr>
              <a:t>S = C Σ⁺ Cᵀ + </a:t>
            </a:r>
            <a:r>
              <a:rPr sz="2000" b="1">
                <a:solidFill>
                  <a:srgbClr val="E69F00"/>
                </a:solidFill>
                <a:latin typeface="Cambria"/>
              </a:rPr>
              <a:t>R(μ⁺)</a:t>
            </a:r>
            <a:r>
              <a:rPr sz="1700" b="0">
                <a:solidFill>
                  <a:srgbClr val="8C968F"/>
                </a:solidFill>
                <a:latin typeface="Calibri"/>
              </a:rPr>
              <a:t>    the reading's own noise, where the move is expected to land</a:t>
            </a:r>
          </a:p>
        </p:txBody>
      </p:sp>
      <p:sp>
        <p:nvSpPr>
          <p:cNvPr id="5" name="text"/>
          <p:cNvSpPr txBox="1"/>
          <p:nvPr/>
        </p:nvSpPr>
        <p:spPr>
          <a:xfrm>
            <a:off x="548640" y="3246120"/>
            <a:ext cx="11094415" cy="2103120"/>
          </a:xfrm>
          <a:prstGeom prst="rect">
            <a:avLst/>
          </a:prstGeom>
          <a:noFill/>
        </p:spPr>
        <p:txBody>
          <a:bodyPr wrap="square" lIns="0" rIns="0" tIns="0" bIns="0" anchor="t">
            <a:spAutoFit/>
          </a:bodyPr>
          <a:lstStyle/>
          <a:p>
            <a:pPr algn="l">
              <a:lnSpc>
                <a:spcPct val="100000"/>
              </a:lnSpc>
              <a:spcAft>
                <a:spcPts val="1200"/>
              </a:spcAft>
            </a:pPr>
            <a:r>
              <a:rPr sz="1900" b="0">
                <a:solidFill>
                  <a:srgbClr val="F3F0E6"/>
                </a:solidFill>
                <a:latin typeface="Calibri"/>
              </a:rPr>
              <a:t>Each step the rocket scores the nine moves. The score's first term is how far its reading is expected to land from “on the pad”.</a:t>
            </a:r>
          </a:p>
          <a:p>
            <a:pPr algn="l">
              <a:lnSpc>
                <a:spcPct val="100000"/>
              </a:lnSpc>
              <a:spcAft>
                <a:spcPts val="1200"/>
              </a:spcAft>
            </a:pPr>
            <a:r>
              <a:rPr sz="1900" b="0">
                <a:solidFill>
                  <a:srgbClr val="F3F0E6"/>
                </a:solidFill>
                <a:latin typeface="Calibri"/>
              </a:rPr>
              <a:t>That expectation carries the reading's own noise. Where the reading is noisy, it lands far from the pad on average. So moves into the blackout score badly.</a:t>
            </a:r>
          </a:p>
          <a:p>
            <a:pPr algn="l">
              <a:lnSpc>
                <a:spcPct val="100000"/>
              </a:lnSpc>
            </a:pPr>
            <a:r>
              <a:rPr sz="1900" b="0">
                <a:solidFill>
                  <a:srgbClr val="F3F0E6"/>
                </a:solidFill>
                <a:latin typeface="Calibri"/>
              </a:rPr>
              <a:t>It takes a sensor whose noise depends on position. The 1960 rocket's never does.</a:t>
            </a:r>
          </a:p>
        </p:txBody>
      </p:sp>
      <p:sp>
        <p:nvSpPr>
          <p:cNvPr id="6" name="text"/>
          <p:cNvSpPr txBox="1"/>
          <p:nvPr/>
        </p:nvSpPr>
        <p:spPr>
          <a:xfrm>
            <a:off x="548640" y="5532120"/>
            <a:ext cx="11094415" cy="685800"/>
          </a:xfrm>
          <a:prstGeom prst="rect">
            <a:avLst/>
          </a:prstGeom>
          <a:noFill/>
        </p:spPr>
        <p:txBody>
          <a:bodyPr wrap="square" lIns="0" rIns="0" tIns="0" bIns="0" anchor="t">
            <a:spAutoFit/>
          </a:bodyPr>
          <a:lstStyle/>
          <a:p>
            <a:pPr algn="l">
              <a:lnSpc>
                <a:spcPct val="100000"/>
              </a:lnSpc>
            </a:pPr>
            <a:r>
              <a:rPr sz="1700" b="0">
                <a:solidFill>
                  <a:srgbClr val="8C968F"/>
                </a:solidFill>
                <a:latin typeface="Calibri"/>
              </a:rPr>
              <a:t>Seed 3: put the same rock in clear sky on their arc and both curious rockets hit it on step 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One rocket, three engines</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backends</a:t>
            </a:r>
          </a:p>
        </p:txBody>
      </p:sp>
      <p:sp>
        <p:nvSpPr>
          <p:cNvPr id="4" name="code"/>
          <p:cNvSpPr/>
          <p:nvPr/>
        </p:nvSpPr>
        <p:spPr>
          <a:xfrm>
            <a:off x="548640" y="1325880"/>
            <a:ext cx="8138160" cy="1950529"/>
          </a:xfrm>
          <a:prstGeom prst="roundRect">
            <a:avLst>
              <a:gd name="adj" fmla="val 5625"/>
            </a:avLst>
          </a:prstGeom>
          <a:solidFill>
            <a:srgbClr val="14261F"/>
          </a:solid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300" b="0">
                <a:solidFill>
                  <a:srgbClr val="F3F0E6"/>
                </a:solidFill>
                <a:latin typeface="Courier New"/>
              </a:rPr>
              <a:t>sensor = FixedSensor(jnp.eye(2), observation_noise=0.05 * jnp.eye(2))</a:t>
            </a:r>
          </a:p>
          <a:p>
            <a:pPr algn="l">
              <a:lnSpc>
                <a:spcPct val="100000"/>
              </a:lnSpc>
              <a:spcAft>
                <a:spcPts val="0"/>
              </a:spcAft>
            </a:pPr>
            <a:r>
              <a:rPr sz="1300" b="0">
                <a:solidFill>
                  <a:srgbClr val="F3F0E6"/>
                </a:solidFill>
                <a:latin typeface="Courier New"/>
              </a:rPr>
              <a:t>graph = CouplingGraph(dims=[2], couplings=[], observation_models={0: sensor})</a:t>
            </a:r>
          </a:p>
          <a:p>
            <a:pPr algn="l">
              <a:lnSpc>
                <a:spcPct val="100000"/>
              </a:lnSpc>
              <a:spcAft>
                <a:spcPts val="0"/>
              </a:spcAft>
            </a:pPr>
            <a:r>
              <a:rPr sz="1300" b="0">
                <a:solidFill>
                  <a:srgbClr val="F3F0E6"/>
                </a:solidFill>
                <a:latin typeface="Courier New"/>
              </a:rPr>
              <a:t>backend = CouplingGraphBackend(</a:t>
            </a:r>
          </a:p>
          <a:p>
            <a:pPr algn="l">
              <a:lnSpc>
                <a:spcPct val="100000"/>
              </a:lnSpc>
              <a:spcAft>
                <a:spcPts val="0"/>
              </a:spcAft>
            </a:pPr>
            <a:r>
              <a:rPr sz="1300" b="0">
                <a:solidFill>
                  <a:srgbClr val="F3F0E6"/>
                </a:solidFill>
                <a:latin typeface="Courier New"/>
              </a:rPr>
              <a:t>    graph,</a:t>
            </a:r>
          </a:p>
          <a:p>
            <a:pPr algn="l">
              <a:lnSpc>
                <a:spcPct val="100000"/>
              </a:lnSpc>
              <a:spcAft>
                <a:spcPts val="0"/>
              </a:spcAft>
            </a:pPr>
            <a:r>
              <a:rPr sz="1300" b="0">
                <a:solidFill>
                  <a:srgbClr val="F3F0E6"/>
                </a:solidFill>
                <a:latin typeface="Courier New"/>
              </a:rPr>
              <a:t>    [GaussianTransition(jnp.eye(2), dynamics_noise=1e-3 * jnp.eye(2))],</a:t>
            </a:r>
          </a:p>
          <a:p>
            <a:pPr algn="l">
              <a:lnSpc>
                <a:spcPct val="100000"/>
              </a:lnSpc>
              <a:spcAft>
                <a:spcPts val="0"/>
              </a:spcAft>
            </a:pPr>
            <a:r>
              <a:rPr sz="1300" b="0">
                <a:solidFill>
                  <a:srgbClr val="F3F0E6"/>
                </a:solidFill>
                <a:latin typeface="Courier New"/>
              </a:rPr>
              <a:t>    prior=Belief(mean=LAUNCH, cov=4 * jnp.eye(2)),</a:t>
            </a:r>
          </a:p>
          <a:p>
            <a:pPr algn="l">
              <a:lnSpc>
                <a:spcPct val="100000"/>
              </a:lnSpc>
              <a:spcAft>
                <a:spcPts val="0"/>
              </a:spcAft>
            </a:pPr>
            <a:r>
              <a:rPr sz="1300" b="0">
                <a:solidFill>
                  <a:srgbClr val="F3F0E6"/>
                </a:solidFill>
                <a:latin typeface="Courier New"/>
              </a:rPr>
              <a:t>    control_matrix=jnp.eye(2),</a:t>
            </a:r>
          </a:p>
          <a:p>
            <a:pPr algn="l">
              <a:lnSpc>
                <a:spcPct val="100000"/>
              </a:lnSpc>
              <a:spcAft>
                <a:spcPts val="0"/>
              </a:spcAft>
            </a:pPr>
            <a:r>
              <a:rPr sz="1300" b="0">
                <a:solidFill>
                  <a:srgbClr val="F3F0E6"/>
                </a:solidFill>
                <a:latin typeface="Courier New"/>
              </a:rPr>
              <a:t>)</a:t>
            </a:r>
          </a:p>
          <a:p>
            <a:pPr algn="l">
              <a:lnSpc>
                <a:spcPct val="100000"/>
              </a:lnSpc>
            </a:pPr>
            <a:r>
              <a:rPr sz="1300" b="0">
                <a:solidFill>
                  <a:srgbClr val="F3F0E6"/>
                </a:solidFill>
                <a:latin typeface="Courier New"/>
              </a:rPr>
              <a:t>rocket = Agent.from_backend(backend, goal)</a:t>
            </a:r>
          </a:p>
        </p:txBody>
      </p:sp>
      <p:sp>
        <p:nvSpPr>
          <p:cNvPr id="5" name="text"/>
          <p:cNvSpPr txBox="1"/>
          <p:nvPr/>
        </p:nvSpPr>
        <p:spPr>
          <a:xfrm>
            <a:off x="8961120" y="1325880"/>
            <a:ext cx="2681935" cy="3154680"/>
          </a:xfrm>
          <a:prstGeom prst="rect">
            <a:avLst/>
          </a:prstGeom>
          <a:noFill/>
        </p:spPr>
        <p:txBody>
          <a:bodyPr wrap="square" lIns="0" rIns="0" tIns="0" bIns="0" anchor="t">
            <a:spAutoFit/>
          </a:bodyPr>
          <a:lstStyle/>
          <a:p>
            <a:pPr algn="l">
              <a:lnSpc>
                <a:spcPct val="100000"/>
              </a:lnSpc>
              <a:spcAft>
                <a:spcPts val="600"/>
              </a:spcAft>
            </a:pPr>
            <a:r>
              <a:rPr sz="1600" b="0">
                <a:solidFill>
                  <a:srgbClr val="F3F0E6"/>
                </a:solidFill>
                <a:latin typeface="Courier New"/>
              </a:rPr>
              <a:t>KalmanBackend</a:t>
            </a:r>
          </a:p>
          <a:p>
            <a:pPr algn="l">
              <a:lnSpc>
                <a:spcPct val="100000"/>
              </a:lnSpc>
              <a:spcAft>
                <a:spcPts val="600"/>
              </a:spcAft>
            </a:pPr>
            <a:r>
              <a:rPr sz="1600" b="0">
                <a:solidFill>
                  <a:srgbClr val="8C968F"/>
                </a:solidFill>
                <a:latin typeface="Calibri"/>
              </a:rPr>
              <a:t>the filter</a:t>
            </a:r>
          </a:p>
          <a:p>
            <a:pPr algn="l">
              <a:lnSpc>
                <a:spcPct val="100000"/>
              </a:lnSpc>
              <a:spcAft>
                <a:spcPts val="600"/>
              </a:spcAft>
            </a:pPr>
            <a:r>
              <a:rPr sz="1600" b="0">
                <a:solidFill>
                  <a:srgbClr val="F3F0E6"/>
                </a:solidFill>
                <a:latin typeface="Courier New"/>
              </a:rPr>
              <a:t>CouplingGraphBackend</a:t>
            </a:r>
          </a:p>
          <a:p>
            <a:pPr algn="l">
              <a:lnSpc>
                <a:spcPct val="100000"/>
              </a:lnSpc>
              <a:spcAft>
                <a:spcPts val="600"/>
              </a:spcAft>
            </a:pPr>
            <a:r>
              <a:rPr sz="1600" b="0">
                <a:solidFill>
                  <a:srgbClr val="8C968F"/>
                </a:solidFill>
                <a:latin typeface="Calibri"/>
              </a:rPr>
              <a:t>the same model as a graph of one node</a:t>
            </a:r>
          </a:p>
          <a:p>
            <a:pPr algn="l">
              <a:lnSpc>
                <a:spcPct val="100000"/>
              </a:lnSpc>
              <a:spcAft>
                <a:spcPts val="600"/>
              </a:spcAft>
            </a:pPr>
            <a:r>
              <a:rPr sz="1600" b="0">
                <a:solidFill>
                  <a:srgbClr val="F3F0E6"/>
                </a:solidFill>
                <a:latin typeface="Courier New"/>
              </a:rPr>
              <a:t>RxInferBackend</a:t>
            </a:r>
          </a:p>
          <a:p>
            <a:pPr algn="l">
              <a:lnSpc>
                <a:spcPct val="100000"/>
              </a:lnSpc>
            </a:pPr>
            <a:r>
              <a:rPr sz="1600" b="0">
                <a:solidFill>
                  <a:srgbClr val="8C968F"/>
                </a:solidFill>
                <a:latin typeface="Calibri"/>
              </a:rPr>
              <a:t>the fixed-noise case only</a:t>
            </a:r>
          </a:p>
        </p:txBody>
      </p:sp>
      <p:sp>
        <p:nvSpPr>
          <p:cNvPr id="6" name="printed"/>
          <p:cNvSpPr/>
          <p:nvPr/>
        </p:nvSpPr>
        <p:spPr>
          <a:xfrm>
            <a:off x="548640" y="4754880"/>
            <a:ext cx="11094415" cy="685800"/>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none" lIns="164592" rIns="164592" tIns="115214" bIns="115214"/>
          <a:lstStyle/>
          <a:p>
            <a:pPr algn="l">
              <a:lnSpc>
                <a:spcPct val="100000"/>
              </a:lnSpc>
              <a:spcAft>
                <a:spcPts val="0"/>
              </a:spcAft>
            </a:pPr>
            <a:r>
              <a:rPr sz="1200" b="0">
                <a:solidFill>
                  <a:srgbClr val="F3F0E6"/>
                </a:solidFill>
                <a:latin typeface="Courier New"/>
              </a:rPr>
              <a:t>KalmanBackend          mean (4.844446, 0.098086)   cov diagonal (0.006589, 0.006589)</a:t>
            </a:r>
          </a:p>
          <a:p>
            <a:pPr algn="l">
              <a:lnSpc>
                <a:spcPct val="100000"/>
              </a:lnSpc>
            </a:pPr>
            <a:r>
              <a:rPr sz="1200" b="0">
                <a:solidFill>
                  <a:srgbClr val="F3F0E6"/>
                </a:solidFill>
                <a:latin typeface="Courier New"/>
              </a:rPr>
              <a:t>CouplingGraphBackend   mean (4.844446, 0.098086)   cov diagonal (0.006589, 0.006589)</a:t>
            </a:r>
          </a:p>
        </p:txBody>
      </p:sp>
      <p:sp>
        <p:nvSpPr>
          <p:cNvPr id="7" name="text"/>
          <p:cNvSpPr txBox="1"/>
          <p:nvPr/>
        </p:nvSpPr>
        <p:spPr>
          <a:xfrm>
            <a:off x="548640" y="5669280"/>
            <a:ext cx="11094415" cy="685800"/>
          </a:xfrm>
          <a:prstGeom prst="rect">
            <a:avLst/>
          </a:prstGeom>
          <a:noFill/>
        </p:spPr>
        <p:txBody>
          <a:bodyPr wrap="square" lIns="0" rIns="0" tIns="0" bIns="0" anchor="t">
            <a:spAutoFit/>
          </a:bodyPr>
          <a:lstStyle/>
          <a:p>
            <a:pPr algn="l">
              <a:lnSpc>
                <a:spcPct val="100000"/>
              </a:lnSpc>
            </a:pPr>
            <a:r>
              <a:rPr sz="1700" b="0">
                <a:solidFill>
                  <a:srgbClr val="8C968F"/>
                </a:solidFill>
                <a:latin typeface="Calibri"/>
              </a:rPr>
              <a:t>The two agree below 1e-9. RxInfer covers the fixed-noise case and refuses the curious model before Julia starts.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What a printed number entitles you to say</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coda</a:t>
            </a:r>
          </a:p>
        </p:txBody>
      </p:sp>
      <p:sp>
        <p:nvSpPr>
          <p:cNvPr id="4" name="code"/>
          <p:cNvSpPr/>
          <p:nvPr/>
        </p:nvSpPr>
        <p:spPr>
          <a:xfrm>
            <a:off x="548640" y="1325880"/>
            <a:ext cx="11094415" cy="1418132"/>
          </a:xfrm>
          <a:prstGeom prst="roundRect">
            <a:avLst>
              <a:gd name="adj" fmla="val 7737"/>
            </a:avLst>
          </a:prstGeom>
          <a:solidFill>
            <a:srgbClr val="14261F"/>
          </a:solid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600" b="0">
                <a:solidFill>
                  <a:srgbClr val="F3F0E6"/>
                </a:solidFill>
                <a:latin typeface="Courier New"/>
              </a:rPr>
              <a:t>import cpomdp_workshop as workshop</a:t>
            </a:r>
          </a:p>
          <a:p>
            <a:pPr algn="l">
              <a:lnSpc>
                <a:spcPct val="100000"/>
              </a:lnSpc>
              <a:spcAft>
                <a:spcPts val="0"/>
              </a:spcAft>
            </a:pPr>
            <a:r>
              <a:rPr sz="1600" b="0">
                <a:solidFill>
                  <a:srgbClr val="F3F0E6"/>
                </a:solidFill>
                <a:latin typeface="Courier New"/>
              </a:rPr>
              <a:t> </a:t>
            </a:r>
          </a:p>
          <a:p>
            <a:pPr algn="l">
              <a:lnSpc>
                <a:spcPct val="100000"/>
              </a:lnSpc>
              <a:spcAft>
                <a:spcPts val="0"/>
              </a:spcAft>
            </a:pPr>
            <a:r>
              <a:rPr sz="1600" b="0">
                <a:solidFill>
                  <a:srgbClr val="F3F0E6"/>
                </a:solidFill>
                <a:latin typeface="Courier New"/>
              </a:rPr>
              <a:t>print(curious.selector.certificate)</a:t>
            </a:r>
          </a:p>
          <a:p>
            <a:pPr algn="l">
              <a:lnSpc>
                <a:spcPct val="100000"/>
              </a:lnSpc>
              <a:spcAft>
                <a:spcPts val="0"/>
              </a:spcAft>
            </a:pPr>
            <a:r>
              <a:rPr sz="1600" b="0">
                <a:solidFill>
                  <a:srgbClr val="F3F0E6"/>
                </a:solidFill>
                <a:latin typeface="Courier New"/>
              </a:rPr>
              <a:t>print(workshop.axis_certificate())</a:t>
            </a:r>
          </a:p>
          <a:p>
            <a:pPr algn="l">
              <a:lnSpc>
                <a:spcPct val="100000"/>
              </a:lnSpc>
            </a:pPr>
            <a:r>
              <a:rPr sz="1600" b="0">
                <a:solidFill>
                  <a:srgbClr val="F3F0E6"/>
                </a:solidFill>
                <a:latin typeface="Courier New"/>
              </a:rPr>
              <a:t>print(workshop.rxinfer_refusal(curious_model))</a:t>
            </a:r>
          </a:p>
        </p:txBody>
      </p:sp>
      <p:sp>
        <p:nvSpPr>
          <p:cNvPr id="5" name="printed"/>
          <p:cNvSpPr/>
          <p:nvPr/>
        </p:nvSpPr>
        <p:spPr>
          <a:xfrm>
            <a:off x="548640" y="2972612"/>
            <a:ext cx="11094415" cy="1325880"/>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0"/>
              </a:spcAft>
            </a:pPr>
            <a:r>
              <a:rPr sz="1500" b="0">
                <a:solidFill>
                  <a:srgbClr val="F3F0E6"/>
                </a:solidFill>
                <a:latin typeface="Courier New"/>
              </a:rPr>
              <a:t>PROVED (set compass-9, |A|^H = 9^1 = 9, visited 9)</a:t>
            </a:r>
          </a:p>
          <a:p>
            <a:pPr algn="l">
              <a:lnSpc>
                <a:spcPct val="100000"/>
              </a:lnSpc>
              <a:spcAft>
                <a:spcPts val="0"/>
              </a:spcAft>
            </a:pPr>
            <a:r>
              <a:rPr sz="1500" b="0">
                <a:solidFill>
                  <a:srgbClr val="F3F0E6"/>
                </a:solidFill>
                <a:latin typeface="Courier New"/>
              </a:rPr>
              <a:t>PROVED (set axis-5, |A|^H = 5^7 = 78125, visited 78125)</a:t>
            </a:r>
          </a:p>
          <a:p>
            <a:pPr algn="l">
              <a:lnSpc>
                <a:spcPct val="100000"/>
              </a:lnSpc>
            </a:pPr>
            <a:r>
              <a:rPr sz="1500" b="0">
                <a:solidFill>
                  <a:srgbClr val="F3F0E6"/>
                </a:solidFill>
                <a:latin typeface="Courier New"/>
              </a:rPr>
              <a:t>the model's observation_model is state-dependent; the RxInfer model filters on one fixed Q and R. Use KalmanBackend for R(x) or Q(x).</a:t>
            </a:r>
          </a:p>
        </p:txBody>
      </p:sp>
      <p:sp>
        <p:nvSpPr>
          <p:cNvPr id="6" name="text"/>
          <p:cNvSpPr txBox="1"/>
          <p:nvPr/>
        </p:nvSpPr>
        <p:spPr>
          <a:xfrm>
            <a:off x="548640" y="4572812"/>
            <a:ext cx="11094415" cy="1736547"/>
          </a:xfrm>
          <a:prstGeom prst="rect">
            <a:avLst/>
          </a:prstGeom>
          <a:noFill/>
        </p:spPr>
        <p:txBody>
          <a:bodyPr wrap="square" lIns="0" rIns="0" tIns="0" bIns="0" anchor="t">
            <a:spAutoFit/>
          </a:bodyPr>
          <a:lstStyle/>
          <a:p>
            <a:pPr algn="l">
              <a:lnSpc>
                <a:spcPct val="100000"/>
              </a:lnSpc>
              <a:spcAft>
                <a:spcPts val="1400"/>
              </a:spcAft>
            </a:pPr>
            <a:r>
              <a:rPr sz="2000" b="0">
                <a:solidFill>
                  <a:srgbClr val="F3F0E6"/>
                </a:solidFill>
                <a:latin typeface="Calibri"/>
              </a:rPr>
              <a:t>PROVED means the search scored every plan in a declared, versioned set. The certificate counts them.</a:t>
            </a:r>
          </a:p>
          <a:p>
            <a:pPr algn="l">
              <a:lnSpc>
                <a:spcPct val="100000"/>
              </a:lnSpc>
            </a:pPr>
            <a:r>
              <a:rPr sz="2000" b="0">
                <a:solidFill>
                  <a:srgbClr val="F3F0E6"/>
                </a:solidFill>
                <a:latin typeface="Calibri"/>
              </a:rPr>
              <a:t>Nine plans a step for the compass set. Five moves seven deep is 78125 plans, each one scored.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Past one filter</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self-guided</a:t>
            </a:r>
          </a:p>
        </p:txBody>
      </p:sp>
      <p:sp>
        <p:nvSpPr>
          <p:cNvPr id="4" name="code"/>
          <p:cNvSpPr/>
          <p:nvPr/>
        </p:nvSpPr>
        <p:spPr>
          <a:xfrm>
            <a:off x="548640" y="1325880"/>
            <a:ext cx="6583680" cy="1648358"/>
          </a:xfrm>
          <a:prstGeom prst="roundRect">
            <a:avLst>
              <a:gd name="adj" fmla="val 6656"/>
            </a:avLst>
          </a:prstGeom>
          <a:solidFill>
            <a:srgbClr val="14261F"/>
          </a:solid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600" b="0">
                <a:solidFill>
                  <a:srgbClr val="F3F0E6"/>
                </a:solidFill>
                <a:latin typeface="Courier New"/>
              </a:rPr>
              <a:t>from cpomdp_workshop import two_node_backend</a:t>
            </a:r>
          </a:p>
          <a:p>
            <a:pPr algn="l">
              <a:lnSpc>
                <a:spcPct val="100000"/>
              </a:lnSpc>
              <a:spcAft>
                <a:spcPts val="0"/>
              </a:spcAft>
            </a:pPr>
            <a:r>
              <a:rPr sz="1600" b="0">
                <a:solidFill>
                  <a:srgbClr val="F3F0E6"/>
                </a:solidFill>
                <a:latin typeface="Courier New"/>
              </a:rPr>
              <a:t> </a:t>
            </a:r>
          </a:p>
          <a:p>
            <a:pPr algn="l">
              <a:lnSpc>
                <a:spcPct val="100000"/>
              </a:lnSpc>
              <a:spcAft>
                <a:spcPts val="0"/>
              </a:spcAft>
            </a:pPr>
            <a:r>
              <a:rPr sz="1600" b="0">
                <a:solidFill>
                  <a:srgbClr val="F3F0E6"/>
                </a:solidFill>
                <a:latin typeface="Courier New"/>
              </a:rPr>
              <a:t>try:</a:t>
            </a:r>
          </a:p>
          <a:p>
            <a:pPr algn="l">
              <a:lnSpc>
                <a:spcPct val="100000"/>
              </a:lnSpc>
              <a:spcAft>
                <a:spcPts val="0"/>
              </a:spcAft>
            </a:pPr>
            <a:r>
              <a:rPr sz="1600" b="0">
                <a:solidFill>
                  <a:srgbClr val="F3F0E6"/>
                </a:solidFill>
                <a:latin typeface="Courier New"/>
              </a:rPr>
              <a:t>    two_node_backend().to_flat_model()</a:t>
            </a:r>
          </a:p>
          <a:p>
            <a:pPr algn="l">
              <a:lnSpc>
                <a:spcPct val="100000"/>
              </a:lnSpc>
              <a:spcAft>
                <a:spcPts val="0"/>
              </a:spcAft>
            </a:pPr>
            <a:r>
              <a:rPr sz="1600" b="0">
                <a:solidFill>
                  <a:srgbClr val="F3F0E6"/>
                </a:solidFill>
                <a:latin typeface="Courier New"/>
              </a:rPr>
              <a:t>except Exception as refusal:</a:t>
            </a:r>
          </a:p>
          <a:p>
            <a:pPr algn="l">
              <a:lnSpc>
                <a:spcPct val="100000"/>
              </a:lnSpc>
            </a:pPr>
            <a:r>
              <a:rPr sz="1600" b="0">
                <a:solidFill>
                  <a:srgbClr val="F3F0E6"/>
                </a:solidFill>
                <a:latin typeface="Courier New"/>
              </a:rPr>
              <a:t>    print(f"{type(refusal).__name__}: {refusal}")</a:t>
            </a:r>
          </a:p>
        </p:txBody>
      </p:sp>
      <p:sp>
        <p:nvSpPr>
          <p:cNvPr id="5" name="text"/>
          <p:cNvSpPr txBox="1"/>
          <p:nvPr/>
        </p:nvSpPr>
        <p:spPr>
          <a:xfrm>
            <a:off x="7406640" y="1325880"/>
            <a:ext cx="4236415" cy="1648358"/>
          </a:xfrm>
          <a:prstGeom prst="rect">
            <a:avLst/>
          </a:prstGeom>
          <a:noFill/>
        </p:spPr>
        <p:txBody>
          <a:bodyPr wrap="square" lIns="0" rIns="0" tIns="0" bIns="0" anchor="t">
            <a:spAutoFit/>
          </a:bodyPr>
          <a:lstStyle/>
          <a:p>
            <a:pPr algn="l">
              <a:lnSpc>
                <a:spcPct val="100000"/>
              </a:lnSpc>
              <a:spcAft>
                <a:spcPts val="1200"/>
              </a:spcAft>
            </a:pPr>
            <a:r>
              <a:rPr sz="2000" b="0">
                <a:solidFill>
                  <a:srgbClr val="F3F0E6"/>
                </a:solidFill>
                <a:latin typeface="Calibri"/>
              </a:rPr>
              <a:t>A rocket towing a probe is two nodes.</a:t>
            </a:r>
          </a:p>
          <a:p>
            <a:pPr algn="l">
              <a:lnSpc>
                <a:spcPct val="100000"/>
              </a:lnSpc>
            </a:pPr>
            <a:r>
              <a:rPr sz="2000" b="0">
                <a:solidFill>
                  <a:srgbClr val="F3F0E6"/>
                </a:solidFill>
                <a:latin typeface="Calibri"/>
              </a:rPr>
              <a:t>The full field reads the probe.</a:t>
            </a:r>
          </a:p>
        </p:txBody>
      </p:sp>
      <p:sp>
        <p:nvSpPr>
          <p:cNvPr id="6" name="printed"/>
          <p:cNvSpPr/>
          <p:nvPr/>
        </p:nvSpPr>
        <p:spPr>
          <a:xfrm>
            <a:off x="548640" y="3202838"/>
            <a:ext cx="11094415" cy="1828800"/>
          </a:xfrm>
          <a:prstGeom prst="roundRect">
            <a:avLst>
              <a:gd name="adj" fmla="val 6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500" b="0">
                <a:solidFill>
                  <a:srgbClr val="F3F0E6"/>
                </a:solidFill>
                <a:latin typeface="Courier New"/>
              </a:rPr>
              <a:t>IncompatibleLinearizationError: Cannot flatten a state-dependent R(x) model with couplings: a mean-shifting coupling makes the prediction mean μ</a:t>
            </a:r>
            <a:r>
              <a:rPr sz="1500" b="0">
                <a:solidFill>
                  <a:srgbClr val="F3F0E6"/>
                </a:solidFill>
                <a:latin typeface="Cambria"/>
              </a:rPr>
              <a:t>⁺</a:t>
            </a:r>
            <a:r>
              <a:rPr sz="1500" b="0">
                <a:solidFill>
                  <a:srgbClr val="F3F0E6"/>
                </a:solidFill>
                <a:latin typeface="Courier New"/>
              </a:rPr>
              <a:t> differ from the prior mean μ</a:t>
            </a:r>
            <a:r>
              <a:rPr sz="1500" b="0">
                <a:solidFill>
                  <a:srgbClr val="F3F0E6"/>
                </a:solidFill>
                <a:latin typeface="Cambria"/>
              </a:rPr>
              <a:t>⁻</a:t>
            </a:r>
            <a:r>
              <a:rPr sz="1500" b="0">
                <a:solidFill>
                  <a:srgbClr val="F3F0E6"/>
                </a:solidFill>
                <a:latin typeface="Courier New"/>
              </a:rPr>
              <a:t>, so no fixed linear-Gaussian model reproduces R(μ</a:t>
            </a:r>
            <a:r>
              <a:rPr sz="1500" b="0">
                <a:solidFill>
                  <a:srgbClr val="F3F0E6"/>
                </a:solidFill>
                <a:latin typeface="Cambria"/>
              </a:rPr>
              <a:t>⁺</a:t>
            </a:r>
            <a:r>
              <a:rPr sz="1500" b="0">
                <a:solidFill>
                  <a:srgbClr val="F3F0E6"/>
                </a:solidFill>
                <a:latin typeface="Courier New"/>
              </a:rPr>
              <a:t>). This reads the sensor's declared state-dependence; a declared R(x) that ignores the state is constant in fact and does flatten — see cpomdp.diagnostics.probe_model.</a:t>
            </a:r>
          </a:p>
        </p:txBody>
      </p:sp>
      <p:sp>
        <p:nvSpPr>
          <p:cNvPr id="7" name="text"/>
          <p:cNvSpPr txBox="1"/>
          <p:nvPr/>
        </p:nvSpPr>
        <p:spPr>
          <a:xfrm>
            <a:off x="548640" y="5305958"/>
            <a:ext cx="11094415" cy="731520"/>
          </a:xfrm>
          <a:prstGeom prst="rect">
            <a:avLst/>
          </a:prstGeom>
          <a:noFill/>
        </p:spPr>
        <p:txBody>
          <a:bodyPr wrap="square" lIns="0" rIns="0" tIns="0" bIns="0" anchor="t">
            <a:spAutoFit/>
          </a:bodyPr>
          <a:lstStyle/>
          <a:p>
            <a:pPr algn="l">
              <a:lnSpc>
                <a:spcPct val="100000"/>
              </a:lnSpc>
            </a:pPr>
            <a:r>
              <a:rPr sz="1800" b="0">
                <a:solidFill>
                  <a:srgbClr val="8C968F"/>
                </a:solidFill>
                <a:latin typeface="Calibri"/>
              </a:rPr>
              <a:t>No single fixed linear-Gaussian model reproduces it. cpomdp refuses to flatten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Self-guided, below the last checkpoint</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self-guided</a:t>
            </a:r>
          </a:p>
        </p:txBody>
      </p:sp>
      <p:sp>
        <p:nvSpPr>
          <p:cNvPr id="4" name="card"/>
          <p:cNvSpPr/>
          <p:nvPr/>
        </p:nvSpPr>
        <p:spPr>
          <a:xfrm>
            <a:off x="548640" y="1325880"/>
            <a:ext cx="3515258" cy="2651760"/>
          </a:xfrm>
          <a:prstGeom prst="roundRect">
            <a:avLst>
              <a:gd name="adj" fmla="val 4137"/>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1600"/>
              </a:spcAft>
            </a:pPr>
            <a:r>
              <a:rPr sz="2100" b="1">
                <a:solidFill>
                  <a:srgbClr val="F3F0E6"/>
                </a:solidFill>
                <a:latin typeface="Calibri"/>
              </a:rPr>
              <a:t>How much the pad matters</a:t>
            </a:r>
          </a:p>
          <a:p>
            <a:pPr algn="l">
              <a:lnSpc>
                <a:spcPct val="100000"/>
              </a:lnSpc>
            </a:pPr>
            <a:r>
              <a:rPr sz="2100" b="0">
                <a:solidFill>
                  <a:srgbClr val="F3F0E6"/>
                </a:solidFill>
                <a:latin typeface="Calibri"/>
              </a:rPr>
              <a:t>A loose and a tight preference for the pad, flown past the rock.</a:t>
            </a:r>
          </a:p>
        </p:txBody>
      </p:sp>
      <p:sp>
        <p:nvSpPr>
          <p:cNvPr id="5" name="card"/>
          <p:cNvSpPr/>
          <p:nvPr/>
        </p:nvSpPr>
        <p:spPr>
          <a:xfrm>
            <a:off x="4338218" y="1325880"/>
            <a:ext cx="3515258" cy="2651760"/>
          </a:xfrm>
          <a:prstGeom prst="roundRect">
            <a:avLst>
              <a:gd name="adj" fmla="val 4137"/>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1600"/>
              </a:spcAft>
            </a:pPr>
            <a:r>
              <a:rPr sz="2100" b="1">
                <a:solidFill>
                  <a:srgbClr val="F3F0E6"/>
                </a:solidFill>
                <a:latin typeface="Calibri"/>
              </a:rPr>
              <a:t>Two moves ahead</a:t>
            </a:r>
          </a:p>
          <a:p>
            <a:pPr algn="l">
              <a:lnSpc>
                <a:spcPct val="100000"/>
              </a:lnSpc>
            </a:pPr>
            <a:r>
              <a:rPr sz="2100" b="0">
                <a:solidFill>
                  <a:srgbClr val="F3F0E6"/>
                </a:solidFill>
                <a:latin typeface="Calibri"/>
              </a:rPr>
              <a:t>The world again, two moves ahead. Each step scores 81 plans in place of 9.</a:t>
            </a:r>
          </a:p>
        </p:txBody>
      </p:sp>
      <p:sp>
        <p:nvSpPr>
          <p:cNvPr id="6" name="card"/>
          <p:cNvSpPr/>
          <p:nvPr/>
        </p:nvSpPr>
        <p:spPr>
          <a:xfrm>
            <a:off x="8127796" y="1325880"/>
            <a:ext cx="3515258" cy="2651760"/>
          </a:xfrm>
          <a:prstGeom prst="roundRect">
            <a:avLst>
              <a:gd name="adj" fmla="val 4137"/>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1600"/>
              </a:spcAft>
            </a:pPr>
            <a:r>
              <a:rPr sz="2100" b="1">
                <a:solidFill>
                  <a:srgbClr val="F3F0E6"/>
                </a:solidFill>
                <a:latin typeface="Calibri"/>
              </a:rPr>
              <a:t>A model one filter cannot hold</a:t>
            </a:r>
          </a:p>
          <a:p>
            <a:pPr algn="l">
              <a:lnSpc>
                <a:spcPct val="100000"/>
              </a:lnSpc>
            </a:pPr>
            <a:r>
              <a:rPr sz="2100" b="0">
                <a:solidFill>
                  <a:srgbClr val="F3F0E6"/>
                </a:solidFill>
                <a:latin typeface="Calibri"/>
              </a:rPr>
              <a:t>The two-node refusal, to read in full.</a:t>
            </a:r>
          </a:p>
        </p:txBody>
      </p:sp>
      <p:sp>
        <p:nvSpPr>
          <p:cNvPr id="7" name="text"/>
          <p:cNvSpPr txBox="1"/>
          <p:nvPr/>
        </p:nvSpPr>
        <p:spPr>
          <a:xfrm>
            <a:off x="548640" y="4434840"/>
            <a:ext cx="11094415" cy="1463040"/>
          </a:xfrm>
          <a:prstGeom prst="rect">
            <a:avLst/>
          </a:prstGeom>
          <a:noFill/>
        </p:spPr>
        <p:txBody>
          <a:bodyPr wrap="square" lIns="0" rIns="0" tIns="0" bIns="0" anchor="t">
            <a:spAutoFit/>
          </a:bodyPr>
          <a:lstStyle/>
          <a:p>
            <a:pPr algn="l">
              <a:lnSpc>
                <a:spcPct val="100000"/>
              </a:lnSpc>
              <a:spcAft>
                <a:spcPts val="1400"/>
              </a:spcAft>
            </a:pPr>
            <a:r>
              <a:rPr sz="2000" b="0">
                <a:solidFill>
                  <a:srgbClr val="8C968F"/>
                </a:solidFill>
                <a:latin typeface="Calibri"/>
              </a:rPr>
              <a:t>Nothing below the last checkpoint runs live. Each cell stands on checkpoint 3.</a:t>
            </a:r>
          </a:p>
          <a:p>
            <a:pPr algn="l">
              <a:lnSpc>
                <a:spcPct val="100000"/>
              </a:lnSpc>
            </a:pPr>
            <a:r>
              <a:rPr sz="2000" b="0">
                <a:solidFill>
                  <a:srgbClr val="8C968F"/>
                </a:solidFill>
                <a:latin typeface="Calibri"/>
              </a:rPr>
              <a:t>Each task has a bonus cell too.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Inferogenesis</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Inferogenesis</a:t>
            </a:r>
          </a:p>
        </p:txBody>
      </p:sp>
      <p:sp>
        <p:nvSpPr>
          <p:cNvPr id="4" name="placeholder"/>
          <p:cNvSpPr/>
          <p:nvPr/>
        </p:nvSpPr>
        <p:spPr>
          <a:xfrm>
            <a:off x="548640" y="1325880"/>
            <a:ext cx="11094415" cy="4754880"/>
          </a:xfrm>
          <a:prstGeom prst="roundRect">
            <a:avLst>
              <a:gd name="adj" fmla="val 2307"/>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2000" b="0">
                <a:solidFill>
                  <a:srgbClr val="E69F00"/>
                </a:solidFill>
                <a:latin typeface="Calibri"/>
              </a:rPr>
              <a:t>[owner: the Inferogenesis segment, five minutes at most]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What comes next</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Inferogenesis</a:t>
            </a:r>
          </a:p>
        </p:txBody>
      </p:sp>
      <p:sp>
        <p:nvSpPr>
          <p:cNvPr id="4" name="placeholder"/>
          <p:cNvSpPr/>
          <p:nvPr/>
        </p:nvSpPr>
        <p:spPr>
          <a:xfrm>
            <a:off x="548640" y="1325880"/>
            <a:ext cx="11094415" cy="3840480"/>
          </a:xfrm>
          <a:prstGeom prst="roundRect">
            <a:avLst>
              <a:gd name="adj" fmla="val 2857"/>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2000" b="0">
                <a:solidFill>
                  <a:srgbClr val="E69F00"/>
                </a:solidFill>
                <a:latin typeface="Calibri"/>
              </a:rPr>
              <a:t>[owner: this slide's content]</a:t>
            </a:r>
          </a:p>
        </p:txBody>
      </p:sp>
      <p:sp>
        <p:nvSpPr>
          <p:cNvPr id="5" name="pill"/>
          <p:cNvSpPr/>
          <p:nvPr/>
        </p:nvSpPr>
        <p:spPr>
          <a:xfrm>
            <a:off x="548640" y="5486400"/>
            <a:ext cx="4206240" cy="548640"/>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700" b="0">
                <a:solidFill>
                  <a:srgbClr val="E69F00"/>
                </a:solidFill>
                <a:latin typeface="Calibri"/>
              </a:rPr>
              <a:t>Status: scoped, starts after 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ext"/>
          <p:cNvSpPr txBox="1"/>
          <p:nvPr/>
        </p:nvSpPr>
        <p:spPr>
          <a:xfrm>
            <a:off x="548640" y="1280160"/>
            <a:ext cx="10515600" cy="1097280"/>
          </a:xfrm>
          <a:prstGeom prst="rect">
            <a:avLst/>
          </a:prstGeom>
          <a:noFill/>
        </p:spPr>
        <p:txBody>
          <a:bodyPr wrap="square" lIns="0" rIns="0" tIns="0" bIns="0" anchor="t">
            <a:spAutoFit/>
          </a:bodyPr>
          <a:lstStyle/>
          <a:p>
            <a:pPr algn="l">
              <a:lnSpc>
                <a:spcPct val="100000"/>
              </a:lnSpc>
            </a:pPr>
            <a:r>
              <a:rPr sz="6000" b="1">
                <a:solidFill>
                  <a:srgbClr val="F3F0E6"/>
                </a:solidFill>
                <a:latin typeface="Calibri"/>
              </a:rPr>
              <a:t>Thank you</a:t>
            </a:r>
          </a:p>
        </p:txBody>
      </p:sp>
      <p:sp>
        <p:nvSpPr>
          <p:cNvPr id="3" name="text"/>
          <p:cNvSpPr txBox="1"/>
          <p:nvPr/>
        </p:nvSpPr>
        <p:spPr>
          <a:xfrm>
            <a:off x="548640" y="2560320"/>
            <a:ext cx="10515600" cy="1097280"/>
          </a:xfrm>
          <a:prstGeom prst="rect">
            <a:avLst/>
          </a:prstGeom>
          <a:noFill/>
        </p:spPr>
        <p:txBody>
          <a:bodyPr wrap="square" lIns="0" rIns="0" tIns="0" bIns="0" anchor="t">
            <a:spAutoFit/>
          </a:bodyPr>
          <a:lstStyle/>
          <a:p>
            <a:pPr algn="l">
              <a:lnSpc>
                <a:spcPct val="100000"/>
              </a:lnSpc>
              <a:spcAft>
                <a:spcPts val="1000"/>
              </a:spcAft>
            </a:pPr>
            <a:r>
              <a:rPr sz="2400" b="0">
                <a:solidFill>
                  <a:srgbClr val="8C968F"/>
                </a:solidFill>
                <a:latin typeface="Calibri"/>
              </a:rPr>
              <a:t>Questions now, or on the anonymous form.</a:t>
            </a:r>
          </a:p>
          <a:p>
            <a:pPr algn="l">
              <a:lnSpc>
                <a:spcPct val="100000"/>
              </a:lnSpc>
            </a:pPr>
            <a:r>
              <a:rPr sz="2400" b="0">
                <a:solidFill>
                  <a:srgbClr val="8C968F"/>
                </a:solidFill>
                <a:latin typeface="Calibri"/>
              </a:rPr>
              <a:t>One up, one down before you go.</a:t>
            </a:r>
          </a:p>
        </p:txBody>
      </p:sp>
      <p:sp>
        <p:nvSpPr>
          <p:cNvPr id="4" name="placeholder"/>
          <p:cNvSpPr/>
          <p:nvPr/>
        </p:nvSpPr>
        <p:spPr>
          <a:xfrm>
            <a:off x="548640" y="3931920"/>
            <a:ext cx="4572000" cy="731520"/>
          </a:xfrm>
          <a:prstGeom prst="roundRect">
            <a:avLst>
              <a:gd name="adj" fmla="val 80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800" b="0">
                <a:solidFill>
                  <a:srgbClr val="E69F00"/>
                </a:solidFill>
                <a:latin typeface="Calibri"/>
              </a:rPr>
              <a:t>[email]</a:t>
            </a:r>
          </a:p>
        </p:txBody>
      </p:sp>
      <p:sp>
        <p:nvSpPr>
          <p:cNvPr id="5" name="text"/>
          <p:cNvSpPr txBox="1"/>
          <p:nvPr/>
        </p:nvSpPr>
        <p:spPr>
          <a:xfrm>
            <a:off x="548640" y="5394960"/>
            <a:ext cx="10515600" cy="548640"/>
          </a:xfrm>
          <a:prstGeom prst="rect">
            <a:avLst/>
          </a:prstGeom>
          <a:noFill/>
        </p:spPr>
        <p:txBody>
          <a:bodyPr wrap="square" lIns="0" rIns="0" tIns="0" bIns="0" anchor="t">
            <a:spAutoFit/>
          </a:bodyPr>
          <a:lstStyle/>
          <a:p>
            <a:pPr algn="l">
              <a:lnSpc>
                <a:spcPct val="100000"/>
              </a:lnSpc>
            </a:pPr>
            <a:r>
              <a:rPr sz="1800" b="0">
                <a:solidFill>
                  <a:srgbClr val="8C968F"/>
                </a:solidFill>
                <a:latin typeface="Calibri"/>
              </a:rPr>
              <a:t>Everything shown runs on cpomdp 0.5.0 from PyPI.</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Links</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close</a:t>
            </a:r>
          </a:p>
        </p:txBody>
      </p:sp>
      <p:sp>
        <p:nvSpPr>
          <p:cNvPr id="4" name="text"/>
          <p:cNvSpPr txBox="1"/>
          <p:nvPr/>
        </p:nvSpPr>
        <p:spPr>
          <a:xfrm>
            <a:off x="548640" y="1325880"/>
            <a:ext cx="3657600" cy="320040"/>
          </a:xfrm>
          <a:prstGeom prst="rect">
            <a:avLst/>
          </a:prstGeom>
          <a:noFill/>
        </p:spPr>
        <p:txBody>
          <a:bodyPr wrap="square" lIns="0" rIns="0" tIns="0" bIns="0" anchor="t">
            <a:spAutoFit/>
          </a:bodyPr>
          <a:lstStyle/>
          <a:p>
            <a:pPr algn="l">
              <a:lnSpc>
                <a:spcPct val="100000"/>
              </a:lnSpc>
            </a:pPr>
            <a:r>
              <a:rPr sz="1500" b="0">
                <a:solidFill>
                  <a:srgbClr val="8C968F"/>
                </a:solidFill>
                <a:latin typeface="Calibri"/>
              </a:rPr>
              <a:t>notebook</a:t>
            </a:r>
          </a:p>
        </p:txBody>
      </p:sp>
      <p:sp>
        <p:nvSpPr>
          <p:cNvPr id="5" name="link"/>
          <p:cNvSpPr txBox="1"/>
          <p:nvPr/>
        </p:nvSpPr>
        <p:spPr>
          <a:xfrm>
            <a:off x="548640" y="1673352"/>
            <a:ext cx="11094415" cy="320040"/>
          </a:xfrm>
          <a:prstGeom prst="rect">
            <a:avLst/>
          </a:prstGeom>
          <a:noFill/>
        </p:spPr>
        <p:txBody>
          <a:bodyPr wrap="none" lIns="0" rIns="0" tIns="0" bIns="0">
            <a:spAutoFit/>
          </a:bodyPr>
          <a:lstStyle/>
          <a:p>
            <a:r>
              <a:rPr sz="1200">
                <a:solidFill>
                  <a:srgbClr val="F3F0E6"/>
                </a:solidFill>
                <a:latin typeface="Courier New"/>
                <a:hlinkClick r:id="rId2"/>
              </a:rPr>
              <a:t>colab.research.google.com/github/inferogenesis/cpomdp-workshop/blob/main/notebooks/build_a_curious_rocket.ipynb</a:t>
            </a:r>
          </a:p>
        </p:txBody>
      </p:sp>
      <p:sp>
        <p:nvSpPr>
          <p:cNvPr id="6" name="text"/>
          <p:cNvSpPr txBox="1"/>
          <p:nvPr/>
        </p:nvSpPr>
        <p:spPr>
          <a:xfrm>
            <a:off x="548640" y="2194560"/>
            <a:ext cx="3657600" cy="320040"/>
          </a:xfrm>
          <a:prstGeom prst="rect">
            <a:avLst/>
          </a:prstGeom>
          <a:noFill/>
        </p:spPr>
        <p:txBody>
          <a:bodyPr wrap="square" lIns="0" rIns="0" tIns="0" bIns="0" anchor="t">
            <a:spAutoFit/>
          </a:bodyPr>
          <a:lstStyle/>
          <a:p>
            <a:pPr algn="l">
              <a:lnSpc>
                <a:spcPct val="100000"/>
              </a:lnSpc>
            </a:pPr>
            <a:r>
              <a:rPr sz="1500" b="0">
                <a:solidFill>
                  <a:srgbClr val="8C968F"/>
                </a:solidFill>
                <a:latin typeface="Calibri"/>
              </a:rPr>
              <a:t>repository</a:t>
            </a:r>
          </a:p>
        </p:txBody>
      </p:sp>
      <p:sp>
        <p:nvSpPr>
          <p:cNvPr id="7" name="link"/>
          <p:cNvSpPr txBox="1"/>
          <p:nvPr/>
        </p:nvSpPr>
        <p:spPr>
          <a:xfrm>
            <a:off x="548640" y="2542032"/>
            <a:ext cx="11094415" cy="320040"/>
          </a:xfrm>
          <a:prstGeom prst="rect">
            <a:avLst/>
          </a:prstGeom>
          <a:noFill/>
        </p:spPr>
        <p:txBody>
          <a:bodyPr wrap="none" lIns="0" rIns="0" tIns="0" bIns="0">
            <a:spAutoFit/>
          </a:bodyPr>
          <a:lstStyle/>
          <a:p>
            <a:r>
              <a:rPr sz="1200">
                <a:solidFill>
                  <a:srgbClr val="F3F0E6"/>
                </a:solidFill>
                <a:latin typeface="Courier New"/>
                <a:hlinkClick r:id="rId3"/>
              </a:rPr>
              <a:t>github.com/inferogenesis/cpomdp-workshop</a:t>
            </a:r>
          </a:p>
        </p:txBody>
      </p:sp>
      <p:sp>
        <p:nvSpPr>
          <p:cNvPr id="8" name="text"/>
          <p:cNvSpPr txBox="1"/>
          <p:nvPr/>
        </p:nvSpPr>
        <p:spPr>
          <a:xfrm>
            <a:off x="548640" y="3063239"/>
            <a:ext cx="3657600" cy="320040"/>
          </a:xfrm>
          <a:prstGeom prst="rect">
            <a:avLst/>
          </a:prstGeom>
          <a:noFill/>
        </p:spPr>
        <p:txBody>
          <a:bodyPr wrap="square" lIns="0" rIns="0" tIns="0" bIns="0" anchor="t">
            <a:spAutoFit/>
          </a:bodyPr>
          <a:lstStyle/>
          <a:p>
            <a:pPr algn="l">
              <a:lnSpc>
                <a:spcPct val="100000"/>
              </a:lnSpc>
            </a:pPr>
            <a:r>
              <a:rPr sz="1500" b="0">
                <a:solidFill>
                  <a:srgbClr val="8C968F"/>
                </a:solidFill>
                <a:latin typeface="Calibri"/>
              </a:rPr>
              <a:t>cpomdp on PyPI</a:t>
            </a:r>
          </a:p>
        </p:txBody>
      </p:sp>
      <p:sp>
        <p:nvSpPr>
          <p:cNvPr id="9" name="link"/>
          <p:cNvSpPr txBox="1"/>
          <p:nvPr/>
        </p:nvSpPr>
        <p:spPr>
          <a:xfrm>
            <a:off x="548640" y="3410711"/>
            <a:ext cx="11094415" cy="320040"/>
          </a:xfrm>
          <a:prstGeom prst="rect">
            <a:avLst/>
          </a:prstGeom>
          <a:noFill/>
        </p:spPr>
        <p:txBody>
          <a:bodyPr wrap="none" lIns="0" rIns="0" tIns="0" bIns="0">
            <a:spAutoFit/>
          </a:bodyPr>
          <a:lstStyle/>
          <a:p>
            <a:r>
              <a:rPr sz="1200">
                <a:solidFill>
                  <a:srgbClr val="F3F0E6"/>
                </a:solidFill>
                <a:latin typeface="Courier New"/>
                <a:hlinkClick r:id="rId4"/>
              </a:rPr>
              <a:t>pypi.org/project/cpomdp/</a:t>
            </a:r>
          </a:p>
        </p:txBody>
      </p:sp>
      <p:sp>
        <p:nvSpPr>
          <p:cNvPr id="10" name="text"/>
          <p:cNvSpPr txBox="1"/>
          <p:nvPr/>
        </p:nvSpPr>
        <p:spPr>
          <a:xfrm>
            <a:off x="548640" y="3931920"/>
            <a:ext cx="3657600" cy="320040"/>
          </a:xfrm>
          <a:prstGeom prst="rect">
            <a:avLst/>
          </a:prstGeom>
          <a:noFill/>
        </p:spPr>
        <p:txBody>
          <a:bodyPr wrap="square" lIns="0" rIns="0" tIns="0" bIns="0" anchor="t">
            <a:spAutoFit/>
          </a:bodyPr>
          <a:lstStyle/>
          <a:p>
            <a:pPr algn="l">
              <a:lnSpc>
                <a:spcPct val="100000"/>
              </a:lnSpc>
            </a:pPr>
            <a:r>
              <a:rPr sz="1500" b="0">
                <a:solidFill>
                  <a:srgbClr val="8C968F"/>
                </a:solidFill>
                <a:latin typeface="Calibri"/>
              </a:rPr>
              <a:t>Discord</a:t>
            </a:r>
          </a:p>
        </p:txBody>
      </p:sp>
      <p:sp>
        <p:nvSpPr>
          <p:cNvPr id="11" name="text"/>
          <p:cNvSpPr txBox="1"/>
          <p:nvPr/>
        </p:nvSpPr>
        <p:spPr>
          <a:xfrm>
            <a:off x="548640" y="4279392"/>
            <a:ext cx="11094415" cy="411480"/>
          </a:xfrm>
          <a:prstGeom prst="rect">
            <a:avLst/>
          </a:prstGeom>
          <a:noFill/>
        </p:spPr>
        <p:txBody>
          <a:bodyPr wrap="square" lIns="0" rIns="0" tIns="0" bIns="0" anchor="t">
            <a:spAutoFit/>
          </a:bodyPr>
          <a:lstStyle/>
          <a:p>
            <a:pPr algn="l">
              <a:lnSpc>
                <a:spcPct val="100000"/>
              </a:lnSpc>
            </a:pPr>
            <a:r>
              <a:rPr sz="1800" b="0">
                <a:solidFill>
                  <a:srgbClr val="F3F0E6"/>
                </a:solidFill>
                <a:latin typeface="Calibri"/>
              </a:rPr>
              <a:t>the cpomdp channel on the AII Discord</a:t>
            </a:r>
          </a:p>
        </p:txBody>
      </p:sp>
      <p:sp>
        <p:nvSpPr>
          <p:cNvPr id="12" name="placeholder"/>
          <p:cNvSpPr/>
          <p:nvPr/>
        </p:nvSpPr>
        <p:spPr>
          <a:xfrm>
            <a:off x="548640" y="5394960"/>
            <a:ext cx="5364327" cy="731520"/>
          </a:xfrm>
          <a:prstGeom prst="roundRect">
            <a:avLst>
              <a:gd name="adj" fmla="val 80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E69F00"/>
                </a:solidFill>
                <a:latin typeface="Calibri"/>
              </a:rPr>
              <a:t>[survey link]</a:t>
            </a:r>
          </a:p>
        </p:txBody>
      </p:sp>
      <p:sp>
        <p:nvSpPr>
          <p:cNvPr id="13" name="placeholder"/>
          <p:cNvSpPr/>
          <p:nvPr/>
        </p:nvSpPr>
        <p:spPr>
          <a:xfrm>
            <a:off x="6278727" y="5394960"/>
            <a:ext cx="5364327" cy="731520"/>
          </a:xfrm>
          <a:prstGeom prst="roundRect">
            <a:avLst>
              <a:gd name="adj" fmla="val 80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E69F00"/>
                </a:solidFill>
                <a:latin typeface="Calibri"/>
              </a:rPr>
              <a:t>[Zenodo DOI of cpomdp 0.5.0]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F3F0E6"/>
      </a:hlink>
      <a:folHlink>
        <a:srgbClr val="F3F0E6"/>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a curious rocket</dc:title>
  <dc:subject/>
  <dc:creator>Inferogenesis</dc:creator>
  <cp:keywords/>
  <dc:description>generated using python-pptx</dc:description>
  <cp:lastModifiedBy>Inferogenesis</cp:lastModifiedBy>
  <cp:revision>1</cp:revision>
  <dcterms:created xsi:type="dcterms:W3CDTF">2013-01-27T09:14:16Z</dcterms:created>
  <dcterms:modified xsi:type="dcterms:W3CDTF">2013-01-27T09:15:58Z</dcterms:modified>
  <cp:category/>
</cp:coreProperties>
</file>